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ermania One" charset="1" panose="020B0700020200000000"/>
      <p:regular r:id="rId19"/>
    </p:embeddedFont>
    <p:embeddedFont>
      <p:font typeface="Arimo" charset="1" panose="020B0604020202020204"/>
      <p:regular r:id="rId20"/>
    </p:embeddedFont>
    <p:embeddedFont>
      <p:font typeface="Arimo Bold" charset="1" panose="020B0704020202020204"/>
      <p:regular r:id="rId21"/>
    </p:embeddedFont>
    <p:embeddedFont>
      <p:font typeface="Arimo Italics" charset="1" panose="020B0604020202090204"/>
      <p:regular r:id="rId25"/>
    </p:embeddedFont>
    <p:embeddedFont>
      <p:font typeface="Arial" charset="1" panose="020B06040202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notesSlides/notesSlide5.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jpe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6.jpeg" Type="http://schemas.openxmlformats.org/officeDocument/2006/relationships/image"/><Relationship Id="rId13" Target="../media/image26.png" Type="http://schemas.openxmlformats.org/officeDocument/2006/relationships/image"/><Relationship Id="rId14" Target="../media/image27.png" Type="http://schemas.openxmlformats.org/officeDocument/2006/relationships/image"/><Relationship Id="rId15" Target="../media/image28.png" Type="http://schemas.openxmlformats.org/officeDocument/2006/relationships/image"/><Relationship Id="rId16" Target="../media/image29.png" Type="http://schemas.openxmlformats.org/officeDocument/2006/relationships/image"/><Relationship Id="rId17" Target="../media/image30.png" Type="http://schemas.openxmlformats.org/officeDocument/2006/relationships/image"/><Relationship Id="rId18" Target="../media/image31.png" Type="http://schemas.openxmlformats.org/officeDocument/2006/relationships/image"/><Relationship Id="rId19" Target="../media/image32.pn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 Id="rId4" Target="../media/image33.jpeg" Type="http://schemas.openxmlformats.org/officeDocument/2006/relationships/image"/><Relationship Id="rId5" Target="../media/image34.png" Type="http://schemas.openxmlformats.org/officeDocument/2006/relationships/image"/><Relationship Id="rId6" Target="../media/image3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svg" Type="http://schemas.openxmlformats.org/officeDocument/2006/relationships/image"/><Relationship Id="rId2" Target="../notesSlides/notesSlide5.xml" Type="http://schemas.openxmlformats.org/officeDocument/2006/relationships/notesSlide"/><Relationship Id="rId3" Target="../media/image1.pn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alphaModFix amt="27000"/>
              </a:blip>
              <a:stretch>
                <a:fillRect l="0" t="0" r="0" b="0"/>
              </a:stretch>
            </a:blipFill>
          </p:spPr>
        </p:sp>
      </p:grpSp>
      <p:grpSp>
        <p:nvGrpSpPr>
          <p:cNvPr name="Group 4" id="4"/>
          <p:cNvGrpSpPr/>
          <p:nvPr/>
        </p:nvGrpSpPr>
        <p:grpSpPr>
          <a:xfrm rot="0">
            <a:off x="0" y="8677799"/>
            <a:ext cx="18288000" cy="1608601"/>
            <a:chOff x="0" y="0"/>
            <a:chExt cx="24384000" cy="2144801"/>
          </a:xfrm>
        </p:grpSpPr>
        <p:sp>
          <p:nvSpPr>
            <p:cNvPr name="Freeform 5" id="5"/>
            <p:cNvSpPr/>
            <p:nvPr/>
          </p:nvSpPr>
          <p:spPr>
            <a:xfrm flipH="false" flipV="false" rot="0">
              <a:off x="0" y="0"/>
              <a:ext cx="24384000" cy="2144776"/>
            </a:xfrm>
            <a:custGeom>
              <a:avLst/>
              <a:gdLst/>
              <a:ahLst/>
              <a:cxnLst/>
              <a:rect r="r" b="b" t="t" l="l"/>
              <a:pathLst>
                <a:path h="2144776" w="24384000">
                  <a:moveTo>
                    <a:pt x="0" y="0"/>
                  </a:moveTo>
                  <a:lnTo>
                    <a:pt x="24384000" y="0"/>
                  </a:lnTo>
                  <a:lnTo>
                    <a:pt x="24384000" y="2144776"/>
                  </a:lnTo>
                  <a:lnTo>
                    <a:pt x="0" y="2144776"/>
                  </a:lnTo>
                  <a:close/>
                </a:path>
              </a:pathLst>
            </a:custGeom>
            <a:solidFill>
              <a:srgbClr val="BB3A1E"/>
            </a:solidFill>
          </p:spPr>
        </p:sp>
      </p:grpSp>
      <p:sp>
        <p:nvSpPr>
          <p:cNvPr name="Freeform 6" id="6"/>
          <p:cNvSpPr/>
          <p:nvPr/>
        </p:nvSpPr>
        <p:spPr>
          <a:xfrm flipH="false" flipV="false" rot="0">
            <a:off x="-45291" y="7406545"/>
            <a:ext cx="18429694" cy="1271273"/>
          </a:xfrm>
          <a:custGeom>
            <a:avLst/>
            <a:gdLst/>
            <a:ahLst/>
            <a:cxnLst/>
            <a:rect r="r" b="b" t="t" l="l"/>
            <a:pathLst>
              <a:path h="1271273" w="18429694">
                <a:moveTo>
                  <a:pt x="0" y="0"/>
                </a:moveTo>
                <a:lnTo>
                  <a:pt x="18429694" y="0"/>
                </a:lnTo>
                <a:lnTo>
                  <a:pt x="18429694" y="1271273"/>
                </a:lnTo>
                <a:lnTo>
                  <a:pt x="0" y="12712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76180" y="4687500"/>
            <a:ext cx="2541842" cy="1906200"/>
          </a:xfrm>
          <a:custGeom>
            <a:avLst/>
            <a:gdLst/>
            <a:ahLst/>
            <a:cxnLst/>
            <a:rect r="r" b="b" t="t" l="l"/>
            <a:pathLst>
              <a:path h="1906200" w="2541842">
                <a:moveTo>
                  <a:pt x="0" y="0"/>
                </a:moveTo>
                <a:lnTo>
                  <a:pt x="2541842" y="0"/>
                </a:lnTo>
                <a:lnTo>
                  <a:pt x="2541842" y="1906200"/>
                </a:lnTo>
                <a:lnTo>
                  <a:pt x="0" y="1906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8288000" y="1629899"/>
            <a:ext cx="11478597" cy="4637399"/>
            <a:chOff x="0" y="0"/>
            <a:chExt cx="15304795" cy="6183198"/>
          </a:xfrm>
        </p:grpSpPr>
        <p:sp>
          <p:nvSpPr>
            <p:cNvPr name="Freeform 9" id="9"/>
            <p:cNvSpPr/>
            <p:nvPr/>
          </p:nvSpPr>
          <p:spPr>
            <a:xfrm flipH="false" flipV="false" rot="0">
              <a:off x="0" y="0"/>
              <a:ext cx="15304801" cy="6183200"/>
            </a:xfrm>
            <a:custGeom>
              <a:avLst/>
              <a:gdLst/>
              <a:ahLst/>
              <a:cxnLst/>
              <a:rect r="r" b="b" t="t" l="l"/>
              <a:pathLst>
                <a:path h="6183200" w="15304801">
                  <a:moveTo>
                    <a:pt x="0" y="0"/>
                  </a:moveTo>
                  <a:lnTo>
                    <a:pt x="15304801" y="0"/>
                  </a:lnTo>
                  <a:lnTo>
                    <a:pt x="15304801" y="6183200"/>
                  </a:lnTo>
                  <a:lnTo>
                    <a:pt x="0" y="6183200"/>
                  </a:lnTo>
                  <a:close/>
                </a:path>
              </a:pathLst>
            </a:custGeom>
            <a:blipFill>
              <a:blip r:embed="rId8">
                <a:alphaModFix amt="0"/>
              </a:blip>
              <a:stretch>
                <a:fillRect l="-1835" t="0" r="-1835" b="0"/>
              </a:stretch>
            </a:blipFill>
          </p:spPr>
        </p:sp>
        <p:sp>
          <p:nvSpPr>
            <p:cNvPr name="TextBox 10" id="10"/>
            <p:cNvSpPr txBox="true"/>
            <p:nvPr/>
          </p:nvSpPr>
          <p:spPr>
            <a:xfrm>
              <a:off x="0" y="-9525"/>
              <a:ext cx="15304795" cy="6192723"/>
            </a:xfrm>
            <a:prstGeom prst="rect">
              <a:avLst/>
            </a:prstGeom>
          </p:spPr>
          <p:txBody>
            <a:bodyPr anchor="b" rtlCol="false" tIns="0" lIns="0" bIns="0" rIns="0"/>
            <a:lstStyle/>
            <a:p>
              <a:pPr algn="ctr">
                <a:lnSpc>
                  <a:spcPts val="18960"/>
                </a:lnSpc>
              </a:pPr>
              <a:r>
                <a:rPr lang="en-US" sz="15800">
                  <a:solidFill>
                    <a:srgbClr val="3F3F3F"/>
                  </a:solidFill>
                  <a:latin typeface="Germania One"/>
                  <a:ea typeface="Germania One"/>
                  <a:cs typeface="Germania One"/>
                  <a:sym typeface="Germania One"/>
                </a:rPr>
                <a:t>Desafío 1 </a:t>
              </a:r>
            </a:p>
            <a:p>
              <a:pPr algn="ctr">
                <a:lnSpc>
                  <a:spcPts val="18960"/>
                </a:lnSpc>
              </a:pPr>
              <a:r>
                <a:rPr lang="en-US" sz="15800" i="true">
                  <a:solidFill>
                    <a:srgbClr val="BB3A1E"/>
                  </a:solidFill>
                  <a:latin typeface="Germania One"/>
                  <a:ea typeface="Germania One"/>
                  <a:cs typeface="Germania One"/>
                  <a:sym typeface="Germania One"/>
                </a:rPr>
                <a:t>Ratmóvil</a:t>
              </a:r>
            </a:p>
          </p:txBody>
        </p:sp>
      </p:grpSp>
      <p:sp>
        <p:nvSpPr>
          <p:cNvPr name="Freeform 11" id="11"/>
          <p:cNvSpPr/>
          <p:nvPr/>
        </p:nvSpPr>
        <p:spPr>
          <a:xfrm flipH="false" flipV="false" rot="0">
            <a:off x="-219" y="359102"/>
            <a:ext cx="2538089" cy="1906200"/>
          </a:xfrm>
          <a:custGeom>
            <a:avLst/>
            <a:gdLst/>
            <a:ahLst/>
            <a:cxnLst/>
            <a:rect r="r" b="b" t="t" l="l"/>
            <a:pathLst>
              <a:path h="1906200" w="2538089">
                <a:moveTo>
                  <a:pt x="0" y="0"/>
                </a:moveTo>
                <a:lnTo>
                  <a:pt x="2538089" y="0"/>
                </a:lnTo>
                <a:lnTo>
                  <a:pt x="2538089" y="1906200"/>
                </a:lnTo>
                <a:lnTo>
                  <a:pt x="0" y="19062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4104158" y="2425310"/>
            <a:ext cx="10130794" cy="4514855"/>
          </a:xfrm>
          <a:prstGeom prst="rect">
            <a:avLst/>
          </a:prstGeom>
        </p:spPr>
        <p:txBody>
          <a:bodyPr anchor="t" rtlCol="false" tIns="0" lIns="0" bIns="0" rIns="0">
            <a:spAutoFit/>
          </a:bodyPr>
          <a:lstStyle/>
          <a:p>
            <a:pPr algn="ctr">
              <a:lnSpc>
                <a:spcPts val="17849"/>
              </a:lnSpc>
            </a:pPr>
            <a:r>
              <a:rPr lang="en-US" sz="14874">
                <a:solidFill>
                  <a:srgbClr val="BB3A1E"/>
                </a:solidFill>
                <a:latin typeface="Germania One"/>
                <a:ea typeface="Germania One"/>
                <a:cs typeface="Germania One"/>
                <a:sym typeface="Germania One"/>
              </a:rPr>
              <a:t>Desafío 1</a:t>
            </a:r>
          </a:p>
          <a:p>
            <a:pPr algn="ctr">
              <a:lnSpc>
                <a:spcPts val="17849"/>
              </a:lnSpc>
            </a:pPr>
            <a:r>
              <a:rPr lang="en-US" sz="14874">
                <a:solidFill>
                  <a:srgbClr val="BB3A1E"/>
                </a:solidFill>
                <a:latin typeface="Germania One"/>
                <a:ea typeface="Germania One"/>
                <a:cs typeface="Germania One"/>
                <a:sym typeface="Germania One"/>
              </a:rPr>
              <a:t>Fast and Rats</a:t>
            </a:r>
          </a:p>
        </p:txBody>
      </p:sp>
      <p:sp>
        <p:nvSpPr>
          <p:cNvPr name="Freeform 13" id="13"/>
          <p:cNvSpPr/>
          <p:nvPr/>
        </p:nvSpPr>
        <p:spPr>
          <a:xfrm flipH="false" flipV="false" rot="0">
            <a:off x="13220658" y="536752"/>
            <a:ext cx="4595259" cy="1550900"/>
          </a:xfrm>
          <a:custGeom>
            <a:avLst/>
            <a:gdLst/>
            <a:ahLst/>
            <a:cxnLst/>
            <a:rect r="r" b="b" t="t" l="l"/>
            <a:pathLst>
              <a:path h="1550900" w="4595259">
                <a:moveTo>
                  <a:pt x="0" y="0"/>
                </a:moveTo>
                <a:lnTo>
                  <a:pt x="4595259" y="0"/>
                </a:lnTo>
                <a:lnTo>
                  <a:pt x="4595259" y="1550900"/>
                </a:lnTo>
                <a:lnTo>
                  <a:pt x="0" y="1550900"/>
                </a:lnTo>
                <a:lnTo>
                  <a:pt x="0" y="0"/>
                </a:lnTo>
                <a:close/>
              </a:path>
            </a:pathLst>
          </a:custGeom>
          <a:blipFill>
            <a:blip r:embed="rId11"/>
            <a:stretch>
              <a:fillRect l="0" t="0" r="0" b="0"/>
            </a:stretch>
          </a:blipFill>
        </p:spPr>
      </p:sp>
      <p:sp>
        <p:nvSpPr>
          <p:cNvPr name="TextBox 14" id="14"/>
          <p:cNvSpPr txBox="true"/>
          <p:nvPr/>
        </p:nvSpPr>
        <p:spPr>
          <a:xfrm rot="0">
            <a:off x="18379421" y="6221778"/>
            <a:ext cx="11295755" cy="604199"/>
          </a:xfrm>
          <a:prstGeom prst="rect">
            <a:avLst/>
          </a:prstGeom>
        </p:spPr>
        <p:txBody>
          <a:bodyPr anchor="t" rtlCol="false" tIns="0" lIns="0" bIns="0" rIns="0">
            <a:spAutoFit/>
          </a:bodyPr>
          <a:lstStyle/>
          <a:p>
            <a:pPr algn="ctr">
              <a:lnSpc>
                <a:spcPts val="4079"/>
              </a:lnSpc>
            </a:pPr>
            <a:r>
              <a:rPr lang="en-US" sz="3400">
                <a:solidFill>
                  <a:srgbClr val="3F3F3F"/>
                </a:solidFill>
                <a:latin typeface="Arimo"/>
                <a:ea typeface="Arimo"/>
                <a:cs typeface="Arimo"/>
                <a:sym typeface="Arimo"/>
              </a:rPr>
              <a:t>Mecatrónica ME4250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48"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27000"/>
              </a:blip>
              <a:stretch>
                <a:fillRect l="0" t="0" r="0" b="0"/>
              </a:stretch>
            </a:blipFill>
          </p:spPr>
        </p:sp>
      </p:grpSp>
      <p:grpSp>
        <p:nvGrpSpPr>
          <p:cNvPr name="Group 4" id="4"/>
          <p:cNvGrpSpPr/>
          <p:nvPr/>
        </p:nvGrpSpPr>
        <p:grpSpPr>
          <a:xfrm rot="0">
            <a:off x="0" y="9620402"/>
            <a:ext cx="18288000" cy="666598"/>
            <a:chOff x="0" y="0"/>
            <a:chExt cx="24384000" cy="888797"/>
          </a:xfrm>
        </p:grpSpPr>
        <p:sp>
          <p:nvSpPr>
            <p:cNvPr name="Freeform 5" id="5"/>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Freeform 6" id="6"/>
          <p:cNvSpPr/>
          <p:nvPr/>
        </p:nvSpPr>
        <p:spPr>
          <a:xfrm flipH="false" flipV="false" rot="0">
            <a:off x="16392677" y="664150"/>
            <a:ext cx="2557091" cy="1906200"/>
          </a:xfrm>
          <a:custGeom>
            <a:avLst/>
            <a:gdLst/>
            <a:ahLst/>
            <a:cxnLst/>
            <a:rect r="r" b="b" t="t" l="l"/>
            <a:pathLst>
              <a:path h="1906200" w="2557091">
                <a:moveTo>
                  <a:pt x="0" y="0"/>
                </a:moveTo>
                <a:lnTo>
                  <a:pt x="2557091" y="0"/>
                </a:lnTo>
                <a:lnTo>
                  <a:pt x="2557091" y="1906200"/>
                </a:lnTo>
                <a:lnTo>
                  <a:pt x="0" y="1906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8186397" y="2553995"/>
            <a:ext cx="7265403" cy="7265403"/>
            <a:chOff x="0" y="0"/>
            <a:chExt cx="9687204" cy="9687204"/>
          </a:xfrm>
        </p:grpSpPr>
        <p:sp>
          <p:nvSpPr>
            <p:cNvPr name="Freeform 8" id="8"/>
            <p:cNvSpPr/>
            <p:nvPr/>
          </p:nvSpPr>
          <p:spPr>
            <a:xfrm flipH="false" flipV="false" rot="0">
              <a:off x="0" y="0"/>
              <a:ext cx="9687179" cy="9687179"/>
            </a:xfrm>
            <a:custGeom>
              <a:avLst/>
              <a:gdLst/>
              <a:ahLst/>
              <a:cxnLst/>
              <a:rect r="r" b="b" t="t" l="l"/>
              <a:pathLst>
                <a:path h="9687179" w="9687179">
                  <a:moveTo>
                    <a:pt x="0" y="0"/>
                  </a:moveTo>
                  <a:lnTo>
                    <a:pt x="9687179" y="0"/>
                  </a:lnTo>
                  <a:lnTo>
                    <a:pt x="9687179" y="9687179"/>
                  </a:lnTo>
                  <a:lnTo>
                    <a:pt x="0" y="9687179"/>
                  </a:lnTo>
                  <a:lnTo>
                    <a:pt x="0" y="0"/>
                  </a:lnTo>
                  <a:close/>
                </a:path>
              </a:pathLst>
            </a:custGeom>
            <a:blipFill>
              <a:blip r:embed="rId5"/>
              <a:stretch>
                <a:fillRect l="0" t="0" r="0" b="0"/>
              </a:stretch>
            </a:blipFill>
          </p:spPr>
        </p:sp>
      </p:grpSp>
      <p:grpSp>
        <p:nvGrpSpPr>
          <p:cNvPr name="Group 9" id="9"/>
          <p:cNvGrpSpPr/>
          <p:nvPr/>
        </p:nvGrpSpPr>
        <p:grpSpPr>
          <a:xfrm rot="0">
            <a:off x="21209498" y="1487195"/>
            <a:ext cx="1219200" cy="1219200"/>
            <a:chOff x="0" y="0"/>
            <a:chExt cx="1625600" cy="1625600"/>
          </a:xfrm>
        </p:grpSpPr>
        <p:sp>
          <p:nvSpPr>
            <p:cNvPr name="Freeform 10" id="10"/>
            <p:cNvSpPr/>
            <p:nvPr/>
          </p:nvSpPr>
          <p:spPr>
            <a:xfrm flipH="false" flipV="false" rot="0">
              <a:off x="0" y="0"/>
              <a:ext cx="1625600" cy="1625600"/>
            </a:xfrm>
            <a:custGeom>
              <a:avLst/>
              <a:gdLst/>
              <a:ahLst/>
              <a:cxnLst/>
              <a:rect r="r" b="b" t="t" l="l"/>
              <a:pathLst>
                <a:path h="1625600" w="1625600">
                  <a:moveTo>
                    <a:pt x="0" y="0"/>
                  </a:moveTo>
                  <a:lnTo>
                    <a:pt x="1625600" y="0"/>
                  </a:lnTo>
                  <a:lnTo>
                    <a:pt x="1625600" y="1625600"/>
                  </a:lnTo>
                  <a:lnTo>
                    <a:pt x="0" y="1625600"/>
                  </a:lnTo>
                  <a:lnTo>
                    <a:pt x="0" y="0"/>
                  </a:lnTo>
                  <a:close/>
                </a:path>
              </a:pathLst>
            </a:custGeom>
            <a:blipFill>
              <a:blip r:embed="rId6"/>
              <a:stretch>
                <a:fillRect l="0" t="0" r="0" b="0"/>
              </a:stretch>
            </a:blipFill>
          </p:spPr>
        </p:sp>
      </p:grpSp>
      <p:sp>
        <p:nvSpPr>
          <p:cNvPr name="TextBox 11" id="11"/>
          <p:cNvSpPr txBox="true"/>
          <p:nvPr/>
        </p:nvSpPr>
        <p:spPr>
          <a:xfrm rot="0">
            <a:off x="1028700" y="3067050"/>
            <a:ext cx="10201933" cy="5991225"/>
          </a:xfrm>
          <a:prstGeom prst="rect">
            <a:avLst/>
          </a:prstGeom>
        </p:spPr>
        <p:txBody>
          <a:bodyPr anchor="t" rtlCol="false" tIns="0" lIns="0" bIns="0" rIns="0">
            <a:spAutoFit/>
          </a:bodyPr>
          <a:lstStyle/>
          <a:p>
            <a:pPr algn="just">
              <a:lnSpc>
                <a:spcPts val="4079"/>
              </a:lnSpc>
            </a:pPr>
            <a:r>
              <a:rPr lang="en-US" sz="3400">
                <a:solidFill>
                  <a:srgbClr val="000000"/>
                </a:solidFill>
                <a:latin typeface="Arimo"/>
                <a:ea typeface="Arimo"/>
                <a:cs typeface="Arimo"/>
                <a:sym typeface="Arimo"/>
              </a:rPr>
              <a:t>Hoy en día las carreras de autos conducidas por ratones se han vuelto muy populares, incluso ya tienen su propia liga llamada </a:t>
            </a:r>
            <a:r>
              <a:rPr lang="en-US" sz="3400" b="true">
                <a:solidFill>
                  <a:srgbClr val="000000"/>
                </a:solidFill>
                <a:latin typeface="Arimo Bold"/>
                <a:ea typeface="Arimo Bold"/>
                <a:cs typeface="Arimo Bold"/>
                <a:sym typeface="Arimo Bold"/>
              </a:rPr>
              <a:t>Fast &amp; Rats</a:t>
            </a:r>
            <a:r>
              <a:rPr lang="en-US" sz="3400">
                <a:solidFill>
                  <a:srgbClr val="000000"/>
                </a:solidFill>
                <a:latin typeface="Arimo"/>
                <a:ea typeface="Arimo"/>
                <a:cs typeface="Arimo"/>
                <a:sym typeface="Arimo"/>
              </a:rPr>
              <a:t>.</a:t>
            </a:r>
          </a:p>
          <a:p>
            <a:pPr algn="just">
              <a:lnSpc>
                <a:spcPts val="4079"/>
              </a:lnSpc>
            </a:pPr>
          </a:p>
          <a:p>
            <a:pPr algn="just">
              <a:lnSpc>
                <a:spcPts val="4079"/>
              </a:lnSpc>
            </a:pPr>
            <a:r>
              <a:rPr lang="en-US" sz="3399">
                <a:solidFill>
                  <a:srgbClr val="000000"/>
                </a:solidFill>
                <a:latin typeface="Arimo"/>
                <a:ea typeface="Arimo"/>
                <a:cs typeface="Arimo"/>
                <a:sym typeface="Arimo"/>
              </a:rPr>
              <a:t>Motivados por el desafío, el grupo decide inscribirse en la próxima carrera. Ahora, deben preparar a su </a:t>
            </a:r>
            <a:r>
              <a:rPr lang="en-US" sz="3399" b="true">
                <a:solidFill>
                  <a:srgbClr val="000000"/>
                </a:solidFill>
                <a:latin typeface="Arimo Bold"/>
                <a:ea typeface="Arimo Bold"/>
                <a:cs typeface="Arimo Bold"/>
                <a:sym typeface="Arimo Bold"/>
              </a:rPr>
              <a:t>piloto ratonil </a:t>
            </a:r>
            <a:r>
              <a:rPr lang="en-US" sz="3399">
                <a:solidFill>
                  <a:srgbClr val="000000"/>
                </a:solidFill>
                <a:latin typeface="Arimo"/>
                <a:ea typeface="Arimo"/>
                <a:cs typeface="Arimo"/>
                <a:sym typeface="Arimo"/>
              </a:rPr>
              <a:t>para enfrentar la competencia.</a:t>
            </a:r>
          </a:p>
          <a:p>
            <a:pPr algn="just">
              <a:lnSpc>
                <a:spcPts val="4079"/>
              </a:lnSpc>
            </a:pPr>
          </a:p>
          <a:p>
            <a:pPr algn="just">
              <a:lnSpc>
                <a:spcPts val="4919"/>
              </a:lnSpc>
            </a:pPr>
            <a:r>
              <a:rPr lang="en-US" sz="4099" b="true">
                <a:solidFill>
                  <a:srgbClr val="000000"/>
                </a:solidFill>
                <a:latin typeface="Arimo Bold"/>
                <a:ea typeface="Arimo Bold"/>
                <a:cs typeface="Arimo Bold"/>
                <a:sym typeface="Arimo Bold"/>
              </a:rPr>
              <a:t>¡Bienvenidos a la 3era edición de Fast and Rats!</a:t>
            </a:r>
          </a:p>
          <a:p>
            <a:pPr algn="just">
              <a:lnSpc>
                <a:spcPts val="4919"/>
              </a:lnSpc>
            </a:pPr>
          </a:p>
        </p:txBody>
      </p:sp>
      <p:sp>
        <p:nvSpPr>
          <p:cNvPr name="Freeform 12" id="12"/>
          <p:cNvSpPr/>
          <p:nvPr/>
        </p:nvSpPr>
        <p:spPr>
          <a:xfrm flipH="false" flipV="false" rot="0">
            <a:off x="11443300" y="2296905"/>
            <a:ext cx="5326730" cy="7990095"/>
          </a:xfrm>
          <a:custGeom>
            <a:avLst/>
            <a:gdLst/>
            <a:ahLst/>
            <a:cxnLst/>
            <a:rect r="r" b="b" t="t" l="l"/>
            <a:pathLst>
              <a:path h="7990095" w="5326730">
                <a:moveTo>
                  <a:pt x="0" y="0"/>
                </a:moveTo>
                <a:lnTo>
                  <a:pt x="5326729" y="0"/>
                </a:lnTo>
                <a:lnTo>
                  <a:pt x="5326729" y="7990095"/>
                </a:lnTo>
                <a:lnTo>
                  <a:pt x="0" y="7990095"/>
                </a:lnTo>
                <a:lnTo>
                  <a:pt x="0" y="0"/>
                </a:lnTo>
                <a:close/>
              </a:path>
            </a:pathLst>
          </a:custGeom>
          <a:blipFill>
            <a:blip r:embed="rId7"/>
            <a:stretch>
              <a:fillRect l="0" t="0" r="0" b="0"/>
            </a:stretch>
          </a:blipFill>
        </p:spPr>
      </p:sp>
      <p:sp>
        <p:nvSpPr>
          <p:cNvPr name="TextBox 13" id="13"/>
          <p:cNvSpPr txBox="true"/>
          <p:nvPr/>
        </p:nvSpPr>
        <p:spPr>
          <a:xfrm rot="0">
            <a:off x="1517875" y="877824"/>
            <a:ext cx="15252154" cy="1218752"/>
          </a:xfrm>
          <a:prstGeom prst="rect">
            <a:avLst/>
          </a:prstGeom>
        </p:spPr>
        <p:txBody>
          <a:bodyPr anchor="t" rtlCol="false" tIns="0" lIns="0" bIns="0" rIns="0">
            <a:spAutoFit/>
          </a:bodyPr>
          <a:lstStyle/>
          <a:p>
            <a:pPr algn="ctr">
              <a:lnSpc>
                <a:spcPts val="10080"/>
              </a:lnSpc>
            </a:pPr>
            <a:r>
              <a:rPr lang="en-US" sz="8400">
                <a:solidFill>
                  <a:srgbClr val="BB3A1E"/>
                </a:solidFill>
                <a:latin typeface="Germania One"/>
                <a:ea typeface="Germania One"/>
                <a:cs typeface="Germania One"/>
                <a:sym typeface="Germania One"/>
              </a:rPr>
              <a:t>Contexto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48"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27000"/>
              </a:blip>
              <a:stretch>
                <a:fillRect l="0" t="0" r="0" b="0"/>
              </a:stretch>
            </a:blipFill>
          </p:spPr>
        </p:sp>
      </p:grpSp>
      <p:grpSp>
        <p:nvGrpSpPr>
          <p:cNvPr name="Group 4" id="4"/>
          <p:cNvGrpSpPr/>
          <p:nvPr/>
        </p:nvGrpSpPr>
        <p:grpSpPr>
          <a:xfrm rot="0">
            <a:off x="0" y="9620402"/>
            <a:ext cx="18288000" cy="666598"/>
            <a:chOff x="0" y="0"/>
            <a:chExt cx="24384000" cy="888797"/>
          </a:xfrm>
        </p:grpSpPr>
        <p:sp>
          <p:nvSpPr>
            <p:cNvPr name="Freeform 5" id="5"/>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Freeform 6" id="6"/>
          <p:cNvSpPr/>
          <p:nvPr/>
        </p:nvSpPr>
        <p:spPr>
          <a:xfrm flipH="false" flipV="false" rot="0">
            <a:off x="16392677" y="664150"/>
            <a:ext cx="2557091" cy="1906200"/>
          </a:xfrm>
          <a:custGeom>
            <a:avLst/>
            <a:gdLst/>
            <a:ahLst/>
            <a:cxnLst/>
            <a:rect r="r" b="b" t="t" l="l"/>
            <a:pathLst>
              <a:path h="1906200" w="2557091">
                <a:moveTo>
                  <a:pt x="0" y="0"/>
                </a:moveTo>
                <a:lnTo>
                  <a:pt x="2557091" y="0"/>
                </a:lnTo>
                <a:lnTo>
                  <a:pt x="2557091" y="1906200"/>
                </a:lnTo>
                <a:lnTo>
                  <a:pt x="0" y="1906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8186397" y="2553995"/>
            <a:ext cx="7265403" cy="7265403"/>
            <a:chOff x="0" y="0"/>
            <a:chExt cx="9687204" cy="9687204"/>
          </a:xfrm>
        </p:grpSpPr>
        <p:sp>
          <p:nvSpPr>
            <p:cNvPr name="Freeform 8" id="8"/>
            <p:cNvSpPr/>
            <p:nvPr/>
          </p:nvSpPr>
          <p:spPr>
            <a:xfrm flipH="false" flipV="false" rot="0">
              <a:off x="0" y="0"/>
              <a:ext cx="9687179" cy="9687179"/>
            </a:xfrm>
            <a:custGeom>
              <a:avLst/>
              <a:gdLst/>
              <a:ahLst/>
              <a:cxnLst/>
              <a:rect r="r" b="b" t="t" l="l"/>
              <a:pathLst>
                <a:path h="9687179" w="9687179">
                  <a:moveTo>
                    <a:pt x="0" y="0"/>
                  </a:moveTo>
                  <a:lnTo>
                    <a:pt x="9687179" y="0"/>
                  </a:lnTo>
                  <a:lnTo>
                    <a:pt x="9687179" y="9687179"/>
                  </a:lnTo>
                  <a:lnTo>
                    <a:pt x="0" y="9687179"/>
                  </a:lnTo>
                  <a:lnTo>
                    <a:pt x="0" y="0"/>
                  </a:lnTo>
                  <a:close/>
                </a:path>
              </a:pathLst>
            </a:custGeom>
            <a:blipFill>
              <a:blip r:embed="rId5"/>
              <a:stretch>
                <a:fillRect l="0" t="0" r="0" b="0"/>
              </a:stretch>
            </a:blipFill>
          </p:spPr>
        </p:sp>
      </p:grpSp>
      <p:grpSp>
        <p:nvGrpSpPr>
          <p:cNvPr name="Group 9" id="9"/>
          <p:cNvGrpSpPr/>
          <p:nvPr/>
        </p:nvGrpSpPr>
        <p:grpSpPr>
          <a:xfrm rot="0">
            <a:off x="21209498" y="1487195"/>
            <a:ext cx="1219200" cy="1219200"/>
            <a:chOff x="0" y="0"/>
            <a:chExt cx="1625600" cy="1625600"/>
          </a:xfrm>
        </p:grpSpPr>
        <p:sp>
          <p:nvSpPr>
            <p:cNvPr name="Freeform 10" id="10"/>
            <p:cNvSpPr/>
            <p:nvPr/>
          </p:nvSpPr>
          <p:spPr>
            <a:xfrm flipH="false" flipV="false" rot="0">
              <a:off x="0" y="0"/>
              <a:ext cx="1625600" cy="1625600"/>
            </a:xfrm>
            <a:custGeom>
              <a:avLst/>
              <a:gdLst/>
              <a:ahLst/>
              <a:cxnLst/>
              <a:rect r="r" b="b" t="t" l="l"/>
              <a:pathLst>
                <a:path h="1625600" w="1625600">
                  <a:moveTo>
                    <a:pt x="0" y="0"/>
                  </a:moveTo>
                  <a:lnTo>
                    <a:pt x="1625600" y="0"/>
                  </a:lnTo>
                  <a:lnTo>
                    <a:pt x="1625600" y="1625600"/>
                  </a:lnTo>
                  <a:lnTo>
                    <a:pt x="0" y="1625600"/>
                  </a:lnTo>
                  <a:lnTo>
                    <a:pt x="0" y="0"/>
                  </a:lnTo>
                  <a:close/>
                </a:path>
              </a:pathLst>
            </a:custGeom>
            <a:blipFill>
              <a:blip r:embed="rId6"/>
              <a:stretch>
                <a:fillRect l="0" t="0" r="0" b="0"/>
              </a:stretch>
            </a:blipFill>
          </p:spPr>
        </p:sp>
      </p:grpSp>
      <p:sp>
        <p:nvSpPr>
          <p:cNvPr name="Freeform 11" id="11"/>
          <p:cNvSpPr/>
          <p:nvPr/>
        </p:nvSpPr>
        <p:spPr>
          <a:xfrm flipH="false" flipV="false" rot="0">
            <a:off x="7915276" y="3086100"/>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7"/>
            <a:stretch>
              <a:fillRect l="0" t="0" r="0" b="0"/>
            </a:stretch>
          </a:blipFill>
        </p:spPr>
      </p:sp>
      <p:sp>
        <p:nvSpPr>
          <p:cNvPr name="Freeform 12" id="12"/>
          <p:cNvSpPr/>
          <p:nvPr/>
        </p:nvSpPr>
        <p:spPr>
          <a:xfrm flipH="false" flipV="false" rot="0">
            <a:off x="12368183" y="5143500"/>
            <a:ext cx="3081749" cy="1733484"/>
          </a:xfrm>
          <a:custGeom>
            <a:avLst/>
            <a:gdLst/>
            <a:ahLst/>
            <a:cxnLst/>
            <a:rect r="r" b="b" t="t" l="l"/>
            <a:pathLst>
              <a:path h="1733484" w="3081749">
                <a:moveTo>
                  <a:pt x="0" y="0"/>
                </a:moveTo>
                <a:lnTo>
                  <a:pt x="3081750" y="0"/>
                </a:lnTo>
                <a:lnTo>
                  <a:pt x="3081750" y="1733484"/>
                </a:lnTo>
                <a:lnTo>
                  <a:pt x="0" y="1733484"/>
                </a:lnTo>
                <a:lnTo>
                  <a:pt x="0" y="0"/>
                </a:lnTo>
                <a:close/>
              </a:path>
            </a:pathLst>
          </a:custGeom>
          <a:blipFill>
            <a:blip r:embed="rId8"/>
            <a:stretch>
              <a:fillRect l="0" t="0" r="0" b="0"/>
            </a:stretch>
          </a:blipFill>
        </p:spPr>
      </p:sp>
      <p:sp>
        <p:nvSpPr>
          <p:cNvPr name="Freeform 13" id="13"/>
          <p:cNvSpPr/>
          <p:nvPr/>
        </p:nvSpPr>
        <p:spPr>
          <a:xfrm flipH="false" flipV="false" rot="0">
            <a:off x="3252022" y="4859370"/>
            <a:ext cx="4663254" cy="4583688"/>
          </a:xfrm>
          <a:custGeom>
            <a:avLst/>
            <a:gdLst/>
            <a:ahLst/>
            <a:cxnLst/>
            <a:rect r="r" b="b" t="t" l="l"/>
            <a:pathLst>
              <a:path h="4583688" w="4663254">
                <a:moveTo>
                  <a:pt x="0" y="0"/>
                </a:moveTo>
                <a:lnTo>
                  <a:pt x="4663254" y="0"/>
                </a:lnTo>
                <a:lnTo>
                  <a:pt x="4663254" y="4583688"/>
                </a:lnTo>
                <a:lnTo>
                  <a:pt x="0" y="4583688"/>
                </a:lnTo>
                <a:lnTo>
                  <a:pt x="0" y="0"/>
                </a:lnTo>
                <a:close/>
              </a:path>
            </a:pathLst>
          </a:custGeom>
          <a:blipFill>
            <a:blip r:embed="rId9"/>
            <a:stretch>
              <a:fillRect l="0" t="-33178" r="0" b="-48492"/>
            </a:stretch>
          </a:blipFill>
        </p:spPr>
      </p:sp>
      <p:sp>
        <p:nvSpPr>
          <p:cNvPr name="TextBox 14" id="14"/>
          <p:cNvSpPr txBox="true"/>
          <p:nvPr/>
        </p:nvSpPr>
        <p:spPr>
          <a:xfrm rot="0">
            <a:off x="1517875" y="877824"/>
            <a:ext cx="15252154" cy="1218752"/>
          </a:xfrm>
          <a:prstGeom prst="rect">
            <a:avLst/>
          </a:prstGeom>
        </p:spPr>
        <p:txBody>
          <a:bodyPr anchor="t" rtlCol="false" tIns="0" lIns="0" bIns="0" rIns="0">
            <a:spAutoFit/>
          </a:bodyPr>
          <a:lstStyle/>
          <a:p>
            <a:pPr algn="ctr">
              <a:lnSpc>
                <a:spcPts val="10080"/>
              </a:lnSpc>
            </a:pPr>
            <a:r>
              <a:rPr lang="en-US" sz="8400">
                <a:solidFill>
                  <a:srgbClr val="BB3A1E"/>
                </a:solidFill>
                <a:latin typeface="Germania One"/>
                <a:ea typeface="Germania One"/>
                <a:cs typeface="Germania One"/>
                <a:sym typeface="Germania One"/>
              </a:rPr>
              <a:t>Contexto</a:t>
            </a:r>
          </a:p>
        </p:txBody>
      </p:sp>
      <p:sp>
        <p:nvSpPr>
          <p:cNvPr name="TextBox 15" id="15"/>
          <p:cNvSpPr txBox="true"/>
          <p:nvPr/>
        </p:nvSpPr>
        <p:spPr>
          <a:xfrm rot="0">
            <a:off x="1028700" y="3067050"/>
            <a:ext cx="10201933" cy="2590800"/>
          </a:xfrm>
          <a:prstGeom prst="rect">
            <a:avLst/>
          </a:prstGeom>
        </p:spPr>
        <p:txBody>
          <a:bodyPr anchor="t" rtlCol="false" tIns="0" lIns="0" bIns="0" rIns="0">
            <a:spAutoFit/>
          </a:bodyPr>
          <a:lstStyle/>
          <a:p>
            <a:pPr algn="just">
              <a:lnSpc>
                <a:spcPts val="4079"/>
              </a:lnSpc>
            </a:pPr>
            <a:r>
              <a:rPr lang="en-US" sz="3399">
                <a:solidFill>
                  <a:srgbClr val="000000"/>
                </a:solidFill>
                <a:latin typeface="Arimo"/>
                <a:ea typeface="Arimo"/>
                <a:cs typeface="Arimo"/>
                <a:sym typeface="Arimo"/>
              </a:rPr>
              <a:t>Este año se suma un nuevo obstáculo:</a:t>
            </a:r>
          </a:p>
          <a:p>
            <a:pPr algn="just">
              <a:lnSpc>
                <a:spcPts val="4079"/>
              </a:lnSpc>
            </a:pPr>
          </a:p>
          <a:p>
            <a:pPr algn="just">
              <a:lnSpc>
                <a:spcPts val="4079"/>
              </a:lnSpc>
            </a:pPr>
            <a:r>
              <a:rPr lang="en-US" sz="3399">
                <a:solidFill>
                  <a:srgbClr val="000000"/>
                </a:solidFill>
                <a:latin typeface="Arimo"/>
                <a:ea typeface="Arimo"/>
                <a:cs typeface="Arimo"/>
                <a:sym typeface="Arimo"/>
              </a:rPr>
              <a:t>El temido </a:t>
            </a:r>
            <a:r>
              <a:rPr lang="en-US" sz="3399" b="true">
                <a:solidFill>
                  <a:srgbClr val="000000"/>
                </a:solidFill>
                <a:latin typeface="Arimo Bold"/>
                <a:ea typeface="Arimo Bold"/>
                <a:cs typeface="Arimo Bold"/>
                <a:sym typeface="Arimo Bold"/>
              </a:rPr>
              <a:t>Puente Rampa</a:t>
            </a:r>
            <a:r>
              <a:rPr lang="en-US" sz="3399">
                <a:solidFill>
                  <a:srgbClr val="000000"/>
                </a:solidFill>
                <a:latin typeface="Arimo"/>
                <a:ea typeface="Arimo"/>
                <a:cs typeface="Arimo"/>
                <a:sym typeface="Arimo"/>
              </a:rPr>
              <a:t>, sin barreras de seguridad, solo fé.</a:t>
            </a:r>
          </a:p>
          <a:p>
            <a:pPr algn="just">
              <a:lnSpc>
                <a:spcPts val="40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alphaModFix amt="27000"/>
              </a:blip>
              <a:stretch>
                <a:fillRect l="0" t="0" r="0" b="0"/>
              </a:stretch>
            </a:blipFill>
          </p:spPr>
        </p:sp>
      </p:grpSp>
      <p:sp>
        <p:nvSpPr>
          <p:cNvPr name="Freeform 4" id="4"/>
          <p:cNvSpPr/>
          <p:nvPr/>
        </p:nvSpPr>
        <p:spPr>
          <a:xfrm flipH="false" flipV="false" rot="0">
            <a:off x="16402707" y="5688673"/>
            <a:ext cx="2541842" cy="1906200"/>
          </a:xfrm>
          <a:custGeom>
            <a:avLst/>
            <a:gdLst/>
            <a:ahLst/>
            <a:cxnLst/>
            <a:rect r="r" b="b" t="t" l="l"/>
            <a:pathLst>
              <a:path h="1906200" w="2541842">
                <a:moveTo>
                  <a:pt x="0" y="0"/>
                </a:moveTo>
                <a:lnTo>
                  <a:pt x="2541842" y="0"/>
                </a:lnTo>
                <a:lnTo>
                  <a:pt x="2541842" y="1906200"/>
                </a:lnTo>
                <a:lnTo>
                  <a:pt x="0" y="1906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88171" y="5317169"/>
            <a:ext cx="2541842" cy="1906200"/>
          </a:xfrm>
          <a:custGeom>
            <a:avLst/>
            <a:gdLst/>
            <a:ahLst/>
            <a:cxnLst/>
            <a:rect r="r" b="b" t="t" l="l"/>
            <a:pathLst>
              <a:path h="1906200" w="2541842">
                <a:moveTo>
                  <a:pt x="0" y="0"/>
                </a:moveTo>
                <a:lnTo>
                  <a:pt x="2541842" y="0"/>
                </a:lnTo>
                <a:lnTo>
                  <a:pt x="2541842" y="1906200"/>
                </a:lnTo>
                <a:lnTo>
                  <a:pt x="0" y="1906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610589" y="-12278"/>
            <a:ext cx="4513250" cy="6657956"/>
          </a:xfrm>
          <a:custGeom>
            <a:avLst/>
            <a:gdLst/>
            <a:ahLst/>
            <a:cxnLst/>
            <a:rect r="r" b="b" t="t" l="l"/>
            <a:pathLst>
              <a:path h="6657956" w="4513250">
                <a:moveTo>
                  <a:pt x="0" y="0"/>
                </a:moveTo>
                <a:lnTo>
                  <a:pt x="4513250" y="0"/>
                </a:lnTo>
                <a:lnTo>
                  <a:pt x="4513250" y="6657956"/>
                </a:lnTo>
                <a:lnTo>
                  <a:pt x="0" y="66579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761744" y="-1133742"/>
            <a:ext cx="5144395" cy="4938770"/>
          </a:xfrm>
          <a:custGeom>
            <a:avLst/>
            <a:gdLst/>
            <a:ahLst/>
            <a:cxnLst/>
            <a:rect r="r" b="b" t="t" l="l"/>
            <a:pathLst>
              <a:path h="4938770" w="5144395">
                <a:moveTo>
                  <a:pt x="0" y="0"/>
                </a:moveTo>
                <a:lnTo>
                  <a:pt x="5144395" y="0"/>
                </a:lnTo>
                <a:lnTo>
                  <a:pt x="5144395" y="4938770"/>
                </a:lnTo>
                <a:lnTo>
                  <a:pt x="0" y="49387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0" y="9620402"/>
            <a:ext cx="18288000" cy="666598"/>
            <a:chOff x="0" y="0"/>
            <a:chExt cx="24384000" cy="888797"/>
          </a:xfrm>
        </p:grpSpPr>
        <p:sp>
          <p:nvSpPr>
            <p:cNvPr name="Freeform 9" id="9"/>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TextBox 10" id="10"/>
          <p:cNvSpPr txBox="true"/>
          <p:nvPr/>
        </p:nvSpPr>
        <p:spPr>
          <a:xfrm rot="0">
            <a:off x="1519609" y="610676"/>
            <a:ext cx="15252154" cy="1228277"/>
          </a:xfrm>
          <a:prstGeom prst="rect">
            <a:avLst/>
          </a:prstGeom>
        </p:spPr>
        <p:txBody>
          <a:bodyPr anchor="t" rtlCol="false" tIns="0" lIns="0" bIns="0" rIns="0">
            <a:spAutoFit/>
          </a:bodyPr>
          <a:lstStyle/>
          <a:p>
            <a:pPr algn="ctr">
              <a:lnSpc>
                <a:spcPts val="10320"/>
              </a:lnSpc>
            </a:pPr>
            <a:r>
              <a:rPr lang="en-US" sz="8600">
                <a:solidFill>
                  <a:srgbClr val="BB3A1E"/>
                </a:solidFill>
                <a:latin typeface="Germania One"/>
                <a:ea typeface="Germania One"/>
                <a:cs typeface="Germania One"/>
                <a:sym typeface="Germania One"/>
              </a:rPr>
              <a:t>Pilotos</a:t>
            </a:r>
          </a:p>
        </p:txBody>
      </p:sp>
      <p:grpSp>
        <p:nvGrpSpPr>
          <p:cNvPr name="Group 11" id="11"/>
          <p:cNvGrpSpPr/>
          <p:nvPr/>
        </p:nvGrpSpPr>
        <p:grpSpPr>
          <a:xfrm rot="0">
            <a:off x="405375" y="4777607"/>
            <a:ext cx="5042402" cy="1005602"/>
            <a:chOff x="0" y="0"/>
            <a:chExt cx="6723202" cy="1340802"/>
          </a:xfrm>
        </p:grpSpPr>
        <p:sp>
          <p:nvSpPr>
            <p:cNvPr name="Freeform 12" id="12"/>
            <p:cNvSpPr/>
            <p:nvPr/>
          </p:nvSpPr>
          <p:spPr>
            <a:xfrm flipH="false" flipV="false" rot="0">
              <a:off x="0" y="0"/>
              <a:ext cx="6723200" cy="1340800"/>
            </a:xfrm>
            <a:custGeom>
              <a:avLst/>
              <a:gdLst/>
              <a:ahLst/>
              <a:cxnLst/>
              <a:rect r="r" b="b" t="t" l="l"/>
              <a:pathLst>
                <a:path h="1340800" w="6723200">
                  <a:moveTo>
                    <a:pt x="0" y="0"/>
                  </a:moveTo>
                  <a:lnTo>
                    <a:pt x="6723200" y="0"/>
                  </a:lnTo>
                  <a:lnTo>
                    <a:pt x="6723200" y="1340800"/>
                  </a:lnTo>
                  <a:lnTo>
                    <a:pt x="0" y="1340800"/>
                  </a:lnTo>
                  <a:close/>
                </a:path>
              </a:pathLst>
            </a:custGeom>
            <a:blipFill>
              <a:blip r:embed="rId12">
                <a:alphaModFix amt="0"/>
              </a:blip>
              <a:stretch>
                <a:fillRect l="0" t="-47704" r="0" b="-47704"/>
              </a:stretch>
            </a:blipFill>
          </p:spPr>
        </p:sp>
        <p:sp>
          <p:nvSpPr>
            <p:cNvPr name="TextBox 13" id="13"/>
            <p:cNvSpPr txBox="true"/>
            <p:nvPr/>
          </p:nvSpPr>
          <p:spPr>
            <a:xfrm>
              <a:off x="0" y="0"/>
              <a:ext cx="6723202" cy="1340802"/>
            </a:xfrm>
            <a:prstGeom prst="rect">
              <a:avLst/>
            </a:prstGeom>
          </p:spPr>
          <p:txBody>
            <a:bodyPr anchor="b" rtlCol="false" tIns="0" lIns="0" bIns="0" rIns="0"/>
            <a:lstStyle/>
            <a:p>
              <a:pPr algn="ctr">
                <a:lnSpc>
                  <a:spcPts val="6240"/>
                </a:lnSpc>
              </a:pPr>
              <a:r>
                <a:rPr lang="en-US" sz="5200">
                  <a:solidFill>
                    <a:srgbClr val="3F3F3F"/>
                  </a:solidFill>
                  <a:latin typeface="Germania One"/>
                  <a:ea typeface="Germania One"/>
                  <a:cs typeface="Germania One"/>
                  <a:sym typeface="Germania One"/>
                </a:rPr>
                <a:t>Remy</a:t>
              </a:r>
            </a:p>
          </p:txBody>
        </p:sp>
      </p:grpSp>
      <p:grpSp>
        <p:nvGrpSpPr>
          <p:cNvPr name="Group 14" id="14"/>
          <p:cNvGrpSpPr/>
          <p:nvPr/>
        </p:nvGrpSpPr>
        <p:grpSpPr>
          <a:xfrm rot="0">
            <a:off x="6884086" y="4829716"/>
            <a:ext cx="4519828" cy="901384"/>
            <a:chOff x="0" y="0"/>
            <a:chExt cx="6723202" cy="1340800"/>
          </a:xfrm>
        </p:grpSpPr>
        <p:sp>
          <p:nvSpPr>
            <p:cNvPr name="Freeform 15" id="15"/>
            <p:cNvSpPr/>
            <p:nvPr/>
          </p:nvSpPr>
          <p:spPr>
            <a:xfrm flipH="false" flipV="false" rot="0">
              <a:off x="0" y="0"/>
              <a:ext cx="6723200" cy="1340798"/>
            </a:xfrm>
            <a:custGeom>
              <a:avLst/>
              <a:gdLst/>
              <a:ahLst/>
              <a:cxnLst/>
              <a:rect r="r" b="b" t="t" l="l"/>
              <a:pathLst>
                <a:path h="1340798" w="6723200">
                  <a:moveTo>
                    <a:pt x="0" y="0"/>
                  </a:moveTo>
                  <a:lnTo>
                    <a:pt x="6723200" y="0"/>
                  </a:lnTo>
                  <a:lnTo>
                    <a:pt x="6723200" y="1340798"/>
                  </a:lnTo>
                  <a:lnTo>
                    <a:pt x="0" y="1340798"/>
                  </a:lnTo>
                  <a:close/>
                </a:path>
              </a:pathLst>
            </a:custGeom>
            <a:blipFill>
              <a:blip r:embed="rId12">
                <a:alphaModFix amt="0"/>
              </a:blip>
              <a:stretch>
                <a:fillRect l="0" t="-47704" r="0" b="-47704"/>
              </a:stretch>
            </a:blipFill>
          </p:spPr>
        </p:sp>
        <p:sp>
          <p:nvSpPr>
            <p:cNvPr name="TextBox 16" id="16"/>
            <p:cNvSpPr txBox="true"/>
            <p:nvPr/>
          </p:nvSpPr>
          <p:spPr>
            <a:xfrm>
              <a:off x="0" y="0"/>
              <a:ext cx="6723202" cy="1340800"/>
            </a:xfrm>
            <a:prstGeom prst="rect">
              <a:avLst/>
            </a:prstGeom>
          </p:spPr>
          <p:txBody>
            <a:bodyPr anchor="b" rtlCol="false" tIns="0" lIns="0" bIns="0" rIns="0"/>
            <a:lstStyle/>
            <a:p>
              <a:pPr algn="ctr">
                <a:lnSpc>
                  <a:spcPts val="6240"/>
                </a:lnSpc>
              </a:pPr>
              <a:r>
                <a:rPr lang="en-US" sz="5200">
                  <a:solidFill>
                    <a:srgbClr val="3F3F3F"/>
                  </a:solidFill>
                  <a:latin typeface="Germania One"/>
                  <a:ea typeface="Germania One"/>
                  <a:cs typeface="Germania One"/>
                  <a:sym typeface="Germania One"/>
                </a:rPr>
                <a:t>Speedy Gonzales</a:t>
              </a:r>
            </a:p>
          </p:txBody>
        </p:sp>
      </p:grpSp>
      <p:grpSp>
        <p:nvGrpSpPr>
          <p:cNvPr name="Group 17" id="17"/>
          <p:cNvGrpSpPr/>
          <p:nvPr/>
        </p:nvGrpSpPr>
        <p:grpSpPr>
          <a:xfrm rot="0">
            <a:off x="1120683" y="8415623"/>
            <a:ext cx="4095483" cy="1103452"/>
            <a:chOff x="0" y="0"/>
            <a:chExt cx="5460644" cy="1471270"/>
          </a:xfrm>
        </p:grpSpPr>
        <p:sp>
          <p:nvSpPr>
            <p:cNvPr name="Freeform 18" id="18"/>
            <p:cNvSpPr/>
            <p:nvPr/>
          </p:nvSpPr>
          <p:spPr>
            <a:xfrm flipH="false" flipV="false" rot="0">
              <a:off x="0" y="0"/>
              <a:ext cx="5460645" cy="1471264"/>
            </a:xfrm>
            <a:custGeom>
              <a:avLst/>
              <a:gdLst/>
              <a:ahLst/>
              <a:cxnLst/>
              <a:rect r="r" b="b" t="t" l="l"/>
              <a:pathLst>
                <a:path h="1471264" w="5460645">
                  <a:moveTo>
                    <a:pt x="0" y="0"/>
                  </a:moveTo>
                  <a:lnTo>
                    <a:pt x="5460645" y="0"/>
                  </a:lnTo>
                  <a:lnTo>
                    <a:pt x="5460645" y="1471264"/>
                  </a:lnTo>
                  <a:lnTo>
                    <a:pt x="0" y="1471264"/>
                  </a:lnTo>
                  <a:close/>
                </a:path>
              </a:pathLst>
            </a:custGeom>
            <a:blipFill>
              <a:blip r:embed="rId12">
                <a:alphaModFix amt="0"/>
              </a:blip>
              <a:stretch>
                <a:fillRect l="0" t="-22319" r="0" b="-22319"/>
              </a:stretch>
            </a:blipFill>
          </p:spPr>
        </p:sp>
        <p:sp>
          <p:nvSpPr>
            <p:cNvPr name="TextBox 19" id="19"/>
            <p:cNvSpPr txBox="true"/>
            <p:nvPr/>
          </p:nvSpPr>
          <p:spPr>
            <a:xfrm>
              <a:off x="0" y="0"/>
              <a:ext cx="5460644" cy="1471270"/>
            </a:xfrm>
            <a:prstGeom prst="rect">
              <a:avLst/>
            </a:prstGeom>
          </p:spPr>
          <p:txBody>
            <a:bodyPr anchor="b" rtlCol="false" tIns="0" lIns="0" bIns="0" rIns="0"/>
            <a:lstStyle/>
            <a:p>
              <a:pPr algn="ctr">
                <a:lnSpc>
                  <a:spcPts val="6240"/>
                </a:lnSpc>
              </a:pPr>
              <a:r>
                <a:rPr lang="en-US" sz="5200">
                  <a:solidFill>
                    <a:srgbClr val="3F3F3F"/>
                  </a:solidFill>
                  <a:latin typeface="Germania One"/>
                  <a:ea typeface="Germania One"/>
                  <a:cs typeface="Germania One"/>
                  <a:sym typeface="Germania One"/>
                </a:rPr>
                <a:t>Mickey mouse</a:t>
              </a:r>
            </a:p>
          </p:txBody>
        </p:sp>
      </p:grpSp>
      <p:grpSp>
        <p:nvGrpSpPr>
          <p:cNvPr name="Group 20" id="20"/>
          <p:cNvGrpSpPr/>
          <p:nvPr/>
        </p:nvGrpSpPr>
        <p:grpSpPr>
          <a:xfrm rot="0">
            <a:off x="11890716" y="4777607"/>
            <a:ext cx="5042402" cy="1005602"/>
            <a:chOff x="0" y="0"/>
            <a:chExt cx="6723202" cy="1340802"/>
          </a:xfrm>
        </p:grpSpPr>
        <p:sp>
          <p:nvSpPr>
            <p:cNvPr name="Freeform 21" id="21"/>
            <p:cNvSpPr/>
            <p:nvPr/>
          </p:nvSpPr>
          <p:spPr>
            <a:xfrm flipH="false" flipV="false" rot="0">
              <a:off x="0" y="0"/>
              <a:ext cx="6723200" cy="1340800"/>
            </a:xfrm>
            <a:custGeom>
              <a:avLst/>
              <a:gdLst/>
              <a:ahLst/>
              <a:cxnLst/>
              <a:rect r="r" b="b" t="t" l="l"/>
              <a:pathLst>
                <a:path h="1340800" w="6723200">
                  <a:moveTo>
                    <a:pt x="0" y="0"/>
                  </a:moveTo>
                  <a:lnTo>
                    <a:pt x="6723200" y="0"/>
                  </a:lnTo>
                  <a:lnTo>
                    <a:pt x="6723200" y="1340800"/>
                  </a:lnTo>
                  <a:lnTo>
                    <a:pt x="0" y="1340800"/>
                  </a:lnTo>
                  <a:close/>
                </a:path>
              </a:pathLst>
            </a:custGeom>
            <a:blipFill>
              <a:blip r:embed="rId12">
                <a:alphaModFix amt="0"/>
              </a:blip>
              <a:stretch>
                <a:fillRect l="0" t="-47704" r="0" b="-47704"/>
              </a:stretch>
            </a:blipFill>
          </p:spPr>
        </p:sp>
        <p:sp>
          <p:nvSpPr>
            <p:cNvPr name="TextBox 22" id="22"/>
            <p:cNvSpPr txBox="true"/>
            <p:nvPr/>
          </p:nvSpPr>
          <p:spPr>
            <a:xfrm>
              <a:off x="0" y="0"/>
              <a:ext cx="6723202" cy="1340802"/>
            </a:xfrm>
            <a:prstGeom prst="rect">
              <a:avLst/>
            </a:prstGeom>
          </p:spPr>
          <p:txBody>
            <a:bodyPr anchor="b" rtlCol="false" tIns="0" lIns="0" bIns="0" rIns="0"/>
            <a:lstStyle/>
            <a:p>
              <a:pPr algn="ctr">
                <a:lnSpc>
                  <a:spcPts val="6240"/>
                </a:lnSpc>
              </a:pPr>
              <a:r>
                <a:rPr lang="en-US" sz="5200">
                  <a:solidFill>
                    <a:srgbClr val="3F3F3F"/>
                  </a:solidFill>
                  <a:latin typeface="Germania One"/>
                  <a:ea typeface="Germania One"/>
                  <a:cs typeface="Germania One"/>
                  <a:sym typeface="Germania One"/>
                </a:rPr>
                <a:t>Rattata</a:t>
              </a:r>
            </a:p>
          </p:txBody>
        </p:sp>
      </p:grpSp>
      <p:grpSp>
        <p:nvGrpSpPr>
          <p:cNvPr name="Group 23" id="23"/>
          <p:cNvGrpSpPr/>
          <p:nvPr/>
        </p:nvGrpSpPr>
        <p:grpSpPr>
          <a:xfrm rot="0">
            <a:off x="-81372" y="-798900"/>
            <a:ext cx="3453784" cy="4654125"/>
            <a:chOff x="0" y="0"/>
            <a:chExt cx="4605045" cy="6205499"/>
          </a:xfrm>
        </p:grpSpPr>
        <p:sp>
          <p:nvSpPr>
            <p:cNvPr name="Freeform 24" id="24"/>
            <p:cNvSpPr/>
            <p:nvPr/>
          </p:nvSpPr>
          <p:spPr>
            <a:xfrm flipH="false" flipV="false" rot="0">
              <a:off x="0" y="0"/>
              <a:ext cx="4605020" cy="6205474"/>
            </a:xfrm>
            <a:custGeom>
              <a:avLst/>
              <a:gdLst/>
              <a:ahLst/>
              <a:cxnLst/>
              <a:rect r="r" b="b" t="t" l="l"/>
              <a:pathLst>
                <a:path h="6205474" w="4605020">
                  <a:moveTo>
                    <a:pt x="0" y="0"/>
                  </a:moveTo>
                  <a:lnTo>
                    <a:pt x="4605020" y="0"/>
                  </a:lnTo>
                  <a:lnTo>
                    <a:pt x="4605020" y="6205474"/>
                  </a:lnTo>
                  <a:lnTo>
                    <a:pt x="0" y="6205474"/>
                  </a:lnTo>
                  <a:lnTo>
                    <a:pt x="0" y="0"/>
                  </a:lnTo>
                  <a:close/>
                </a:path>
              </a:pathLst>
            </a:custGeom>
            <a:blipFill>
              <a:blip r:embed="rId13"/>
              <a:stretch>
                <a:fillRect l="0" t="-12072" r="0" b="-12072"/>
              </a:stretch>
            </a:blipFill>
          </p:spPr>
        </p:sp>
      </p:grpSp>
      <p:grpSp>
        <p:nvGrpSpPr>
          <p:cNvPr name="Group 25" id="25"/>
          <p:cNvGrpSpPr/>
          <p:nvPr/>
        </p:nvGrpSpPr>
        <p:grpSpPr>
          <a:xfrm rot="0">
            <a:off x="2120456" y="1589122"/>
            <a:ext cx="1592961" cy="3226241"/>
            <a:chOff x="0" y="0"/>
            <a:chExt cx="2123948" cy="4301655"/>
          </a:xfrm>
        </p:grpSpPr>
        <p:sp>
          <p:nvSpPr>
            <p:cNvPr name="Freeform 26" id="26" descr="100 ideas de &lt;Ratatouille..... | película ratatouille, personajes de la  película ratatouille, ratatouille"/>
            <p:cNvSpPr/>
            <p:nvPr/>
          </p:nvSpPr>
          <p:spPr>
            <a:xfrm flipH="false" flipV="false" rot="0">
              <a:off x="0" y="0"/>
              <a:ext cx="2123948" cy="4301617"/>
            </a:xfrm>
            <a:custGeom>
              <a:avLst/>
              <a:gdLst/>
              <a:ahLst/>
              <a:cxnLst/>
              <a:rect r="r" b="b" t="t" l="l"/>
              <a:pathLst>
                <a:path h="4301617" w="2123948">
                  <a:moveTo>
                    <a:pt x="0" y="0"/>
                  </a:moveTo>
                  <a:lnTo>
                    <a:pt x="2123948" y="0"/>
                  </a:lnTo>
                  <a:lnTo>
                    <a:pt x="2123948" y="4301617"/>
                  </a:lnTo>
                  <a:lnTo>
                    <a:pt x="0" y="4301617"/>
                  </a:lnTo>
                  <a:lnTo>
                    <a:pt x="0" y="0"/>
                  </a:lnTo>
                  <a:close/>
                </a:path>
              </a:pathLst>
            </a:custGeom>
            <a:blipFill>
              <a:blip r:embed="rId14"/>
              <a:stretch>
                <a:fillRect l="0" t="0" r="0" b="0"/>
              </a:stretch>
            </a:blipFill>
          </p:spPr>
        </p:sp>
      </p:grpSp>
      <p:grpSp>
        <p:nvGrpSpPr>
          <p:cNvPr name="Group 27" id="27"/>
          <p:cNvGrpSpPr/>
          <p:nvPr/>
        </p:nvGrpSpPr>
        <p:grpSpPr>
          <a:xfrm rot="0">
            <a:off x="12216898" y="8573778"/>
            <a:ext cx="5042402" cy="1005600"/>
            <a:chOff x="0" y="0"/>
            <a:chExt cx="6723202" cy="1340800"/>
          </a:xfrm>
        </p:grpSpPr>
        <p:sp>
          <p:nvSpPr>
            <p:cNvPr name="Freeform 28" id="28"/>
            <p:cNvSpPr/>
            <p:nvPr/>
          </p:nvSpPr>
          <p:spPr>
            <a:xfrm flipH="false" flipV="false" rot="0">
              <a:off x="0" y="0"/>
              <a:ext cx="6723200" cy="1340798"/>
            </a:xfrm>
            <a:custGeom>
              <a:avLst/>
              <a:gdLst/>
              <a:ahLst/>
              <a:cxnLst/>
              <a:rect r="r" b="b" t="t" l="l"/>
              <a:pathLst>
                <a:path h="1340798" w="6723200">
                  <a:moveTo>
                    <a:pt x="0" y="0"/>
                  </a:moveTo>
                  <a:lnTo>
                    <a:pt x="6723200" y="0"/>
                  </a:lnTo>
                  <a:lnTo>
                    <a:pt x="6723200" y="1340798"/>
                  </a:lnTo>
                  <a:lnTo>
                    <a:pt x="0" y="1340798"/>
                  </a:lnTo>
                  <a:close/>
                </a:path>
              </a:pathLst>
            </a:custGeom>
            <a:blipFill>
              <a:blip r:embed="rId12">
                <a:alphaModFix amt="0"/>
              </a:blip>
              <a:stretch>
                <a:fillRect l="0" t="-47704" r="0" b="-47704"/>
              </a:stretch>
            </a:blipFill>
          </p:spPr>
        </p:sp>
        <p:sp>
          <p:nvSpPr>
            <p:cNvPr name="TextBox 29" id="29"/>
            <p:cNvSpPr txBox="true"/>
            <p:nvPr/>
          </p:nvSpPr>
          <p:spPr>
            <a:xfrm>
              <a:off x="0" y="0"/>
              <a:ext cx="6723202" cy="1340800"/>
            </a:xfrm>
            <a:prstGeom prst="rect">
              <a:avLst/>
            </a:prstGeom>
          </p:spPr>
          <p:txBody>
            <a:bodyPr anchor="b" rtlCol="false" tIns="0" lIns="0" bIns="0" rIns="0"/>
            <a:lstStyle/>
            <a:p>
              <a:pPr algn="ctr">
                <a:lnSpc>
                  <a:spcPts val="6240"/>
                </a:lnSpc>
              </a:pPr>
              <a:r>
                <a:rPr lang="en-US" sz="5200">
                  <a:solidFill>
                    <a:srgbClr val="3F3F3F"/>
                  </a:solidFill>
                  <a:latin typeface="Germania One"/>
                  <a:ea typeface="Germania One"/>
                  <a:cs typeface="Germania One"/>
                  <a:sym typeface="Germania One"/>
                </a:rPr>
                <a:t>Minnie</a:t>
              </a:r>
            </a:p>
          </p:txBody>
        </p:sp>
      </p:grpSp>
      <p:grpSp>
        <p:nvGrpSpPr>
          <p:cNvPr name="Group 30" id="30"/>
          <p:cNvGrpSpPr/>
          <p:nvPr/>
        </p:nvGrpSpPr>
        <p:grpSpPr>
          <a:xfrm rot="0">
            <a:off x="2039322" y="5824233"/>
            <a:ext cx="2456659" cy="2757430"/>
            <a:chOff x="0" y="0"/>
            <a:chExt cx="3275546" cy="3676574"/>
          </a:xfrm>
        </p:grpSpPr>
        <p:sp>
          <p:nvSpPr>
            <p:cNvPr name="Freeform 31" id="31" descr="Mickey Mouse - Wikipedia, la enciclopedia libre"/>
            <p:cNvSpPr/>
            <p:nvPr/>
          </p:nvSpPr>
          <p:spPr>
            <a:xfrm flipH="false" flipV="false" rot="0">
              <a:off x="0" y="0"/>
              <a:ext cx="3275584" cy="3676523"/>
            </a:xfrm>
            <a:custGeom>
              <a:avLst/>
              <a:gdLst/>
              <a:ahLst/>
              <a:cxnLst/>
              <a:rect r="r" b="b" t="t" l="l"/>
              <a:pathLst>
                <a:path h="3676523" w="3275584">
                  <a:moveTo>
                    <a:pt x="0" y="0"/>
                  </a:moveTo>
                  <a:lnTo>
                    <a:pt x="3275584" y="0"/>
                  </a:lnTo>
                  <a:lnTo>
                    <a:pt x="3275584" y="3676523"/>
                  </a:lnTo>
                  <a:lnTo>
                    <a:pt x="0" y="3676523"/>
                  </a:lnTo>
                  <a:lnTo>
                    <a:pt x="0" y="0"/>
                  </a:lnTo>
                  <a:close/>
                </a:path>
              </a:pathLst>
            </a:custGeom>
            <a:blipFill>
              <a:blip r:embed="rId15"/>
              <a:stretch>
                <a:fillRect l="0" t="0" r="1" b="-1"/>
              </a:stretch>
            </a:blipFill>
          </p:spPr>
        </p:sp>
      </p:grpSp>
      <p:grpSp>
        <p:nvGrpSpPr>
          <p:cNvPr name="Group 32" id="32"/>
          <p:cNvGrpSpPr/>
          <p:nvPr/>
        </p:nvGrpSpPr>
        <p:grpSpPr>
          <a:xfrm rot="0">
            <a:off x="12913377" y="2069087"/>
            <a:ext cx="2822781" cy="2822781"/>
            <a:chOff x="0" y="0"/>
            <a:chExt cx="3763708" cy="3763708"/>
          </a:xfrm>
        </p:grpSpPr>
        <p:sp>
          <p:nvSpPr>
            <p:cNvPr name="Freeform 33" id="33" descr="Rattata | Pokédex"/>
            <p:cNvSpPr/>
            <p:nvPr/>
          </p:nvSpPr>
          <p:spPr>
            <a:xfrm flipH="false" flipV="false" rot="0">
              <a:off x="0" y="0"/>
              <a:ext cx="3763772" cy="3763772"/>
            </a:xfrm>
            <a:custGeom>
              <a:avLst/>
              <a:gdLst/>
              <a:ahLst/>
              <a:cxnLst/>
              <a:rect r="r" b="b" t="t" l="l"/>
              <a:pathLst>
                <a:path h="3763772" w="3763772">
                  <a:moveTo>
                    <a:pt x="0" y="0"/>
                  </a:moveTo>
                  <a:lnTo>
                    <a:pt x="3763772" y="0"/>
                  </a:lnTo>
                  <a:lnTo>
                    <a:pt x="3763772" y="3763772"/>
                  </a:lnTo>
                  <a:lnTo>
                    <a:pt x="0" y="3763772"/>
                  </a:lnTo>
                  <a:lnTo>
                    <a:pt x="0" y="0"/>
                  </a:lnTo>
                  <a:close/>
                </a:path>
              </a:pathLst>
            </a:custGeom>
            <a:blipFill>
              <a:blip r:embed="rId16"/>
              <a:stretch>
                <a:fillRect l="0" t="0" r="1" b="1"/>
              </a:stretch>
            </a:blipFill>
          </p:spPr>
        </p:sp>
      </p:grpSp>
      <p:sp>
        <p:nvSpPr>
          <p:cNvPr name="Freeform 34" id="34"/>
          <p:cNvSpPr/>
          <p:nvPr/>
        </p:nvSpPr>
        <p:spPr>
          <a:xfrm flipH="false" flipV="false" rot="0">
            <a:off x="12901913" y="5725913"/>
            <a:ext cx="3241400" cy="3241400"/>
          </a:xfrm>
          <a:custGeom>
            <a:avLst/>
            <a:gdLst/>
            <a:ahLst/>
            <a:cxnLst/>
            <a:rect r="r" b="b" t="t" l="l"/>
            <a:pathLst>
              <a:path h="3241400" w="3241400">
                <a:moveTo>
                  <a:pt x="0" y="0"/>
                </a:moveTo>
                <a:lnTo>
                  <a:pt x="3241400" y="0"/>
                </a:lnTo>
                <a:lnTo>
                  <a:pt x="3241400" y="3241400"/>
                </a:lnTo>
                <a:lnTo>
                  <a:pt x="0" y="3241400"/>
                </a:lnTo>
                <a:lnTo>
                  <a:pt x="0" y="0"/>
                </a:lnTo>
                <a:close/>
              </a:path>
            </a:pathLst>
          </a:custGeom>
          <a:blipFill>
            <a:blip r:embed="rId17"/>
            <a:stretch>
              <a:fillRect l="0" t="0" r="0" b="0"/>
            </a:stretch>
          </a:blipFill>
        </p:spPr>
      </p:sp>
      <p:sp>
        <p:nvSpPr>
          <p:cNvPr name="Freeform 35" id="35"/>
          <p:cNvSpPr/>
          <p:nvPr/>
        </p:nvSpPr>
        <p:spPr>
          <a:xfrm flipH="false" flipV="false" rot="0">
            <a:off x="6648564" y="5637990"/>
            <a:ext cx="4367547" cy="3329360"/>
          </a:xfrm>
          <a:custGeom>
            <a:avLst/>
            <a:gdLst/>
            <a:ahLst/>
            <a:cxnLst/>
            <a:rect r="r" b="b" t="t" l="l"/>
            <a:pathLst>
              <a:path h="3329360" w="4367547">
                <a:moveTo>
                  <a:pt x="0" y="0"/>
                </a:moveTo>
                <a:lnTo>
                  <a:pt x="4367547" y="0"/>
                </a:lnTo>
                <a:lnTo>
                  <a:pt x="4367547" y="3329359"/>
                </a:lnTo>
                <a:lnTo>
                  <a:pt x="0" y="3329359"/>
                </a:lnTo>
                <a:lnTo>
                  <a:pt x="0" y="0"/>
                </a:lnTo>
                <a:close/>
              </a:path>
            </a:pathLst>
          </a:custGeom>
          <a:blipFill>
            <a:blip r:embed="rId18"/>
            <a:stretch>
              <a:fillRect l="0" t="0" r="0" b="0"/>
            </a:stretch>
          </a:blipFill>
        </p:spPr>
      </p:sp>
      <p:grpSp>
        <p:nvGrpSpPr>
          <p:cNvPr name="Group 36" id="36"/>
          <p:cNvGrpSpPr/>
          <p:nvPr/>
        </p:nvGrpSpPr>
        <p:grpSpPr>
          <a:xfrm rot="0">
            <a:off x="7097944" y="8415589"/>
            <a:ext cx="4095483" cy="1103448"/>
            <a:chOff x="0" y="0"/>
            <a:chExt cx="5460644" cy="1471264"/>
          </a:xfrm>
        </p:grpSpPr>
        <p:sp>
          <p:nvSpPr>
            <p:cNvPr name="Freeform 37" id="37"/>
            <p:cNvSpPr/>
            <p:nvPr/>
          </p:nvSpPr>
          <p:spPr>
            <a:xfrm flipH="false" flipV="false" rot="0">
              <a:off x="0" y="0"/>
              <a:ext cx="5460645" cy="1471258"/>
            </a:xfrm>
            <a:custGeom>
              <a:avLst/>
              <a:gdLst/>
              <a:ahLst/>
              <a:cxnLst/>
              <a:rect r="r" b="b" t="t" l="l"/>
              <a:pathLst>
                <a:path h="1471258" w="5460645">
                  <a:moveTo>
                    <a:pt x="0" y="0"/>
                  </a:moveTo>
                  <a:lnTo>
                    <a:pt x="5460645" y="0"/>
                  </a:lnTo>
                  <a:lnTo>
                    <a:pt x="5460645" y="1471258"/>
                  </a:lnTo>
                  <a:lnTo>
                    <a:pt x="0" y="1471258"/>
                  </a:lnTo>
                  <a:close/>
                </a:path>
              </a:pathLst>
            </a:custGeom>
            <a:blipFill>
              <a:blip r:embed="rId12">
                <a:alphaModFix amt="0"/>
              </a:blip>
              <a:stretch>
                <a:fillRect l="0" t="-22319" r="0" b="-22320"/>
              </a:stretch>
            </a:blipFill>
          </p:spPr>
        </p:sp>
        <p:sp>
          <p:nvSpPr>
            <p:cNvPr name="TextBox 38" id="38"/>
            <p:cNvSpPr txBox="true"/>
            <p:nvPr/>
          </p:nvSpPr>
          <p:spPr>
            <a:xfrm>
              <a:off x="0" y="0"/>
              <a:ext cx="5460644" cy="1471264"/>
            </a:xfrm>
            <a:prstGeom prst="rect">
              <a:avLst/>
            </a:prstGeom>
          </p:spPr>
          <p:txBody>
            <a:bodyPr anchor="b" rtlCol="false" tIns="0" lIns="0" bIns="0" rIns="0"/>
            <a:lstStyle/>
            <a:p>
              <a:pPr algn="ctr">
                <a:lnSpc>
                  <a:spcPts val="6240"/>
                </a:lnSpc>
              </a:pPr>
              <a:r>
                <a:rPr lang="en-US" sz="5200">
                  <a:solidFill>
                    <a:srgbClr val="3F3F3F"/>
                  </a:solidFill>
                  <a:latin typeface="Germania One"/>
                  <a:ea typeface="Germania One"/>
                  <a:cs typeface="Germania One"/>
                  <a:sym typeface="Germania One"/>
                </a:rPr>
                <a:t>Dorime</a:t>
              </a:r>
            </a:p>
          </p:txBody>
        </p:sp>
      </p:grpSp>
      <p:sp>
        <p:nvSpPr>
          <p:cNvPr name="Freeform 39" id="39"/>
          <p:cNvSpPr/>
          <p:nvPr/>
        </p:nvSpPr>
        <p:spPr>
          <a:xfrm flipH="false" flipV="false" rot="0">
            <a:off x="8047685" y="2187626"/>
            <a:ext cx="2192629" cy="2704243"/>
          </a:xfrm>
          <a:custGeom>
            <a:avLst/>
            <a:gdLst/>
            <a:ahLst/>
            <a:cxnLst/>
            <a:rect r="r" b="b" t="t" l="l"/>
            <a:pathLst>
              <a:path h="2704243" w="2192629">
                <a:moveTo>
                  <a:pt x="0" y="0"/>
                </a:moveTo>
                <a:lnTo>
                  <a:pt x="2192630" y="0"/>
                </a:lnTo>
                <a:lnTo>
                  <a:pt x="2192630" y="2704243"/>
                </a:lnTo>
                <a:lnTo>
                  <a:pt x="0" y="2704243"/>
                </a:lnTo>
                <a:lnTo>
                  <a:pt x="0" y="0"/>
                </a:lnTo>
                <a:close/>
              </a:path>
            </a:pathLst>
          </a:custGeom>
          <a:blipFill>
            <a:blip r:embed="rId1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48"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alphaModFix amt="27000"/>
              </a:blip>
              <a:stretch>
                <a:fillRect l="0" t="0" r="0" b="0"/>
              </a:stretch>
            </a:blipFill>
          </p:spPr>
        </p:sp>
      </p:grpSp>
      <p:grpSp>
        <p:nvGrpSpPr>
          <p:cNvPr name="Group 4" id="4"/>
          <p:cNvGrpSpPr/>
          <p:nvPr/>
        </p:nvGrpSpPr>
        <p:grpSpPr>
          <a:xfrm rot="0">
            <a:off x="0" y="9620402"/>
            <a:ext cx="18288000" cy="666598"/>
            <a:chOff x="0" y="0"/>
            <a:chExt cx="24384000" cy="888797"/>
          </a:xfrm>
        </p:grpSpPr>
        <p:sp>
          <p:nvSpPr>
            <p:cNvPr name="Freeform 5" id="5"/>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Freeform 6" id="6"/>
          <p:cNvSpPr/>
          <p:nvPr/>
        </p:nvSpPr>
        <p:spPr>
          <a:xfrm flipH="false" flipV="false" rot="0">
            <a:off x="16392677" y="664150"/>
            <a:ext cx="2557091" cy="1906200"/>
          </a:xfrm>
          <a:custGeom>
            <a:avLst/>
            <a:gdLst/>
            <a:ahLst/>
            <a:cxnLst/>
            <a:rect r="r" b="b" t="t" l="l"/>
            <a:pathLst>
              <a:path h="1906200" w="2557091">
                <a:moveTo>
                  <a:pt x="0" y="0"/>
                </a:moveTo>
                <a:lnTo>
                  <a:pt x="2557091" y="0"/>
                </a:lnTo>
                <a:lnTo>
                  <a:pt x="2557091" y="1906200"/>
                </a:lnTo>
                <a:lnTo>
                  <a:pt x="0" y="1906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7" id="7"/>
          <p:cNvGraphicFramePr>
            <a:graphicFrameLocks noGrp="true"/>
          </p:cNvGraphicFramePr>
          <p:nvPr/>
        </p:nvGraphicFramePr>
        <p:xfrm>
          <a:off x="1795380" y="3503074"/>
          <a:ext cx="14757400" cy="4713230"/>
        </p:xfrm>
        <a:graphic>
          <a:graphicData uri="http://schemas.openxmlformats.org/drawingml/2006/table">
            <a:tbl>
              <a:tblPr/>
              <a:tblGrid>
                <a:gridCol w="3211292"/>
                <a:gridCol w="9481820"/>
                <a:gridCol w="2064288"/>
              </a:tblGrid>
              <a:tr h="757507">
                <a:tc>
                  <a:txBody>
                    <a:bodyPr anchor="t" rtlCol="false"/>
                    <a:lstStyle/>
                    <a:p>
                      <a:pPr algn="ctr">
                        <a:lnSpc>
                          <a:spcPts val="3600"/>
                        </a:lnSpc>
                        <a:defRPr/>
                      </a:pPr>
                      <a:r>
                        <a:rPr lang="en-US" sz="3000">
                          <a:solidFill>
                            <a:srgbClr val="3F3F3F"/>
                          </a:solidFill>
                          <a:latin typeface="Germania One"/>
                          <a:ea typeface="Germania One"/>
                          <a:cs typeface="Germania One"/>
                          <a:sym typeface="Germania One"/>
                        </a:rPr>
                        <a:t>Criterio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solidFill>
                      <a:srgbClr val="C3C3C3"/>
                    </a:solidFill>
                  </a:tcPr>
                </a:tc>
                <a:tc>
                  <a:txBody>
                    <a:bodyPr anchor="t" rtlCol="false"/>
                    <a:lstStyle/>
                    <a:p>
                      <a:pPr algn="ctr">
                        <a:lnSpc>
                          <a:spcPts val="3359"/>
                        </a:lnSpc>
                        <a:defRPr/>
                      </a:pPr>
                      <a:r>
                        <a:rPr lang="en-US" sz="2799">
                          <a:solidFill>
                            <a:srgbClr val="3F3F3F"/>
                          </a:solidFill>
                          <a:latin typeface="Germania One"/>
                          <a:ea typeface="Germania One"/>
                          <a:cs typeface="Germania One"/>
                          <a:sym typeface="Germania One"/>
                        </a:rPr>
                        <a:t>Descripción</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solidFill>
                      <a:srgbClr val="C3C3C3"/>
                    </a:solidFill>
                  </a:tcPr>
                </a:tc>
                <a:tc>
                  <a:txBody>
                    <a:bodyPr anchor="t" rtlCol="false"/>
                    <a:lstStyle/>
                    <a:p>
                      <a:pPr algn="ctr">
                        <a:lnSpc>
                          <a:spcPts val="3359"/>
                        </a:lnSpc>
                        <a:defRPr/>
                      </a:pPr>
                      <a:r>
                        <a:rPr lang="en-US" sz="2799">
                          <a:solidFill>
                            <a:srgbClr val="3F3F3F"/>
                          </a:solidFill>
                          <a:latin typeface="Germania One"/>
                          <a:ea typeface="Germania One"/>
                          <a:cs typeface="Germania One"/>
                          <a:sym typeface="Germania One"/>
                        </a:rPr>
                        <a:t>Puntaje</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solidFill>
                      <a:srgbClr val="C3C3C3"/>
                    </a:solidFill>
                  </a:tcPr>
                </a:tc>
              </a:tr>
              <a:tr h="841602">
                <a:tc>
                  <a:txBody>
                    <a:bodyPr anchor="t" rtlCol="false"/>
                    <a:lstStyle/>
                    <a:p>
                      <a:pPr algn="l">
                        <a:lnSpc>
                          <a:spcPts val="2879"/>
                        </a:lnSpc>
                        <a:defRPr/>
                      </a:pPr>
                      <a:r>
                        <a:rPr lang="en-US" sz="2400">
                          <a:solidFill>
                            <a:srgbClr val="3F3F3F"/>
                          </a:solidFill>
                          <a:latin typeface="Germania One"/>
                          <a:ea typeface="Germania One"/>
                          <a:cs typeface="Germania One"/>
                          <a:sym typeface="Germania One"/>
                        </a:rPr>
                        <a:t>Diagrama esquemático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l">
                        <a:lnSpc>
                          <a:spcPts val="2160"/>
                        </a:lnSpc>
                        <a:defRPr/>
                      </a:pPr>
                      <a:r>
                        <a:rPr lang="en-US" sz="1800">
                          <a:solidFill>
                            <a:srgbClr val="3F3F3F"/>
                          </a:solidFill>
                          <a:latin typeface="Arimo"/>
                          <a:ea typeface="Arimo"/>
                          <a:cs typeface="Arimo"/>
                          <a:sym typeface="Arimo"/>
                        </a:rPr>
                        <a:t>Entregan un diagrama esquemático de la arquitectura del Desafío 1. </a:t>
                      </a:r>
                      <a:r>
                        <a:rPr lang="en-US" b="true" sz="1800">
                          <a:solidFill>
                            <a:srgbClr val="3F3F3F"/>
                          </a:solidFill>
                          <a:latin typeface="Arimo Bold"/>
                          <a:ea typeface="Arimo Bold"/>
                          <a:cs typeface="Arimo Bold"/>
                          <a:sym typeface="Arimo Bold"/>
                        </a:rPr>
                        <a:t>Se debe entregar en el reporte.</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ctr">
                        <a:lnSpc>
                          <a:spcPts val="2160"/>
                        </a:lnSpc>
                        <a:defRPr/>
                      </a:pPr>
                      <a:r>
                        <a:rPr lang="en-US" sz="1800">
                          <a:solidFill>
                            <a:srgbClr val="3F3F3F"/>
                          </a:solidFill>
                          <a:latin typeface="Arimo"/>
                          <a:ea typeface="Arimo"/>
                          <a:cs typeface="Arimo"/>
                          <a:sym typeface="Arimo"/>
                        </a:rPr>
                        <a:t>1 pto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r>
              <a:tr h="757507">
                <a:tc>
                  <a:txBody>
                    <a:bodyPr anchor="t" rtlCol="false"/>
                    <a:lstStyle/>
                    <a:p>
                      <a:pPr algn="l">
                        <a:lnSpc>
                          <a:spcPts val="2879"/>
                        </a:lnSpc>
                        <a:defRPr/>
                      </a:pPr>
                      <a:r>
                        <a:rPr lang="en-US" sz="2400">
                          <a:solidFill>
                            <a:srgbClr val="3F3F3F"/>
                          </a:solidFill>
                          <a:latin typeface="Germania One"/>
                          <a:ea typeface="Germania One"/>
                          <a:cs typeface="Germania One"/>
                          <a:sym typeface="Germania One"/>
                        </a:rPr>
                        <a:t>Código comentado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l">
                        <a:lnSpc>
                          <a:spcPts val="2160"/>
                        </a:lnSpc>
                        <a:defRPr/>
                      </a:pPr>
                      <a:r>
                        <a:rPr lang="en-US" sz="1800">
                          <a:solidFill>
                            <a:srgbClr val="3F3F3F"/>
                          </a:solidFill>
                          <a:latin typeface="Arimo"/>
                          <a:ea typeface="Arimo"/>
                          <a:cs typeface="Arimo"/>
                          <a:sym typeface="Arimo"/>
                        </a:rPr>
                        <a:t>Código utilizado y bien comentado en el Desafío 1. </a:t>
                      </a:r>
                      <a:r>
                        <a:rPr lang="en-US" b="true" sz="1800">
                          <a:solidFill>
                            <a:srgbClr val="3F3F3F"/>
                          </a:solidFill>
                          <a:latin typeface="Arimo Bold"/>
                          <a:ea typeface="Arimo Bold"/>
                          <a:cs typeface="Arimo Bold"/>
                          <a:sym typeface="Arimo Bold"/>
                        </a:rPr>
                        <a:t>Adjuntar al reporte para revisión</a:t>
                      </a:r>
                      <a:r>
                        <a:rPr lang="en-US" sz="1800">
                          <a:solidFill>
                            <a:srgbClr val="3F3F3F"/>
                          </a:solidFill>
                          <a:latin typeface="Arimo"/>
                          <a:ea typeface="Arimo"/>
                          <a:cs typeface="Arimo"/>
                          <a:sym typeface="Arimo"/>
                        </a:rPr>
                        <a:t>.</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ctr">
                        <a:lnSpc>
                          <a:spcPts val="2160"/>
                        </a:lnSpc>
                        <a:defRPr/>
                      </a:pPr>
                      <a:r>
                        <a:rPr lang="en-US" sz="1800">
                          <a:solidFill>
                            <a:srgbClr val="3F3F3F"/>
                          </a:solidFill>
                          <a:latin typeface="Arimo"/>
                          <a:ea typeface="Arimo"/>
                          <a:cs typeface="Arimo"/>
                          <a:sym typeface="Arimo"/>
                        </a:rPr>
                        <a:t>1 pto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r>
              <a:tr h="757507">
                <a:tc>
                  <a:txBody>
                    <a:bodyPr anchor="t" rtlCol="false"/>
                    <a:lstStyle/>
                    <a:p>
                      <a:pPr algn="l">
                        <a:lnSpc>
                          <a:spcPts val="2879"/>
                        </a:lnSpc>
                        <a:defRPr/>
                      </a:pPr>
                      <a:r>
                        <a:rPr lang="en-US" sz="2400">
                          <a:solidFill>
                            <a:srgbClr val="3F3F3F"/>
                          </a:solidFill>
                          <a:latin typeface="Germania One"/>
                          <a:ea typeface="Germania One"/>
                          <a:cs typeface="Germania One"/>
                          <a:sym typeface="Germania One"/>
                        </a:rPr>
                        <a:t>Funciones LED's y motores</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l">
                        <a:lnSpc>
                          <a:spcPts val="2160"/>
                        </a:lnSpc>
                        <a:defRPr/>
                      </a:pPr>
                      <a:r>
                        <a:rPr lang="en-US" sz="1800">
                          <a:solidFill>
                            <a:srgbClr val="3F3F3F"/>
                          </a:solidFill>
                          <a:latin typeface="Arimo"/>
                          <a:ea typeface="Arimo"/>
                          <a:cs typeface="Arimo"/>
                          <a:sym typeface="Arimo"/>
                        </a:rPr>
                        <a:t>Implementar funciones esenciales que permiten el accionamiento de los motores y el encendido de las LED's. Las LED’s deben señalizar el movimiento hacia: adelante, atrás, izquierda y derecha. </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ctr">
                        <a:lnSpc>
                          <a:spcPts val="2160"/>
                        </a:lnSpc>
                        <a:defRPr/>
                      </a:pPr>
                      <a:r>
                        <a:rPr lang="en-US" sz="1800">
                          <a:solidFill>
                            <a:srgbClr val="3F3F3F"/>
                          </a:solidFill>
                          <a:latin typeface="Arimo"/>
                          <a:ea typeface="Arimo"/>
                          <a:cs typeface="Arimo"/>
                          <a:sym typeface="Arimo"/>
                        </a:rPr>
                        <a:t>1 pto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r>
              <a:tr h="757507">
                <a:tc>
                  <a:txBody>
                    <a:bodyPr anchor="t" rtlCol="false"/>
                    <a:lstStyle/>
                    <a:p>
                      <a:pPr algn="l">
                        <a:lnSpc>
                          <a:spcPts val="2879"/>
                        </a:lnSpc>
                        <a:defRPr/>
                      </a:pPr>
                      <a:r>
                        <a:rPr lang="en-US" sz="2400">
                          <a:solidFill>
                            <a:srgbClr val="3F3F3F"/>
                          </a:solidFill>
                          <a:latin typeface="Germania One"/>
                          <a:ea typeface="Germania One"/>
                          <a:cs typeface="Germania One"/>
                          <a:sym typeface="Germania One"/>
                        </a:rPr>
                        <a:t>Control remoto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l">
                        <a:lnSpc>
                          <a:spcPts val="2160"/>
                        </a:lnSpc>
                        <a:defRPr/>
                      </a:pPr>
                      <a:r>
                        <a:rPr lang="en-US" sz="1800">
                          <a:solidFill>
                            <a:srgbClr val="3F3F3F"/>
                          </a:solidFill>
                          <a:latin typeface="Arimo"/>
                          <a:ea typeface="Arimo"/>
                          <a:cs typeface="Arimo"/>
                          <a:sym typeface="Arimo"/>
                        </a:rPr>
                        <a:t>Completa satisfactoriamente el circuito establecido mediante control remoto del Ratmovil</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ctr">
                        <a:lnSpc>
                          <a:spcPts val="2160"/>
                        </a:lnSpc>
                        <a:defRPr/>
                      </a:pPr>
                      <a:r>
                        <a:rPr lang="en-US" sz="1800">
                          <a:solidFill>
                            <a:srgbClr val="3F3F3F"/>
                          </a:solidFill>
                          <a:latin typeface="Arimo"/>
                          <a:ea typeface="Arimo"/>
                          <a:cs typeface="Arimo"/>
                          <a:sym typeface="Arimo"/>
                        </a:rPr>
                        <a:t>2 ptos</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r>
              <a:tr h="841602">
                <a:tc>
                  <a:txBody>
                    <a:bodyPr anchor="t" rtlCol="false"/>
                    <a:lstStyle/>
                    <a:p>
                      <a:pPr algn="l">
                        <a:lnSpc>
                          <a:spcPts val="2879"/>
                        </a:lnSpc>
                        <a:defRPr/>
                      </a:pPr>
                      <a:r>
                        <a:rPr lang="en-US" sz="2400">
                          <a:solidFill>
                            <a:srgbClr val="3F3F3F"/>
                          </a:solidFill>
                          <a:latin typeface="Germania One"/>
                          <a:ea typeface="Germania One"/>
                          <a:cs typeface="Germania One"/>
                          <a:sym typeface="Germania One"/>
                        </a:rPr>
                        <a:t>Propuestas de mejora</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l">
                        <a:lnSpc>
                          <a:spcPts val="2160"/>
                        </a:lnSpc>
                        <a:defRPr/>
                      </a:pPr>
                      <a:r>
                        <a:rPr lang="en-US" sz="1800">
                          <a:solidFill>
                            <a:srgbClr val="3F3F3F"/>
                          </a:solidFill>
                          <a:latin typeface="Arimo"/>
                          <a:ea typeface="Arimo"/>
                          <a:cs typeface="Arimo"/>
                          <a:sym typeface="Arimo"/>
                        </a:rPr>
                        <a:t>Mejoras u observaciones del desafío 1 en relación a su dificultad, metodología ó aprendizajes. </a:t>
                      </a:r>
                      <a:r>
                        <a:rPr lang="en-US" b="true" sz="1800">
                          <a:solidFill>
                            <a:srgbClr val="3F3F3F"/>
                          </a:solidFill>
                          <a:latin typeface="Arimo Bold"/>
                          <a:ea typeface="Arimo Bold"/>
                          <a:cs typeface="Arimo Bold"/>
                          <a:sym typeface="Arimo Bold"/>
                        </a:rPr>
                        <a:t>Se debe entregar en el reporte.</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c>
                  <a:txBody>
                    <a:bodyPr anchor="t" rtlCol="false"/>
                    <a:lstStyle/>
                    <a:p>
                      <a:pPr algn="ctr">
                        <a:lnSpc>
                          <a:spcPts val="2160"/>
                        </a:lnSpc>
                        <a:defRPr/>
                      </a:pPr>
                      <a:r>
                        <a:rPr lang="en-US" sz="1800">
                          <a:solidFill>
                            <a:srgbClr val="3F3F3F"/>
                          </a:solidFill>
                          <a:latin typeface="Arimo"/>
                          <a:ea typeface="Arimo"/>
                          <a:cs typeface="Arimo"/>
                          <a:sym typeface="Arimo"/>
                        </a:rPr>
                        <a:t>1 pto</a:t>
                      </a:r>
                      <a:endParaRPr lang="en-US" sz="1100"/>
                    </a:p>
                  </a:txBody>
                  <a:tcPr marL="91425" marR="91425" marT="91425" marB="91425" anchor="ctr">
                    <a:lnL cmpd="sng" algn="ctr" cap="flat" w="19050">
                      <a:solidFill>
                        <a:srgbClr val="3F3F3F"/>
                      </a:solidFill>
                      <a:prstDash val="solid"/>
                      <a:round/>
                      <a:headEnd type="none" w="med" len="med"/>
                      <a:tailEnd type="none" w="med" len="med"/>
                    </a:lnL>
                    <a:lnR cmpd="sng" algn="ctr" cap="flat" w="19050">
                      <a:solidFill>
                        <a:srgbClr val="3F3F3F"/>
                      </a:solidFill>
                      <a:prstDash val="solid"/>
                      <a:round/>
                      <a:headEnd type="none" w="med" len="med"/>
                      <a:tailEnd type="none" w="med" len="med"/>
                    </a:lnR>
                    <a:lnT cmpd="sng" algn="ctr" cap="flat" w="19050">
                      <a:solidFill>
                        <a:srgbClr val="3F3F3F"/>
                      </a:solidFill>
                      <a:prstDash val="solid"/>
                      <a:round/>
                      <a:headEnd type="none" w="med" len="med"/>
                      <a:tailEnd type="none" w="med" len="med"/>
                    </a:lnT>
                    <a:lnB cmpd="sng" algn="ctr" cap="flat" w="19050">
                      <a:solidFill>
                        <a:srgbClr val="3F3F3F"/>
                      </a:solidFill>
                      <a:prstDash val="solid"/>
                      <a:round/>
                      <a:headEnd type="none" w="med" len="med"/>
                      <a:tailEnd type="none" w="med" len="med"/>
                    </a:lnB>
                  </a:tcPr>
                </a:tc>
              </a:tr>
            </a:tbl>
          </a:graphicData>
        </a:graphic>
      </p:graphicFrame>
      <p:sp>
        <p:nvSpPr>
          <p:cNvPr name="Freeform 8" id="8"/>
          <p:cNvSpPr/>
          <p:nvPr/>
        </p:nvSpPr>
        <p:spPr>
          <a:xfrm flipH="false" flipV="false" rot="0">
            <a:off x="14416763" y="7224735"/>
            <a:ext cx="5444026" cy="3062265"/>
          </a:xfrm>
          <a:custGeom>
            <a:avLst/>
            <a:gdLst/>
            <a:ahLst/>
            <a:cxnLst/>
            <a:rect r="r" b="b" t="t" l="l"/>
            <a:pathLst>
              <a:path h="3062265" w="5444026">
                <a:moveTo>
                  <a:pt x="0" y="0"/>
                </a:moveTo>
                <a:lnTo>
                  <a:pt x="5444026" y="0"/>
                </a:lnTo>
                <a:lnTo>
                  <a:pt x="5444026" y="3062265"/>
                </a:lnTo>
                <a:lnTo>
                  <a:pt x="0" y="3062265"/>
                </a:lnTo>
                <a:lnTo>
                  <a:pt x="0" y="0"/>
                </a:lnTo>
                <a:close/>
              </a:path>
            </a:pathLst>
          </a:custGeom>
          <a:blipFill>
            <a:blip r:embed="rId6"/>
            <a:stretch>
              <a:fillRect l="0" t="0" r="0" b="0"/>
            </a:stretch>
          </a:blipFill>
        </p:spPr>
      </p:sp>
      <p:sp>
        <p:nvSpPr>
          <p:cNvPr name="TextBox 9" id="9"/>
          <p:cNvSpPr txBox="true"/>
          <p:nvPr/>
        </p:nvSpPr>
        <p:spPr>
          <a:xfrm rot="0">
            <a:off x="5305079" y="566252"/>
            <a:ext cx="6842443" cy="1276350"/>
          </a:xfrm>
          <a:prstGeom prst="rect">
            <a:avLst/>
          </a:prstGeom>
        </p:spPr>
        <p:txBody>
          <a:bodyPr anchor="t" rtlCol="false" tIns="0" lIns="0" bIns="0" rIns="0">
            <a:spAutoFit/>
          </a:bodyPr>
          <a:lstStyle/>
          <a:p>
            <a:pPr algn="ctr">
              <a:lnSpc>
                <a:spcPts val="10080"/>
              </a:lnSpc>
            </a:pPr>
            <a:r>
              <a:rPr lang="en-US" sz="8400">
                <a:solidFill>
                  <a:srgbClr val="3F3F3F"/>
                </a:solidFill>
                <a:latin typeface="Germania One"/>
                <a:ea typeface="Germania One"/>
                <a:cs typeface="Germania One"/>
                <a:sym typeface="Germania One"/>
              </a:rPr>
              <a:t>Desafío: </a:t>
            </a:r>
            <a:r>
              <a:rPr lang="en-US" sz="8400">
                <a:solidFill>
                  <a:srgbClr val="C00000"/>
                </a:solidFill>
                <a:latin typeface="Germania One"/>
                <a:ea typeface="Germania One"/>
                <a:cs typeface="Germania One"/>
                <a:sym typeface="Germania One"/>
              </a:rPr>
              <a:t>Rúbrica</a:t>
            </a:r>
          </a:p>
        </p:txBody>
      </p:sp>
      <p:sp>
        <p:nvSpPr>
          <p:cNvPr name="TextBox 10" id="10"/>
          <p:cNvSpPr txBox="true"/>
          <p:nvPr/>
        </p:nvSpPr>
        <p:spPr>
          <a:xfrm rot="0">
            <a:off x="1898942" y="1903105"/>
            <a:ext cx="14453416" cy="1404938"/>
          </a:xfrm>
          <a:prstGeom prst="rect">
            <a:avLst/>
          </a:prstGeom>
        </p:spPr>
        <p:txBody>
          <a:bodyPr anchor="t" rtlCol="false" tIns="0" lIns="0" bIns="0" rIns="0">
            <a:spAutoFit/>
          </a:bodyPr>
          <a:lstStyle/>
          <a:p>
            <a:pPr algn="ctr">
              <a:lnSpc>
                <a:spcPts val="3359"/>
              </a:lnSpc>
            </a:pPr>
            <a:r>
              <a:rPr lang="en-US" sz="2799">
                <a:solidFill>
                  <a:srgbClr val="000000"/>
                </a:solidFill>
                <a:latin typeface="Arimo"/>
                <a:ea typeface="Arimo"/>
                <a:cs typeface="Arimo"/>
                <a:sym typeface="Arimo"/>
              </a:rPr>
              <a:t>A cada participante se le entregará un ratmóvil con su respectivo piloto. Durante el desafío, deberán asegurarse de que su vehículo cumpla con todos los requisitos establecidos en las bases de la carrera.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27000"/>
              </a:blip>
              <a:stretch>
                <a:fillRect l="0" t="0" r="0" b="0"/>
              </a:stretch>
            </a:blipFill>
          </p:spPr>
        </p:sp>
      </p:grpSp>
      <p:grpSp>
        <p:nvGrpSpPr>
          <p:cNvPr name="Group 4" id="4"/>
          <p:cNvGrpSpPr/>
          <p:nvPr/>
        </p:nvGrpSpPr>
        <p:grpSpPr>
          <a:xfrm rot="0">
            <a:off x="0" y="9620402"/>
            <a:ext cx="18288000" cy="666598"/>
            <a:chOff x="0" y="0"/>
            <a:chExt cx="24384000" cy="888797"/>
          </a:xfrm>
        </p:grpSpPr>
        <p:sp>
          <p:nvSpPr>
            <p:cNvPr name="Freeform 5" id="5"/>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TextBox 6" id="6"/>
          <p:cNvSpPr txBox="true"/>
          <p:nvPr/>
        </p:nvSpPr>
        <p:spPr>
          <a:xfrm rot="0">
            <a:off x="3665119" y="869833"/>
            <a:ext cx="9676954" cy="1276350"/>
          </a:xfrm>
          <a:prstGeom prst="rect">
            <a:avLst/>
          </a:prstGeom>
        </p:spPr>
        <p:txBody>
          <a:bodyPr anchor="t" rtlCol="false" tIns="0" lIns="0" bIns="0" rIns="0">
            <a:spAutoFit/>
          </a:bodyPr>
          <a:lstStyle/>
          <a:p>
            <a:pPr algn="ctr">
              <a:lnSpc>
                <a:spcPts val="10080"/>
              </a:lnSpc>
            </a:pPr>
            <a:r>
              <a:rPr lang="en-US" sz="8400">
                <a:solidFill>
                  <a:srgbClr val="3F3F3F"/>
                </a:solidFill>
                <a:latin typeface="Germania One"/>
                <a:ea typeface="Germania One"/>
                <a:cs typeface="Germania One"/>
                <a:sym typeface="Germania One"/>
              </a:rPr>
              <a:t>Primeros pasos Desafío</a:t>
            </a:r>
          </a:p>
        </p:txBody>
      </p:sp>
      <p:grpSp>
        <p:nvGrpSpPr>
          <p:cNvPr name="Group 7" id="7"/>
          <p:cNvGrpSpPr/>
          <p:nvPr/>
        </p:nvGrpSpPr>
        <p:grpSpPr>
          <a:xfrm rot="0">
            <a:off x="1028700" y="2146183"/>
            <a:ext cx="16230600" cy="1197000"/>
            <a:chOff x="0" y="0"/>
            <a:chExt cx="21640800" cy="1596000"/>
          </a:xfrm>
        </p:grpSpPr>
        <p:sp>
          <p:nvSpPr>
            <p:cNvPr name="Freeform 8" id="8"/>
            <p:cNvSpPr/>
            <p:nvPr/>
          </p:nvSpPr>
          <p:spPr>
            <a:xfrm flipH="false" flipV="false" rot="0">
              <a:off x="0" y="0"/>
              <a:ext cx="21640797" cy="1596004"/>
            </a:xfrm>
            <a:custGeom>
              <a:avLst/>
              <a:gdLst/>
              <a:ahLst/>
              <a:cxnLst/>
              <a:rect r="r" b="b" t="t" l="l"/>
              <a:pathLst>
                <a:path h="1596004" w="21640797">
                  <a:moveTo>
                    <a:pt x="0" y="0"/>
                  </a:moveTo>
                  <a:lnTo>
                    <a:pt x="21640797" y="0"/>
                  </a:lnTo>
                  <a:lnTo>
                    <a:pt x="21640797" y="1596004"/>
                  </a:lnTo>
                  <a:lnTo>
                    <a:pt x="0" y="1596004"/>
                  </a:lnTo>
                  <a:close/>
                </a:path>
              </a:pathLst>
            </a:custGeom>
            <a:blipFill>
              <a:blip r:embed="rId3">
                <a:alphaModFix amt="0"/>
              </a:blip>
              <a:stretch>
                <a:fillRect l="0" t="-101537" r="42643" b="-101537"/>
              </a:stretch>
            </a:blipFill>
          </p:spPr>
        </p:sp>
        <p:sp>
          <p:nvSpPr>
            <p:cNvPr name="TextBox 9" id="9"/>
            <p:cNvSpPr txBox="true"/>
            <p:nvPr/>
          </p:nvSpPr>
          <p:spPr>
            <a:xfrm>
              <a:off x="0" y="-9525"/>
              <a:ext cx="21640800" cy="1605525"/>
            </a:xfrm>
            <a:prstGeom prst="rect">
              <a:avLst/>
            </a:prstGeom>
          </p:spPr>
          <p:txBody>
            <a:bodyPr anchor="ctr" rtlCol="false" tIns="0" lIns="0" bIns="0" rIns="0"/>
            <a:lstStyle/>
            <a:p>
              <a:pPr algn="l">
                <a:lnSpc>
                  <a:spcPts val="7439"/>
                </a:lnSpc>
              </a:pPr>
              <a:r>
                <a:rPr lang="en-US" sz="6199">
                  <a:solidFill>
                    <a:srgbClr val="BB3A1E"/>
                  </a:solidFill>
                  <a:latin typeface="Germania One"/>
                  <a:ea typeface="Germania One"/>
                  <a:cs typeface="Germania One"/>
                  <a:sym typeface="Germania One"/>
                </a:rPr>
                <a:t>Descargar código template para el Desafío 1</a:t>
              </a:r>
            </a:p>
          </p:txBody>
        </p:sp>
      </p:grpSp>
      <p:sp>
        <p:nvSpPr>
          <p:cNvPr name="TextBox 10" id="10"/>
          <p:cNvSpPr txBox="true"/>
          <p:nvPr/>
        </p:nvSpPr>
        <p:spPr>
          <a:xfrm rot="0">
            <a:off x="1028700" y="3324133"/>
            <a:ext cx="14453416" cy="1695450"/>
          </a:xfrm>
          <a:prstGeom prst="rect">
            <a:avLst/>
          </a:prstGeom>
        </p:spPr>
        <p:txBody>
          <a:bodyPr anchor="t" rtlCol="false" tIns="0" lIns="0" bIns="0" rIns="0">
            <a:spAutoFit/>
          </a:bodyPr>
          <a:lstStyle/>
          <a:p>
            <a:pPr algn="l">
              <a:lnSpc>
                <a:spcPts val="3359"/>
              </a:lnSpc>
            </a:pPr>
            <a:r>
              <a:rPr lang="en-US" sz="2799" b="true">
                <a:solidFill>
                  <a:srgbClr val="000000"/>
                </a:solidFill>
                <a:latin typeface="Arimo Bold"/>
                <a:ea typeface="Arimo Bold"/>
                <a:cs typeface="Arimo Bold"/>
                <a:sym typeface="Arimo Bold"/>
              </a:rPr>
              <a:t>Desde Material Docente, deben descargar el código: “Desafio_1_Alumno”.</a:t>
            </a:r>
          </a:p>
          <a:p>
            <a:pPr algn="l">
              <a:lnSpc>
                <a:spcPts val="3359"/>
              </a:lnSpc>
            </a:pPr>
          </a:p>
          <a:p>
            <a:pPr algn="l">
              <a:lnSpc>
                <a:spcPts val="3359"/>
              </a:lnSpc>
            </a:pPr>
            <a:r>
              <a:rPr lang="en-US" sz="2799">
                <a:solidFill>
                  <a:srgbClr val="000000"/>
                </a:solidFill>
                <a:latin typeface="Arimo"/>
                <a:ea typeface="Arimo"/>
                <a:cs typeface="Arimo"/>
                <a:sym typeface="Arimo"/>
              </a:rPr>
              <a:t>Ese código deberán copiarlo y pegarlo para reemplazar el que existe en src/main.cpp de su proyecto en PlatformIO.</a:t>
            </a:r>
          </a:p>
        </p:txBody>
      </p:sp>
      <p:grpSp>
        <p:nvGrpSpPr>
          <p:cNvPr name="Group 11" id="11"/>
          <p:cNvGrpSpPr/>
          <p:nvPr/>
        </p:nvGrpSpPr>
        <p:grpSpPr>
          <a:xfrm rot="0">
            <a:off x="1028700" y="5143500"/>
            <a:ext cx="16230600" cy="1197000"/>
            <a:chOff x="0" y="0"/>
            <a:chExt cx="21640800" cy="1596000"/>
          </a:xfrm>
        </p:grpSpPr>
        <p:sp>
          <p:nvSpPr>
            <p:cNvPr name="Freeform 12" id="12"/>
            <p:cNvSpPr/>
            <p:nvPr/>
          </p:nvSpPr>
          <p:spPr>
            <a:xfrm flipH="false" flipV="false" rot="0">
              <a:off x="0" y="0"/>
              <a:ext cx="21640797" cy="1596004"/>
            </a:xfrm>
            <a:custGeom>
              <a:avLst/>
              <a:gdLst/>
              <a:ahLst/>
              <a:cxnLst/>
              <a:rect r="r" b="b" t="t" l="l"/>
              <a:pathLst>
                <a:path h="1596004" w="21640797">
                  <a:moveTo>
                    <a:pt x="0" y="0"/>
                  </a:moveTo>
                  <a:lnTo>
                    <a:pt x="21640797" y="0"/>
                  </a:lnTo>
                  <a:lnTo>
                    <a:pt x="21640797" y="1596004"/>
                  </a:lnTo>
                  <a:lnTo>
                    <a:pt x="0" y="1596004"/>
                  </a:lnTo>
                  <a:close/>
                </a:path>
              </a:pathLst>
            </a:custGeom>
            <a:blipFill>
              <a:blip r:embed="rId3">
                <a:alphaModFix amt="0"/>
              </a:blip>
              <a:stretch>
                <a:fillRect l="0" t="-101537" r="42643" b="-101537"/>
              </a:stretch>
            </a:blipFill>
          </p:spPr>
        </p:sp>
        <p:sp>
          <p:nvSpPr>
            <p:cNvPr name="TextBox 13" id="13"/>
            <p:cNvSpPr txBox="true"/>
            <p:nvPr/>
          </p:nvSpPr>
          <p:spPr>
            <a:xfrm>
              <a:off x="0" y="-9525"/>
              <a:ext cx="21640800" cy="1605525"/>
            </a:xfrm>
            <a:prstGeom prst="rect">
              <a:avLst/>
            </a:prstGeom>
          </p:spPr>
          <p:txBody>
            <a:bodyPr anchor="ctr" rtlCol="false" tIns="0" lIns="0" bIns="0" rIns="0"/>
            <a:lstStyle/>
            <a:p>
              <a:pPr algn="l">
                <a:lnSpc>
                  <a:spcPts val="7439"/>
                </a:lnSpc>
              </a:pPr>
              <a:r>
                <a:rPr lang="en-US" sz="6199">
                  <a:solidFill>
                    <a:srgbClr val="BB3A1E"/>
                  </a:solidFill>
                  <a:latin typeface="Germania One"/>
                  <a:ea typeface="Germania One"/>
                  <a:cs typeface="Germania One"/>
                  <a:sym typeface="Germania One"/>
                </a:rPr>
                <a:t>En caso de que no puedan subir el código</a:t>
              </a:r>
            </a:p>
          </p:txBody>
        </p:sp>
      </p:grpSp>
      <p:sp>
        <p:nvSpPr>
          <p:cNvPr name="TextBox 14" id="14"/>
          <p:cNvSpPr txBox="true"/>
          <p:nvPr/>
        </p:nvSpPr>
        <p:spPr>
          <a:xfrm rot="0">
            <a:off x="1028700" y="6321450"/>
            <a:ext cx="14453416" cy="857250"/>
          </a:xfrm>
          <a:prstGeom prst="rect">
            <a:avLst/>
          </a:prstGeom>
        </p:spPr>
        <p:txBody>
          <a:bodyPr anchor="t" rtlCol="false" tIns="0" lIns="0" bIns="0" rIns="0">
            <a:spAutoFit/>
          </a:bodyPr>
          <a:lstStyle/>
          <a:p>
            <a:pPr algn="l">
              <a:lnSpc>
                <a:spcPts val="3359"/>
              </a:lnSpc>
            </a:pPr>
            <a:r>
              <a:rPr lang="en-US" sz="2799">
                <a:solidFill>
                  <a:srgbClr val="000000"/>
                </a:solidFill>
                <a:latin typeface="Arimo"/>
                <a:ea typeface="Arimo"/>
                <a:cs typeface="Arimo"/>
                <a:sym typeface="Arimo"/>
              </a:rPr>
              <a:t>Cuando clickeen “Upload”, y se muestre en la terminal: “Connectting....”. Mantengan presionado el botón </a:t>
            </a:r>
            <a:r>
              <a:rPr lang="en-US" sz="2799" b="true">
                <a:solidFill>
                  <a:srgbClr val="000000"/>
                </a:solidFill>
                <a:latin typeface="Arimo Bold"/>
                <a:ea typeface="Arimo Bold"/>
                <a:cs typeface="Arimo Bold"/>
                <a:sym typeface="Arimo Bold"/>
              </a:rPr>
              <a:t>“BOOT</a:t>
            </a:r>
            <a:r>
              <a:rPr lang="en-US" sz="2799">
                <a:solidFill>
                  <a:srgbClr val="000000"/>
                </a:solidFill>
                <a:latin typeface="Arimo"/>
                <a:ea typeface="Arimo"/>
                <a:cs typeface="Arimo"/>
                <a:sym typeface="Arimo"/>
              </a:rPr>
              <a:t>” de su ESP32 para que permita cargar el código.</a:t>
            </a:r>
          </a:p>
        </p:txBody>
      </p:sp>
      <p:grpSp>
        <p:nvGrpSpPr>
          <p:cNvPr name="Group 15" id="15"/>
          <p:cNvGrpSpPr/>
          <p:nvPr/>
        </p:nvGrpSpPr>
        <p:grpSpPr>
          <a:xfrm rot="0">
            <a:off x="1028700" y="7381951"/>
            <a:ext cx="16230600" cy="1197000"/>
            <a:chOff x="0" y="0"/>
            <a:chExt cx="21640800" cy="1596000"/>
          </a:xfrm>
        </p:grpSpPr>
        <p:sp>
          <p:nvSpPr>
            <p:cNvPr name="Freeform 16" id="16"/>
            <p:cNvSpPr/>
            <p:nvPr/>
          </p:nvSpPr>
          <p:spPr>
            <a:xfrm flipH="false" flipV="false" rot="0">
              <a:off x="0" y="0"/>
              <a:ext cx="21640797" cy="1596004"/>
            </a:xfrm>
            <a:custGeom>
              <a:avLst/>
              <a:gdLst/>
              <a:ahLst/>
              <a:cxnLst/>
              <a:rect r="r" b="b" t="t" l="l"/>
              <a:pathLst>
                <a:path h="1596004" w="21640797">
                  <a:moveTo>
                    <a:pt x="0" y="0"/>
                  </a:moveTo>
                  <a:lnTo>
                    <a:pt x="21640797" y="0"/>
                  </a:lnTo>
                  <a:lnTo>
                    <a:pt x="21640797" y="1596004"/>
                  </a:lnTo>
                  <a:lnTo>
                    <a:pt x="0" y="1596004"/>
                  </a:lnTo>
                  <a:close/>
                </a:path>
              </a:pathLst>
            </a:custGeom>
            <a:blipFill>
              <a:blip r:embed="rId3">
                <a:alphaModFix amt="0"/>
              </a:blip>
              <a:stretch>
                <a:fillRect l="0" t="-101537" r="42643" b="-101537"/>
              </a:stretch>
            </a:blipFill>
          </p:spPr>
        </p:sp>
        <p:sp>
          <p:nvSpPr>
            <p:cNvPr name="TextBox 17" id="17"/>
            <p:cNvSpPr txBox="true"/>
            <p:nvPr/>
          </p:nvSpPr>
          <p:spPr>
            <a:xfrm>
              <a:off x="0" y="-9525"/>
              <a:ext cx="21640800" cy="1605525"/>
            </a:xfrm>
            <a:prstGeom prst="rect">
              <a:avLst/>
            </a:prstGeom>
          </p:spPr>
          <p:txBody>
            <a:bodyPr anchor="ctr" rtlCol="false" tIns="0" lIns="0" bIns="0" rIns="0"/>
            <a:lstStyle/>
            <a:p>
              <a:pPr algn="l">
                <a:lnSpc>
                  <a:spcPts val="7439"/>
                </a:lnSpc>
              </a:pPr>
              <a:r>
                <a:rPr lang="en-US" sz="6199">
                  <a:solidFill>
                    <a:srgbClr val="BB3A1E"/>
                  </a:solidFill>
                  <a:latin typeface="Germania One"/>
                  <a:ea typeface="Germania One"/>
                  <a:cs typeface="Germania One"/>
                  <a:sym typeface="Germania One"/>
                </a:rPr>
                <a:t>Tareas a trabajar</a:t>
              </a:r>
            </a:p>
          </p:txBody>
        </p:sp>
      </p:grpSp>
      <p:sp>
        <p:nvSpPr>
          <p:cNvPr name="TextBox 18" id="18"/>
          <p:cNvSpPr txBox="true"/>
          <p:nvPr/>
        </p:nvSpPr>
        <p:spPr>
          <a:xfrm rot="0">
            <a:off x="1028700" y="8559901"/>
            <a:ext cx="14453416" cy="857250"/>
          </a:xfrm>
          <a:prstGeom prst="rect">
            <a:avLst/>
          </a:prstGeom>
        </p:spPr>
        <p:txBody>
          <a:bodyPr anchor="t" rtlCol="false" tIns="0" lIns="0" bIns="0" rIns="0">
            <a:spAutoFit/>
          </a:bodyPr>
          <a:lstStyle/>
          <a:p>
            <a:pPr algn="l">
              <a:lnSpc>
                <a:spcPts val="3359"/>
              </a:lnSpc>
            </a:pPr>
            <a:r>
              <a:rPr lang="en-US" sz="2799">
                <a:solidFill>
                  <a:srgbClr val="000000"/>
                </a:solidFill>
                <a:latin typeface="Arimo"/>
                <a:ea typeface="Arimo"/>
                <a:cs typeface="Arimo"/>
                <a:sym typeface="Arimo"/>
              </a:rPr>
              <a:t>En el código que les subimos, salen comentadas las tareas a realizar para habilitar el Ratmovil para la carrera en la pista.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27000"/>
              </a:blip>
              <a:stretch>
                <a:fillRect l="0" t="0" r="0" b="0"/>
              </a:stretch>
            </a:blipFill>
          </p:spPr>
        </p:sp>
      </p:grpSp>
      <p:grpSp>
        <p:nvGrpSpPr>
          <p:cNvPr name="Group 4" id="4"/>
          <p:cNvGrpSpPr/>
          <p:nvPr/>
        </p:nvGrpSpPr>
        <p:grpSpPr>
          <a:xfrm rot="0">
            <a:off x="0" y="9620402"/>
            <a:ext cx="18288000" cy="666598"/>
            <a:chOff x="0" y="0"/>
            <a:chExt cx="24384000" cy="888797"/>
          </a:xfrm>
        </p:grpSpPr>
        <p:sp>
          <p:nvSpPr>
            <p:cNvPr name="Freeform 5" id="5"/>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TextBox 6" id="6"/>
          <p:cNvSpPr txBox="true"/>
          <p:nvPr/>
        </p:nvSpPr>
        <p:spPr>
          <a:xfrm rot="0">
            <a:off x="877519" y="869833"/>
            <a:ext cx="15252154" cy="1218752"/>
          </a:xfrm>
          <a:prstGeom prst="rect">
            <a:avLst/>
          </a:prstGeom>
        </p:spPr>
        <p:txBody>
          <a:bodyPr anchor="t" rtlCol="false" tIns="0" lIns="0" bIns="0" rIns="0">
            <a:spAutoFit/>
          </a:bodyPr>
          <a:lstStyle/>
          <a:p>
            <a:pPr algn="ctr">
              <a:lnSpc>
                <a:spcPts val="10080"/>
              </a:lnSpc>
            </a:pPr>
            <a:r>
              <a:rPr lang="en-US" sz="8400">
                <a:solidFill>
                  <a:srgbClr val="BB3A1E"/>
                </a:solidFill>
                <a:latin typeface="Germania One"/>
                <a:ea typeface="Germania One"/>
                <a:cs typeface="Germania One"/>
                <a:sym typeface="Germania One"/>
              </a:rPr>
              <a:t>Precauciones</a:t>
            </a:r>
          </a:p>
        </p:txBody>
      </p:sp>
      <p:grpSp>
        <p:nvGrpSpPr>
          <p:cNvPr name="Group 7" id="7"/>
          <p:cNvGrpSpPr/>
          <p:nvPr/>
        </p:nvGrpSpPr>
        <p:grpSpPr>
          <a:xfrm rot="0">
            <a:off x="279597" y="2866127"/>
            <a:ext cx="11837908" cy="1197000"/>
            <a:chOff x="0" y="0"/>
            <a:chExt cx="15783878" cy="1596000"/>
          </a:xfrm>
        </p:grpSpPr>
        <p:sp>
          <p:nvSpPr>
            <p:cNvPr name="Freeform 8" id="8"/>
            <p:cNvSpPr/>
            <p:nvPr/>
          </p:nvSpPr>
          <p:spPr>
            <a:xfrm flipH="false" flipV="false" rot="0">
              <a:off x="0" y="0"/>
              <a:ext cx="15783872" cy="1596004"/>
            </a:xfrm>
            <a:custGeom>
              <a:avLst/>
              <a:gdLst/>
              <a:ahLst/>
              <a:cxnLst/>
              <a:rect r="r" b="b" t="t" l="l"/>
              <a:pathLst>
                <a:path h="1596004" w="15783872">
                  <a:moveTo>
                    <a:pt x="0" y="0"/>
                  </a:moveTo>
                  <a:lnTo>
                    <a:pt x="15783872" y="0"/>
                  </a:lnTo>
                  <a:lnTo>
                    <a:pt x="15783872" y="1596004"/>
                  </a:lnTo>
                  <a:lnTo>
                    <a:pt x="0" y="1596004"/>
                  </a:lnTo>
                  <a:close/>
                </a:path>
              </a:pathLst>
            </a:custGeom>
            <a:blipFill>
              <a:blip r:embed="rId3">
                <a:alphaModFix amt="0"/>
              </a:blip>
              <a:stretch>
                <a:fillRect l="0" t="-142699" r="0" b="-142699"/>
              </a:stretch>
            </a:blipFill>
          </p:spPr>
        </p:sp>
        <p:sp>
          <p:nvSpPr>
            <p:cNvPr name="TextBox 9" id="9"/>
            <p:cNvSpPr txBox="true"/>
            <p:nvPr/>
          </p:nvSpPr>
          <p:spPr>
            <a:xfrm>
              <a:off x="0" y="-9525"/>
              <a:ext cx="15783878" cy="1605525"/>
            </a:xfrm>
            <a:prstGeom prst="rect">
              <a:avLst/>
            </a:prstGeom>
          </p:spPr>
          <p:txBody>
            <a:bodyPr anchor="ctr" rtlCol="false" tIns="0" lIns="0" bIns="0" rIns="0"/>
            <a:lstStyle/>
            <a:p>
              <a:pPr algn="l">
                <a:lnSpc>
                  <a:spcPts val="7439"/>
                </a:lnSpc>
              </a:pPr>
              <a:r>
                <a:rPr lang="en-US" sz="6199">
                  <a:solidFill>
                    <a:srgbClr val="3F3F3F"/>
                  </a:solidFill>
                  <a:latin typeface="Germania One"/>
                  <a:ea typeface="Germania One"/>
                  <a:cs typeface="Germania One"/>
                  <a:sym typeface="Germania One"/>
                </a:rPr>
                <a:t>Cuidado con las baterías y conexiones</a:t>
              </a:r>
            </a:p>
          </p:txBody>
        </p:sp>
      </p:grpSp>
      <p:grpSp>
        <p:nvGrpSpPr>
          <p:cNvPr name="Group 10" id="10"/>
          <p:cNvGrpSpPr/>
          <p:nvPr/>
        </p:nvGrpSpPr>
        <p:grpSpPr>
          <a:xfrm rot="0">
            <a:off x="12750194" y="3099926"/>
            <a:ext cx="2016700" cy="1926403"/>
            <a:chOff x="0" y="0"/>
            <a:chExt cx="2688933" cy="2568537"/>
          </a:xfrm>
        </p:grpSpPr>
        <p:sp>
          <p:nvSpPr>
            <p:cNvPr name="Freeform 11" id="11"/>
            <p:cNvSpPr/>
            <p:nvPr/>
          </p:nvSpPr>
          <p:spPr>
            <a:xfrm flipH="false" flipV="false" rot="0">
              <a:off x="0" y="0"/>
              <a:ext cx="2688971" cy="2568575"/>
            </a:xfrm>
            <a:custGeom>
              <a:avLst/>
              <a:gdLst/>
              <a:ahLst/>
              <a:cxnLst/>
              <a:rect r="r" b="b" t="t" l="l"/>
              <a:pathLst>
                <a:path h="2568575" w="2688971">
                  <a:moveTo>
                    <a:pt x="0" y="0"/>
                  </a:moveTo>
                  <a:lnTo>
                    <a:pt x="2688971" y="0"/>
                  </a:lnTo>
                  <a:lnTo>
                    <a:pt x="2688971" y="2568575"/>
                  </a:lnTo>
                  <a:lnTo>
                    <a:pt x="0" y="2568575"/>
                  </a:lnTo>
                  <a:lnTo>
                    <a:pt x="0" y="0"/>
                  </a:lnTo>
                  <a:close/>
                </a:path>
              </a:pathLst>
            </a:custGeom>
            <a:blipFill>
              <a:blip r:embed="rId4"/>
              <a:stretch>
                <a:fillRect l="-94404" t="-153123" r="-107834" b="-168750"/>
              </a:stretch>
            </a:blipFill>
          </p:spPr>
        </p:sp>
      </p:grpSp>
      <p:grpSp>
        <p:nvGrpSpPr>
          <p:cNvPr name="Group 12" id="12"/>
          <p:cNvGrpSpPr/>
          <p:nvPr/>
        </p:nvGrpSpPr>
        <p:grpSpPr>
          <a:xfrm rot="0">
            <a:off x="279597" y="5238150"/>
            <a:ext cx="16448008" cy="1197000"/>
            <a:chOff x="0" y="0"/>
            <a:chExt cx="21930678" cy="1596000"/>
          </a:xfrm>
        </p:grpSpPr>
        <p:sp>
          <p:nvSpPr>
            <p:cNvPr name="Freeform 13" id="13"/>
            <p:cNvSpPr/>
            <p:nvPr/>
          </p:nvSpPr>
          <p:spPr>
            <a:xfrm flipH="false" flipV="false" rot="0">
              <a:off x="0" y="0"/>
              <a:ext cx="21930672" cy="1596004"/>
            </a:xfrm>
            <a:custGeom>
              <a:avLst/>
              <a:gdLst/>
              <a:ahLst/>
              <a:cxnLst/>
              <a:rect r="r" b="b" t="t" l="l"/>
              <a:pathLst>
                <a:path h="1596004" w="21930672">
                  <a:moveTo>
                    <a:pt x="0" y="0"/>
                  </a:moveTo>
                  <a:lnTo>
                    <a:pt x="21930672" y="0"/>
                  </a:lnTo>
                  <a:lnTo>
                    <a:pt x="21930672" y="1596004"/>
                  </a:lnTo>
                  <a:lnTo>
                    <a:pt x="0" y="1596004"/>
                  </a:lnTo>
                  <a:close/>
                </a:path>
              </a:pathLst>
            </a:custGeom>
            <a:blipFill>
              <a:blip r:embed="rId3">
                <a:alphaModFix amt="0"/>
              </a:blip>
              <a:stretch>
                <a:fillRect l="0" t="-217744" r="0" b="-217743"/>
              </a:stretch>
            </a:blipFill>
          </p:spPr>
        </p:sp>
        <p:sp>
          <p:nvSpPr>
            <p:cNvPr name="TextBox 14" id="14"/>
            <p:cNvSpPr txBox="true"/>
            <p:nvPr/>
          </p:nvSpPr>
          <p:spPr>
            <a:xfrm>
              <a:off x="0" y="-9525"/>
              <a:ext cx="21930678" cy="1605525"/>
            </a:xfrm>
            <a:prstGeom prst="rect">
              <a:avLst/>
            </a:prstGeom>
          </p:spPr>
          <p:txBody>
            <a:bodyPr anchor="ctr" rtlCol="false" tIns="0" lIns="0" bIns="0" rIns="0"/>
            <a:lstStyle/>
            <a:p>
              <a:pPr algn="l">
                <a:lnSpc>
                  <a:spcPts val="7439"/>
                </a:lnSpc>
              </a:pPr>
              <a:r>
                <a:rPr lang="en-US" sz="6199">
                  <a:solidFill>
                    <a:srgbClr val="3F3F3F"/>
                  </a:solidFill>
                  <a:latin typeface="Germania One"/>
                  <a:ea typeface="Germania One"/>
                  <a:cs typeface="Germania One"/>
                  <a:sym typeface="Germania One"/>
                </a:rPr>
                <a:t>NO </a:t>
              </a:r>
              <a:r>
                <a:rPr lang="en-US" sz="6199">
                  <a:solidFill>
                    <a:srgbClr val="3F3F3F"/>
                  </a:solidFill>
                  <a:latin typeface="Germania One"/>
                  <a:ea typeface="Germania One"/>
                  <a:cs typeface="Germania One"/>
                  <a:sym typeface="Germania One"/>
                </a:rPr>
                <a:t>conectar el computador con las baterías puestas</a:t>
              </a:r>
            </a:p>
          </p:txBody>
        </p:sp>
      </p:grpSp>
      <p:sp>
        <p:nvSpPr>
          <p:cNvPr name="TextBox 15" id="15"/>
          <p:cNvSpPr txBox="true"/>
          <p:nvPr/>
        </p:nvSpPr>
        <p:spPr>
          <a:xfrm rot="0">
            <a:off x="313477" y="4044077"/>
            <a:ext cx="14453416" cy="438150"/>
          </a:xfrm>
          <a:prstGeom prst="rect">
            <a:avLst/>
          </a:prstGeom>
        </p:spPr>
        <p:txBody>
          <a:bodyPr anchor="t" rtlCol="false" tIns="0" lIns="0" bIns="0" rIns="0">
            <a:spAutoFit/>
          </a:bodyPr>
          <a:lstStyle/>
          <a:p>
            <a:pPr algn="l">
              <a:lnSpc>
                <a:spcPts val="3359"/>
              </a:lnSpc>
            </a:pPr>
            <a:r>
              <a:rPr lang="en-US" sz="2799">
                <a:solidFill>
                  <a:srgbClr val="000000"/>
                </a:solidFill>
                <a:latin typeface="Arimo"/>
                <a:ea typeface="Arimo"/>
                <a:cs typeface="Arimo"/>
                <a:sym typeface="Arimo"/>
              </a:rPr>
              <a:t>De no hacerlo se puede quemar un componente :c</a:t>
            </a:r>
          </a:p>
        </p:txBody>
      </p:sp>
      <p:sp>
        <p:nvSpPr>
          <p:cNvPr name="TextBox 16" id="16"/>
          <p:cNvSpPr txBox="true"/>
          <p:nvPr/>
        </p:nvSpPr>
        <p:spPr>
          <a:xfrm rot="0">
            <a:off x="313477" y="6416100"/>
            <a:ext cx="5748118" cy="438150"/>
          </a:xfrm>
          <a:prstGeom prst="rect">
            <a:avLst/>
          </a:prstGeom>
        </p:spPr>
        <p:txBody>
          <a:bodyPr anchor="t" rtlCol="false" tIns="0" lIns="0" bIns="0" rIns="0">
            <a:spAutoFit/>
          </a:bodyPr>
          <a:lstStyle/>
          <a:p>
            <a:pPr algn="l">
              <a:lnSpc>
                <a:spcPts val="3359"/>
              </a:lnSpc>
            </a:pPr>
            <a:r>
              <a:rPr lang="en-US" sz="2799">
                <a:solidFill>
                  <a:srgbClr val="000000"/>
                </a:solidFill>
                <a:latin typeface="Arimo"/>
                <a:ea typeface="Arimo"/>
                <a:cs typeface="Arimo"/>
                <a:sym typeface="Arimo"/>
              </a:rPr>
              <a:t>Pueden arruinar su computador</a:t>
            </a:r>
          </a:p>
        </p:txBody>
      </p:sp>
      <p:grpSp>
        <p:nvGrpSpPr>
          <p:cNvPr name="Group 17" id="17"/>
          <p:cNvGrpSpPr/>
          <p:nvPr/>
        </p:nvGrpSpPr>
        <p:grpSpPr>
          <a:xfrm rot="0">
            <a:off x="3357048" y="593760"/>
            <a:ext cx="1770898" cy="1770898"/>
            <a:chOff x="0" y="0"/>
            <a:chExt cx="2361197" cy="2361197"/>
          </a:xfrm>
        </p:grpSpPr>
        <p:sp>
          <p:nvSpPr>
            <p:cNvPr name="Freeform 18" id="18" descr="⚠️ Advertencia Emoji: Significado y Uso"/>
            <p:cNvSpPr/>
            <p:nvPr/>
          </p:nvSpPr>
          <p:spPr>
            <a:xfrm flipH="false" flipV="false" rot="0">
              <a:off x="0" y="0"/>
              <a:ext cx="2361184" cy="2361184"/>
            </a:xfrm>
            <a:custGeom>
              <a:avLst/>
              <a:gdLst/>
              <a:ahLst/>
              <a:cxnLst/>
              <a:rect r="r" b="b" t="t" l="l"/>
              <a:pathLst>
                <a:path h="2361184" w="2361184">
                  <a:moveTo>
                    <a:pt x="0" y="0"/>
                  </a:moveTo>
                  <a:lnTo>
                    <a:pt x="2361184" y="0"/>
                  </a:lnTo>
                  <a:lnTo>
                    <a:pt x="2361184" y="2361184"/>
                  </a:lnTo>
                  <a:lnTo>
                    <a:pt x="0" y="2361184"/>
                  </a:lnTo>
                  <a:lnTo>
                    <a:pt x="0" y="0"/>
                  </a:lnTo>
                  <a:close/>
                </a:path>
              </a:pathLst>
            </a:custGeom>
            <a:blipFill>
              <a:blip r:embed="rId5"/>
              <a:stretch>
                <a:fillRect l="0" t="0" r="0" b="0"/>
              </a:stretch>
            </a:blipFill>
          </p:spPr>
        </p:sp>
      </p:grpSp>
      <p:grpSp>
        <p:nvGrpSpPr>
          <p:cNvPr name="Group 19" id="19"/>
          <p:cNvGrpSpPr/>
          <p:nvPr/>
        </p:nvGrpSpPr>
        <p:grpSpPr>
          <a:xfrm rot="0">
            <a:off x="11837908" y="593760"/>
            <a:ext cx="1770898" cy="1770898"/>
            <a:chOff x="0" y="0"/>
            <a:chExt cx="2361197" cy="2361197"/>
          </a:xfrm>
        </p:grpSpPr>
        <p:sp>
          <p:nvSpPr>
            <p:cNvPr name="Freeform 20" id="20" descr="⚠️ Advertencia Emoji: Significado y Uso"/>
            <p:cNvSpPr/>
            <p:nvPr/>
          </p:nvSpPr>
          <p:spPr>
            <a:xfrm flipH="false" flipV="false" rot="0">
              <a:off x="0" y="0"/>
              <a:ext cx="2361184" cy="2361184"/>
            </a:xfrm>
            <a:custGeom>
              <a:avLst/>
              <a:gdLst/>
              <a:ahLst/>
              <a:cxnLst/>
              <a:rect r="r" b="b" t="t" l="l"/>
              <a:pathLst>
                <a:path h="2361184" w="2361184">
                  <a:moveTo>
                    <a:pt x="0" y="0"/>
                  </a:moveTo>
                  <a:lnTo>
                    <a:pt x="2361184" y="0"/>
                  </a:lnTo>
                  <a:lnTo>
                    <a:pt x="2361184" y="2361184"/>
                  </a:lnTo>
                  <a:lnTo>
                    <a:pt x="0" y="2361184"/>
                  </a:lnTo>
                  <a:lnTo>
                    <a:pt x="0" y="0"/>
                  </a:lnTo>
                  <a:close/>
                </a:path>
              </a:pathLst>
            </a:custGeom>
            <a:blipFill>
              <a:blip r:embed="rId5"/>
              <a:stretch>
                <a:fillRect l="0" t="0" r="0" b="0"/>
              </a:stretch>
            </a:blipFill>
          </p:spPr>
        </p:sp>
      </p:grpSp>
      <p:grpSp>
        <p:nvGrpSpPr>
          <p:cNvPr name="Group 21" id="21"/>
          <p:cNvGrpSpPr/>
          <p:nvPr/>
        </p:nvGrpSpPr>
        <p:grpSpPr>
          <a:xfrm rot="0">
            <a:off x="10327034" y="6328743"/>
            <a:ext cx="4846320" cy="2724712"/>
            <a:chOff x="0" y="0"/>
            <a:chExt cx="6461760" cy="3632949"/>
          </a:xfrm>
        </p:grpSpPr>
        <p:sp>
          <p:nvSpPr>
            <p:cNvPr name="Freeform 22" id="22" descr="Pantalla azul en Windows: qué es, por qué te aparece y cómo solucionarlo"/>
            <p:cNvSpPr/>
            <p:nvPr/>
          </p:nvSpPr>
          <p:spPr>
            <a:xfrm flipH="false" flipV="false" rot="0">
              <a:off x="0" y="0"/>
              <a:ext cx="6461760" cy="3632962"/>
            </a:xfrm>
            <a:custGeom>
              <a:avLst/>
              <a:gdLst/>
              <a:ahLst/>
              <a:cxnLst/>
              <a:rect r="r" b="b" t="t" l="l"/>
              <a:pathLst>
                <a:path h="3632962" w="6461760">
                  <a:moveTo>
                    <a:pt x="0" y="0"/>
                  </a:moveTo>
                  <a:lnTo>
                    <a:pt x="6461760" y="0"/>
                  </a:lnTo>
                  <a:lnTo>
                    <a:pt x="6461760" y="3632962"/>
                  </a:lnTo>
                  <a:lnTo>
                    <a:pt x="0" y="3632962"/>
                  </a:lnTo>
                  <a:lnTo>
                    <a:pt x="0" y="0"/>
                  </a:lnTo>
                  <a:close/>
                </a:path>
              </a:pathLst>
            </a:custGeom>
            <a:blipFill>
              <a:blip r:embed="rId6"/>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48"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alphaModFix amt="27000"/>
              </a:blip>
              <a:stretch>
                <a:fillRect l="0" t="0" r="0" b="0"/>
              </a:stretch>
            </a:blipFill>
          </p:spPr>
        </p:sp>
      </p:grpSp>
      <p:grpSp>
        <p:nvGrpSpPr>
          <p:cNvPr name="Group 4" id="4"/>
          <p:cNvGrpSpPr/>
          <p:nvPr/>
        </p:nvGrpSpPr>
        <p:grpSpPr>
          <a:xfrm rot="0">
            <a:off x="0" y="9620402"/>
            <a:ext cx="18288000" cy="666598"/>
            <a:chOff x="0" y="0"/>
            <a:chExt cx="24384000" cy="888797"/>
          </a:xfrm>
        </p:grpSpPr>
        <p:sp>
          <p:nvSpPr>
            <p:cNvPr name="Freeform 5" id="5"/>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Freeform 6" id="6"/>
          <p:cNvSpPr/>
          <p:nvPr/>
        </p:nvSpPr>
        <p:spPr>
          <a:xfrm flipH="false" flipV="false" rot="0">
            <a:off x="16392677" y="664150"/>
            <a:ext cx="2557091" cy="1906200"/>
          </a:xfrm>
          <a:custGeom>
            <a:avLst/>
            <a:gdLst/>
            <a:ahLst/>
            <a:cxnLst/>
            <a:rect r="r" b="b" t="t" l="l"/>
            <a:pathLst>
              <a:path h="1906200" w="2557091">
                <a:moveTo>
                  <a:pt x="0" y="0"/>
                </a:moveTo>
                <a:lnTo>
                  <a:pt x="2557091" y="0"/>
                </a:lnTo>
                <a:lnTo>
                  <a:pt x="2557091" y="1906200"/>
                </a:lnTo>
                <a:lnTo>
                  <a:pt x="0" y="1906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2463369"/>
            <a:ext cx="14005715" cy="5848350"/>
          </a:xfrm>
          <a:prstGeom prst="rect">
            <a:avLst/>
          </a:prstGeom>
        </p:spPr>
        <p:txBody>
          <a:bodyPr anchor="t" rtlCol="false" tIns="0" lIns="0" bIns="0" rIns="0">
            <a:spAutoFit/>
          </a:bodyPr>
          <a:lstStyle/>
          <a:p>
            <a:pPr algn="l">
              <a:lnSpc>
                <a:spcPts val="4799"/>
              </a:lnSpc>
            </a:pPr>
            <a:r>
              <a:rPr lang="en-US" sz="3999" b="true">
                <a:solidFill>
                  <a:srgbClr val="C00000"/>
                </a:solidFill>
                <a:latin typeface="Arimo Bold"/>
                <a:ea typeface="Arimo Bold"/>
                <a:cs typeface="Arimo Bold"/>
                <a:sym typeface="Arimo Bold"/>
              </a:rPr>
              <a:t>Reto 1: Configuración de Red Ratmovil:</a:t>
            </a:r>
          </a:p>
          <a:p>
            <a:pPr algn="l">
              <a:lnSpc>
                <a:spcPts val="3359"/>
              </a:lnSpc>
            </a:pPr>
          </a:p>
          <a:p>
            <a:pPr algn="l">
              <a:lnSpc>
                <a:spcPts val="3839"/>
              </a:lnSpc>
            </a:pPr>
            <a:r>
              <a:rPr lang="en-US" sz="3199">
                <a:solidFill>
                  <a:srgbClr val="000000"/>
                </a:solidFill>
                <a:latin typeface="Arimo"/>
                <a:ea typeface="Arimo"/>
                <a:cs typeface="Arimo"/>
                <a:sym typeface="Arimo"/>
              </a:rPr>
              <a:t>Establezcan el nombre de red y la contraseña (evitar espacios y largo mínimo debe ser de 8 carácteres). </a:t>
            </a:r>
            <a:r>
              <a:rPr lang="en-US" sz="3199" i="true">
                <a:solidFill>
                  <a:srgbClr val="000000"/>
                </a:solidFill>
                <a:latin typeface="Arimo Italics"/>
                <a:ea typeface="Arimo Italics"/>
                <a:cs typeface="Arimo Italics"/>
                <a:sym typeface="Arimo Italics"/>
              </a:rPr>
              <a:t>Se sugiere usar: Ratmovil_1, MinnieMovil, etc.</a:t>
            </a:r>
          </a:p>
          <a:p>
            <a:pPr algn="l">
              <a:lnSpc>
                <a:spcPts val="3359"/>
              </a:lnSpc>
            </a:pPr>
          </a:p>
          <a:p>
            <a:pPr algn="l">
              <a:lnSpc>
                <a:spcPts val="4799"/>
              </a:lnSpc>
            </a:pPr>
            <a:r>
              <a:rPr lang="en-US" sz="3999" b="true">
                <a:solidFill>
                  <a:srgbClr val="C00000"/>
                </a:solidFill>
                <a:latin typeface="Arimo Bold"/>
                <a:ea typeface="Arimo Bold"/>
                <a:cs typeface="Arimo Bold"/>
                <a:sym typeface="Arimo Bold"/>
              </a:rPr>
              <a:t>Reto 2: Configuración de funciones de movimiento.</a:t>
            </a:r>
          </a:p>
          <a:p>
            <a:pPr algn="l">
              <a:lnSpc>
                <a:spcPts val="3359"/>
              </a:lnSpc>
            </a:pPr>
          </a:p>
          <a:p>
            <a:pPr algn="l">
              <a:lnSpc>
                <a:spcPts val="3839"/>
              </a:lnSpc>
            </a:pPr>
            <a:r>
              <a:rPr lang="en-US" sz="3199">
                <a:solidFill>
                  <a:srgbClr val="000000"/>
                </a:solidFill>
                <a:latin typeface="Arimo"/>
                <a:ea typeface="Arimo"/>
                <a:cs typeface="Arimo"/>
                <a:sym typeface="Arimo"/>
              </a:rPr>
              <a:t>Siga las instrucciones y sugerencias mostradas en el código y el enunciado.</a:t>
            </a:r>
          </a:p>
          <a:p>
            <a:pPr algn="l">
              <a:lnSpc>
                <a:spcPts val="3359"/>
              </a:lnSpc>
            </a:pPr>
          </a:p>
          <a:p>
            <a:pPr algn="l">
              <a:lnSpc>
                <a:spcPts val="4799"/>
              </a:lnSpc>
            </a:pPr>
            <a:r>
              <a:rPr lang="en-US" sz="3999" b="true">
                <a:solidFill>
                  <a:srgbClr val="C00000"/>
                </a:solidFill>
                <a:latin typeface="Arimo Bold"/>
                <a:ea typeface="Arimo Bold"/>
                <a:cs typeface="Arimo Bold"/>
                <a:sym typeface="Arimo Bold"/>
              </a:rPr>
              <a:t>Reto 3: Configuración de Pines</a:t>
            </a:r>
          </a:p>
          <a:p>
            <a:pPr algn="l">
              <a:lnSpc>
                <a:spcPts val="3359"/>
              </a:lnSpc>
            </a:pPr>
          </a:p>
          <a:p>
            <a:pPr algn="l">
              <a:lnSpc>
                <a:spcPts val="3839"/>
              </a:lnSpc>
            </a:pPr>
            <a:r>
              <a:rPr lang="en-US" sz="3199">
                <a:solidFill>
                  <a:srgbClr val="000000"/>
                </a:solidFill>
                <a:latin typeface="Arimo"/>
                <a:ea typeface="Arimo"/>
                <a:cs typeface="Arimo"/>
                <a:sym typeface="Arimo"/>
              </a:rPr>
              <a:t>Puede que los pines asociados al giro del motor deban ser ajustados....</a:t>
            </a:r>
          </a:p>
        </p:txBody>
      </p:sp>
      <p:sp>
        <p:nvSpPr>
          <p:cNvPr name="Freeform 8" id="8"/>
          <p:cNvSpPr/>
          <p:nvPr/>
        </p:nvSpPr>
        <p:spPr>
          <a:xfrm flipH="false" flipV="false" rot="0">
            <a:off x="15034415" y="5567825"/>
            <a:ext cx="2716525" cy="4052577"/>
          </a:xfrm>
          <a:custGeom>
            <a:avLst/>
            <a:gdLst/>
            <a:ahLst/>
            <a:cxnLst/>
            <a:rect r="r" b="b" t="t" l="l"/>
            <a:pathLst>
              <a:path h="4052577" w="2716525">
                <a:moveTo>
                  <a:pt x="0" y="0"/>
                </a:moveTo>
                <a:lnTo>
                  <a:pt x="2716525" y="0"/>
                </a:lnTo>
                <a:lnTo>
                  <a:pt x="2716525" y="4052577"/>
                </a:lnTo>
                <a:lnTo>
                  <a:pt x="0" y="4052577"/>
                </a:lnTo>
                <a:lnTo>
                  <a:pt x="0" y="0"/>
                </a:lnTo>
                <a:close/>
              </a:path>
            </a:pathLst>
          </a:custGeom>
          <a:blipFill>
            <a:blip r:embed="rId6"/>
            <a:stretch>
              <a:fillRect l="0" t="-30316" r="0" b="0"/>
            </a:stretch>
          </a:blipFill>
        </p:spPr>
      </p:sp>
      <p:sp>
        <p:nvSpPr>
          <p:cNvPr name="TextBox 9" id="9"/>
          <p:cNvSpPr txBox="true"/>
          <p:nvPr/>
        </p:nvSpPr>
        <p:spPr>
          <a:xfrm rot="0">
            <a:off x="5747833" y="1028700"/>
            <a:ext cx="5956935" cy="1276350"/>
          </a:xfrm>
          <a:prstGeom prst="rect">
            <a:avLst/>
          </a:prstGeom>
        </p:spPr>
        <p:txBody>
          <a:bodyPr anchor="t" rtlCol="false" tIns="0" lIns="0" bIns="0" rIns="0">
            <a:spAutoFit/>
          </a:bodyPr>
          <a:lstStyle/>
          <a:p>
            <a:pPr algn="ctr">
              <a:lnSpc>
                <a:spcPts val="10080"/>
              </a:lnSpc>
            </a:pPr>
            <a:r>
              <a:rPr lang="en-US" sz="8400">
                <a:solidFill>
                  <a:srgbClr val="3F3F3F"/>
                </a:solidFill>
                <a:latin typeface="Germania One"/>
                <a:ea typeface="Germania One"/>
                <a:cs typeface="Germania One"/>
                <a:sym typeface="Germania One"/>
              </a:rPr>
              <a:t>Desafío: </a:t>
            </a:r>
            <a:r>
              <a:rPr lang="en-US" sz="8400">
                <a:solidFill>
                  <a:srgbClr val="C00000"/>
                </a:solidFill>
                <a:latin typeface="Germania One"/>
                <a:ea typeface="Germania One"/>
                <a:cs typeface="Germania One"/>
                <a:sym typeface="Germania One"/>
              </a:rPr>
              <a:t>Retos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alphaModFix amt="27000"/>
              </a:blip>
              <a:stretch>
                <a:fillRect l="0" t="0" r="0" b="0"/>
              </a:stretch>
            </a:blipFill>
          </p:spPr>
        </p:sp>
      </p:grpSp>
      <p:grpSp>
        <p:nvGrpSpPr>
          <p:cNvPr name="Group 4" id="4"/>
          <p:cNvGrpSpPr/>
          <p:nvPr/>
        </p:nvGrpSpPr>
        <p:grpSpPr>
          <a:xfrm rot="0">
            <a:off x="0" y="9620402"/>
            <a:ext cx="18288000" cy="666598"/>
            <a:chOff x="0" y="0"/>
            <a:chExt cx="24384000" cy="888797"/>
          </a:xfrm>
        </p:grpSpPr>
        <p:sp>
          <p:nvSpPr>
            <p:cNvPr name="Freeform 5" id="5"/>
            <p:cNvSpPr/>
            <p:nvPr/>
          </p:nvSpPr>
          <p:spPr>
            <a:xfrm flipH="false" flipV="false" rot="0">
              <a:off x="0" y="0"/>
              <a:ext cx="24384000" cy="888746"/>
            </a:xfrm>
            <a:custGeom>
              <a:avLst/>
              <a:gdLst/>
              <a:ahLst/>
              <a:cxnLst/>
              <a:rect r="r" b="b" t="t" l="l"/>
              <a:pathLst>
                <a:path h="888746" w="24384000">
                  <a:moveTo>
                    <a:pt x="0" y="0"/>
                  </a:moveTo>
                  <a:lnTo>
                    <a:pt x="24384000" y="0"/>
                  </a:lnTo>
                  <a:lnTo>
                    <a:pt x="24384000" y="888746"/>
                  </a:lnTo>
                  <a:lnTo>
                    <a:pt x="0" y="888746"/>
                  </a:lnTo>
                  <a:close/>
                </a:path>
              </a:pathLst>
            </a:custGeom>
            <a:solidFill>
              <a:srgbClr val="BB3A1E"/>
            </a:solidFill>
          </p:spPr>
        </p:sp>
      </p:grpSp>
      <p:sp>
        <p:nvSpPr>
          <p:cNvPr name="TextBox 6" id="6"/>
          <p:cNvSpPr txBox="true"/>
          <p:nvPr/>
        </p:nvSpPr>
        <p:spPr>
          <a:xfrm rot="0">
            <a:off x="2113437" y="869833"/>
            <a:ext cx="12780318" cy="1276350"/>
          </a:xfrm>
          <a:prstGeom prst="rect">
            <a:avLst/>
          </a:prstGeom>
        </p:spPr>
        <p:txBody>
          <a:bodyPr anchor="t" rtlCol="false" tIns="0" lIns="0" bIns="0" rIns="0">
            <a:spAutoFit/>
          </a:bodyPr>
          <a:lstStyle/>
          <a:p>
            <a:pPr algn="ctr">
              <a:lnSpc>
                <a:spcPts val="10080"/>
              </a:lnSpc>
            </a:pPr>
            <a:r>
              <a:rPr lang="en-US" sz="8400">
                <a:solidFill>
                  <a:srgbClr val="3F3F3F"/>
                </a:solidFill>
                <a:latin typeface="Germania One"/>
                <a:ea typeface="Germania One"/>
                <a:cs typeface="Germania One"/>
                <a:sym typeface="Germania One"/>
              </a:rPr>
              <a:t>Consideraciones código (HINTS)</a:t>
            </a:r>
          </a:p>
        </p:txBody>
      </p:sp>
      <p:grpSp>
        <p:nvGrpSpPr>
          <p:cNvPr name="Group 7" id="7"/>
          <p:cNvGrpSpPr/>
          <p:nvPr/>
        </p:nvGrpSpPr>
        <p:grpSpPr>
          <a:xfrm rot="0">
            <a:off x="1028700" y="5396703"/>
            <a:ext cx="9309249" cy="1197000"/>
            <a:chOff x="0" y="0"/>
            <a:chExt cx="12412332" cy="1596000"/>
          </a:xfrm>
        </p:grpSpPr>
        <p:sp>
          <p:nvSpPr>
            <p:cNvPr name="Freeform 8" id="8"/>
            <p:cNvSpPr/>
            <p:nvPr/>
          </p:nvSpPr>
          <p:spPr>
            <a:xfrm flipH="false" flipV="false" rot="0">
              <a:off x="0" y="0"/>
              <a:ext cx="12412331" cy="1596004"/>
            </a:xfrm>
            <a:custGeom>
              <a:avLst/>
              <a:gdLst/>
              <a:ahLst/>
              <a:cxnLst/>
              <a:rect r="r" b="b" t="t" l="l"/>
              <a:pathLst>
                <a:path h="1596004" w="12412331">
                  <a:moveTo>
                    <a:pt x="0" y="0"/>
                  </a:moveTo>
                  <a:lnTo>
                    <a:pt x="12412331" y="0"/>
                  </a:lnTo>
                  <a:lnTo>
                    <a:pt x="12412331" y="1596004"/>
                  </a:lnTo>
                  <a:lnTo>
                    <a:pt x="0" y="1596004"/>
                  </a:lnTo>
                  <a:close/>
                </a:path>
              </a:pathLst>
            </a:custGeom>
            <a:blipFill>
              <a:blip r:embed="rId3">
                <a:alphaModFix amt="0"/>
              </a:blip>
              <a:stretch>
                <a:fillRect l="0" t="-101537" r="0" b="-101537"/>
              </a:stretch>
            </a:blipFill>
          </p:spPr>
        </p:sp>
        <p:sp>
          <p:nvSpPr>
            <p:cNvPr name="TextBox 9" id="9"/>
            <p:cNvSpPr txBox="true"/>
            <p:nvPr/>
          </p:nvSpPr>
          <p:spPr>
            <a:xfrm>
              <a:off x="0" y="-9525"/>
              <a:ext cx="12412332" cy="1605525"/>
            </a:xfrm>
            <a:prstGeom prst="rect">
              <a:avLst/>
            </a:prstGeom>
          </p:spPr>
          <p:txBody>
            <a:bodyPr anchor="ctr" rtlCol="false" tIns="0" lIns="0" bIns="0" rIns="0"/>
            <a:lstStyle/>
            <a:p>
              <a:pPr algn="l">
                <a:lnSpc>
                  <a:spcPts val="7439"/>
                </a:lnSpc>
              </a:pPr>
              <a:r>
                <a:rPr lang="en-US" sz="6199">
                  <a:solidFill>
                    <a:srgbClr val="BB3A1E"/>
                  </a:solidFill>
                  <a:latin typeface="Germania One"/>
                  <a:ea typeface="Germania One"/>
                  <a:cs typeface="Germania One"/>
                  <a:sym typeface="Germania One"/>
                </a:rPr>
                <a:t>Funciones de movimiento</a:t>
              </a:r>
            </a:p>
          </p:txBody>
        </p:sp>
      </p:grpSp>
      <p:sp>
        <p:nvSpPr>
          <p:cNvPr name="TextBox 10" id="10"/>
          <p:cNvSpPr txBox="true"/>
          <p:nvPr/>
        </p:nvSpPr>
        <p:spPr>
          <a:xfrm rot="0">
            <a:off x="1028700" y="6574653"/>
            <a:ext cx="14453416" cy="1276350"/>
          </a:xfrm>
          <a:prstGeom prst="rect">
            <a:avLst/>
          </a:prstGeom>
        </p:spPr>
        <p:txBody>
          <a:bodyPr anchor="t" rtlCol="false" tIns="0" lIns="0" bIns="0" rIns="0">
            <a:spAutoFit/>
          </a:bodyPr>
          <a:lstStyle/>
          <a:p>
            <a:pPr algn="l">
              <a:lnSpc>
                <a:spcPts val="3359"/>
              </a:lnSpc>
            </a:pPr>
            <a:r>
              <a:rPr lang="en-US" sz="2799" b="true">
                <a:solidFill>
                  <a:srgbClr val="000000"/>
                </a:solidFill>
                <a:latin typeface="Arimo Bold"/>
                <a:ea typeface="Arimo Bold"/>
                <a:cs typeface="Arimo Bold"/>
                <a:sym typeface="Arimo Bold"/>
              </a:rPr>
              <a:t>Para darle las velocidades a sus motores se hace de la siguiente forma:  </a:t>
            </a:r>
          </a:p>
          <a:p>
            <a:pPr algn="l">
              <a:lnSpc>
                <a:spcPts val="3359"/>
              </a:lnSpc>
            </a:pPr>
          </a:p>
          <a:p>
            <a:pPr algn="l">
              <a:lnSpc>
                <a:spcPts val="3359"/>
              </a:lnSpc>
            </a:pPr>
            <a:r>
              <a:rPr lang="en-US" sz="2799">
                <a:solidFill>
                  <a:srgbClr val="000000"/>
                </a:solidFill>
                <a:latin typeface="Arial"/>
                <a:ea typeface="Arial"/>
                <a:cs typeface="Arial"/>
                <a:sym typeface="Arial"/>
              </a:rPr>
              <a:t>ledcWrite(pwmChannelA, motorSpeed);</a:t>
            </a:r>
          </a:p>
        </p:txBody>
      </p:sp>
      <p:grpSp>
        <p:nvGrpSpPr>
          <p:cNvPr name="Group 11" id="11"/>
          <p:cNvGrpSpPr/>
          <p:nvPr/>
        </p:nvGrpSpPr>
        <p:grpSpPr>
          <a:xfrm rot="0">
            <a:off x="1028700" y="1997248"/>
            <a:ext cx="9309249" cy="1197000"/>
            <a:chOff x="0" y="0"/>
            <a:chExt cx="12412332" cy="1596000"/>
          </a:xfrm>
        </p:grpSpPr>
        <p:sp>
          <p:nvSpPr>
            <p:cNvPr name="Freeform 12" id="12"/>
            <p:cNvSpPr/>
            <p:nvPr/>
          </p:nvSpPr>
          <p:spPr>
            <a:xfrm flipH="false" flipV="false" rot="0">
              <a:off x="0" y="0"/>
              <a:ext cx="12412331" cy="1596004"/>
            </a:xfrm>
            <a:custGeom>
              <a:avLst/>
              <a:gdLst/>
              <a:ahLst/>
              <a:cxnLst/>
              <a:rect r="r" b="b" t="t" l="l"/>
              <a:pathLst>
                <a:path h="1596004" w="12412331">
                  <a:moveTo>
                    <a:pt x="0" y="0"/>
                  </a:moveTo>
                  <a:lnTo>
                    <a:pt x="12412331" y="0"/>
                  </a:lnTo>
                  <a:lnTo>
                    <a:pt x="12412331" y="1596004"/>
                  </a:lnTo>
                  <a:lnTo>
                    <a:pt x="0" y="1596004"/>
                  </a:lnTo>
                  <a:close/>
                </a:path>
              </a:pathLst>
            </a:custGeom>
            <a:blipFill>
              <a:blip r:embed="rId3">
                <a:alphaModFix amt="0"/>
              </a:blip>
              <a:stretch>
                <a:fillRect l="0" t="-101537" r="0" b="-101537"/>
              </a:stretch>
            </a:blipFill>
          </p:spPr>
        </p:sp>
        <p:sp>
          <p:nvSpPr>
            <p:cNvPr name="TextBox 13" id="13"/>
            <p:cNvSpPr txBox="true"/>
            <p:nvPr/>
          </p:nvSpPr>
          <p:spPr>
            <a:xfrm>
              <a:off x="0" y="-9525"/>
              <a:ext cx="12412332" cy="1605525"/>
            </a:xfrm>
            <a:prstGeom prst="rect">
              <a:avLst/>
            </a:prstGeom>
          </p:spPr>
          <p:txBody>
            <a:bodyPr anchor="ctr" rtlCol="false" tIns="0" lIns="0" bIns="0" rIns="0"/>
            <a:lstStyle/>
            <a:p>
              <a:pPr algn="l">
                <a:lnSpc>
                  <a:spcPts val="7439"/>
                </a:lnSpc>
              </a:pPr>
              <a:r>
                <a:rPr lang="en-US" sz="6199">
                  <a:solidFill>
                    <a:srgbClr val="BB3A1E"/>
                  </a:solidFill>
                  <a:latin typeface="Germania One"/>
                  <a:ea typeface="Germania One"/>
                  <a:cs typeface="Germania One"/>
                  <a:sym typeface="Germania One"/>
                </a:rPr>
                <a:t>Definición de pines</a:t>
              </a:r>
            </a:p>
          </p:txBody>
        </p:sp>
      </p:grpSp>
      <p:sp>
        <p:nvSpPr>
          <p:cNvPr name="TextBox 14" id="14"/>
          <p:cNvSpPr txBox="true"/>
          <p:nvPr/>
        </p:nvSpPr>
        <p:spPr>
          <a:xfrm rot="0">
            <a:off x="1028700" y="3175198"/>
            <a:ext cx="14453416" cy="2114550"/>
          </a:xfrm>
          <a:prstGeom prst="rect">
            <a:avLst/>
          </a:prstGeom>
        </p:spPr>
        <p:txBody>
          <a:bodyPr anchor="t" rtlCol="false" tIns="0" lIns="0" bIns="0" rIns="0">
            <a:spAutoFit/>
          </a:bodyPr>
          <a:lstStyle/>
          <a:p>
            <a:pPr algn="l">
              <a:lnSpc>
                <a:spcPts val="3359"/>
              </a:lnSpc>
            </a:pPr>
            <a:r>
              <a:rPr lang="en-US" sz="2799" b="true">
                <a:solidFill>
                  <a:srgbClr val="000000"/>
                </a:solidFill>
                <a:latin typeface="Arimo Bold"/>
                <a:ea typeface="Arimo Bold"/>
                <a:cs typeface="Arimo Bold"/>
                <a:sym typeface="Arimo Bold"/>
              </a:rPr>
              <a:t>Ojo con los pines definidos para los motores, puede que tengan que ajustarlos según su Ratmovil</a:t>
            </a:r>
          </a:p>
          <a:p>
            <a:pPr algn="l">
              <a:lnSpc>
                <a:spcPts val="3359"/>
              </a:lnSpc>
            </a:pPr>
          </a:p>
          <a:p>
            <a:pPr algn="l">
              <a:lnSpc>
                <a:spcPts val="3359"/>
              </a:lnSpc>
            </a:pPr>
            <a:r>
              <a:rPr lang="en-US" sz="2799">
                <a:solidFill>
                  <a:srgbClr val="000000"/>
                </a:solidFill>
                <a:latin typeface="Arimo"/>
                <a:ea typeface="Arimo"/>
                <a:cs typeface="Arimo"/>
                <a:sym typeface="Arimo"/>
              </a:rPr>
              <a:t>Los pines asociados a PWM, stand by, etc, no deben cambiarlos. Solamente deben modificar los pines de sentido de giro en caso de que no funcionen.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alphaModFix amt="27000"/>
              </a:blip>
              <a:stretch>
                <a:fillRect l="0" t="0" r="0" b="0"/>
              </a:stretch>
            </a:blipFill>
          </p:spPr>
        </p:sp>
      </p:grpSp>
      <p:grpSp>
        <p:nvGrpSpPr>
          <p:cNvPr name="Group 4" id="4"/>
          <p:cNvGrpSpPr/>
          <p:nvPr/>
        </p:nvGrpSpPr>
        <p:grpSpPr>
          <a:xfrm rot="-5400180">
            <a:off x="11893563" y="3951392"/>
            <a:ext cx="10364248" cy="2461651"/>
            <a:chOff x="0" y="0"/>
            <a:chExt cx="13818997" cy="3282201"/>
          </a:xfrm>
        </p:grpSpPr>
        <p:sp>
          <p:nvSpPr>
            <p:cNvPr name="Freeform 5" id="5"/>
            <p:cNvSpPr/>
            <p:nvPr/>
          </p:nvSpPr>
          <p:spPr>
            <a:xfrm flipH="false" flipV="false" rot="0">
              <a:off x="12700" y="12700"/>
              <a:ext cx="13793597" cy="3256788"/>
            </a:xfrm>
            <a:custGeom>
              <a:avLst/>
              <a:gdLst/>
              <a:ahLst/>
              <a:cxnLst/>
              <a:rect r="r" b="b" t="t" l="l"/>
              <a:pathLst>
                <a:path h="3256788" w="13793597">
                  <a:moveTo>
                    <a:pt x="0" y="0"/>
                  </a:moveTo>
                  <a:lnTo>
                    <a:pt x="13793597" y="0"/>
                  </a:lnTo>
                  <a:lnTo>
                    <a:pt x="13793597" y="3256788"/>
                  </a:lnTo>
                  <a:lnTo>
                    <a:pt x="0" y="3256788"/>
                  </a:lnTo>
                  <a:close/>
                </a:path>
              </a:pathLst>
            </a:custGeom>
            <a:solidFill>
              <a:srgbClr val="BB3A1E"/>
            </a:solidFill>
          </p:spPr>
        </p:sp>
        <p:sp>
          <p:nvSpPr>
            <p:cNvPr name="Freeform 6" id="6"/>
            <p:cNvSpPr/>
            <p:nvPr/>
          </p:nvSpPr>
          <p:spPr>
            <a:xfrm flipH="false" flipV="false" rot="0">
              <a:off x="0" y="0"/>
              <a:ext cx="13818997" cy="3282188"/>
            </a:xfrm>
            <a:custGeom>
              <a:avLst/>
              <a:gdLst/>
              <a:ahLst/>
              <a:cxnLst/>
              <a:rect r="r" b="b" t="t" l="l"/>
              <a:pathLst>
                <a:path h="3282188" w="13818997">
                  <a:moveTo>
                    <a:pt x="12700" y="0"/>
                  </a:moveTo>
                  <a:lnTo>
                    <a:pt x="13806297" y="0"/>
                  </a:lnTo>
                  <a:cubicBezTo>
                    <a:pt x="13813282" y="0"/>
                    <a:pt x="13818997" y="5715"/>
                    <a:pt x="13818997" y="12700"/>
                  </a:cubicBezTo>
                  <a:lnTo>
                    <a:pt x="13818997" y="3269488"/>
                  </a:lnTo>
                  <a:cubicBezTo>
                    <a:pt x="13818997" y="3276473"/>
                    <a:pt x="13813282" y="3282188"/>
                    <a:pt x="13806297" y="3282188"/>
                  </a:cubicBezTo>
                  <a:lnTo>
                    <a:pt x="12700" y="3282188"/>
                  </a:lnTo>
                  <a:cubicBezTo>
                    <a:pt x="5715" y="3282188"/>
                    <a:pt x="0" y="3276473"/>
                    <a:pt x="0" y="3269488"/>
                  </a:cubicBezTo>
                  <a:lnTo>
                    <a:pt x="0" y="12700"/>
                  </a:lnTo>
                  <a:cubicBezTo>
                    <a:pt x="0" y="5715"/>
                    <a:pt x="5715" y="0"/>
                    <a:pt x="12700" y="0"/>
                  </a:cubicBezTo>
                  <a:moveTo>
                    <a:pt x="12700" y="25400"/>
                  </a:moveTo>
                  <a:lnTo>
                    <a:pt x="12700" y="12700"/>
                  </a:lnTo>
                  <a:lnTo>
                    <a:pt x="25400" y="12700"/>
                  </a:lnTo>
                  <a:lnTo>
                    <a:pt x="25400" y="3269488"/>
                  </a:lnTo>
                  <a:lnTo>
                    <a:pt x="12700" y="3269488"/>
                  </a:lnTo>
                  <a:lnTo>
                    <a:pt x="12700" y="3256788"/>
                  </a:lnTo>
                  <a:lnTo>
                    <a:pt x="13806297" y="3256788"/>
                  </a:lnTo>
                  <a:lnTo>
                    <a:pt x="13806297" y="3269488"/>
                  </a:lnTo>
                  <a:lnTo>
                    <a:pt x="13793597" y="3269488"/>
                  </a:lnTo>
                  <a:lnTo>
                    <a:pt x="13793597" y="12700"/>
                  </a:lnTo>
                  <a:lnTo>
                    <a:pt x="13806297" y="12700"/>
                  </a:lnTo>
                  <a:lnTo>
                    <a:pt x="13806297" y="25400"/>
                  </a:lnTo>
                  <a:lnTo>
                    <a:pt x="12700" y="25400"/>
                  </a:lnTo>
                  <a:close/>
                </a:path>
              </a:pathLst>
            </a:custGeom>
            <a:solidFill>
              <a:srgbClr val="BB3A1E"/>
            </a:solidFill>
          </p:spPr>
        </p:sp>
      </p:grpSp>
      <p:sp>
        <p:nvSpPr>
          <p:cNvPr name="Freeform 7" id="7"/>
          <p:cNvSpPr/>
          <p:nvPr/>
        </p:nvSpPr>
        <p:spPr>
          <a:xfrm flipH="false" flipV="false" rot="0">
            <a:off x="14573688" y="4"/>
            <a:ext cx="1270902" cy="10803722"/>
          </a:xfrm>
          <a:custGeom>
            <a:avLst/>
            <a:gdLst/>
            <a:ahLst/>
            <a:cxnLst/>
            <a:rect r="r" b="b" t="t" l="l"/>
            <a:pathLst>
              <a:path h="10803722" w="1270902">
                <a:moveTo>
                  <a:pt x="0" y="0"/>
                </a:moveTo>
                <a:lnTo>
                  <a:pt x="1270902" y="0"/>
                </a:lnTo>
                <a:lnTo>
                  <a:pt x="1270902" y="10803722"/>
                </a:lnTo>
                <a:lnTo>
                  <a:pt x="0" y="108037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4117" y="9045302"/>
            <a:ext cx="1906438" cy="1270797"/>
          </a:xfrm>
          <a:custGeom>
            <a:avLst/>
            <a:gdLst/>
            <a:ahLst/>
            <a:cxnLst/>
            <a:rect r="r" b="b" t="t" l="l"/>
            <a:pathLst>
              <a:path h="1270797" w="1906438">
                <a:moveTo>
                  <a:pt x="0" y="0"/>
                </a:moveTo>
                <a:lnTo>
                  <a:pt x="1906438" y="0"/>
                </a:lnTo>
                <a:lnTo>
                  <a:pt x="1906438" y="1270797"/>
                </a:lnTo>
                <a:lnTo>
                  <a:pt x="0" y="1270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230744" y="6993712"/>
            <a:ext cx="6230217" cy="1333691"/>
            <a:chOff x="0" y="0"/>
            <a:chExt cx="8306956" cy="1778254"/>
          </a:xfrm>
        </p:grpSpPr>
        <p:sp>
          <p:nvSpPr>
            <p:cNvPr name="Freeform 10" id="10"/>
            <p:cNvSpPr/>
            <p:nvPr/>
          </p:nvSpPr>
          <p:spPr>
            <a:xfrm flipH="false" flipV="false" rot="0">
              <a:off x="0" y="0"/>
              <a:ext cx="8306943" cy="1778254"/>
            </a:xfrm>
            <a:custGeom>
              <a:avLst/>
              <a:gdLst/>
              <a:ahLst/>
              <a:cxnLst/>
              <a:rect r="r" b="b" t="t" l="l"/>
              <a:pathLst>
                <a:path h="1778254" w="8306943">
                  <a:moveTo>
                    <a:pt x="0" y="0"/>
                  </a:moveTo>
                  <a:lnTo>
                    <a:pt x="8306943" y="0"/>
                  </a:lnTo>
                  <a:lnTo>
                    <a:pt x="8306943" y="1778254"/>
                  </a:lnTo>
                  <a:lnTo>
                    <a:pt x="0" y="1778254"/>
                  </a:lnTo>
                  <a:lnTo>
                    <a:pt x="0" y="0"/>
                  </a:lnTo>
                  <a:close/>
                </a:path>
              </a:pathLst>
            </a:custGeom>
            <a:blipFill>
              <a:blip r:embed="rId8"/>
              <a:stretch>
                <a:fillRect l="0" t="0" r="0" b="0"/>
              </a:stretch>
            </a:blipFill>
          </p:spPr>
        </p:sp>
      </p:grpSp>
      <p:grpSp>
        <p:nvGrpSpPr>
          <p:cNvPr name="Group 11" id="11"/>
          <p:cNvGrpSpPr/>
          <p:nvPr/>
        </p:nvGrpSpPr>
        <p:grpSpPr>
          <a:xfrm rot="0">
            <a:off x="1367703" y="4023851"/>
            <a:ext cx="10745886" cy="2756027"/>
            <a:chOff x="0" y="0"/>
            <a:chExt cx="14327848" cy="3674703"/>
          </a:xfrm>
        </p:grpSpPr>
        <p:sp>
          <p:nvSpPr>
            <p:cNvPr name="Freeform 12" id="12"/>
            <p:cNvSpPr/>
            <p:nvPr/>
          </p:nvSpPr>
          <p:spPr>
            <a:xfrm flipH="false" flipV="false" rot="0">
              <a:off x="0" y="0"/>
              <a:ext cx="14327848" cy="3674702"/>
            </a:xfrm>
            <a:custGeom>
              <a:avLst/>
              <a:gdLst/>
              <a:ahLst/>
              <a:cxnLst/>
              <a:rect r="r" b="b" t="t" l="l"/>
              <a:pathLst>
                <a:path h="3674702" w="14327848">
                  <a:moveTo>
                    <a:pt x="0" y="0"/>
                  </a:moveTo>
                  <a:lnTo>
                    <a:pt x="14327848" y="0"/>
                  </a:lnTo>
                  <a:lnTo>
                    <a:pt x="14327848" y="3674702"/>
                  </a:lnTo>
                  <a:lnTo>
                    <a:pt x="0" y="3674702"/>
                  </a:lnTo>
                  <a:close/>
                </a:path>
              </a:pathLst>
            </a:custGeom>
            <a:blipFill>
              <a:blip r:embed="rId9">
                <a:alphaModFix amt="0"/>
              </a:blip>
              <a:stretch>
                <a:fillRect l="0" t="-35839" r="0" b="-16107"/>
              </a:stretch>
            </a:blipFill>
          </p:spPr>
        </p:sp>
        <p:sp>
          <p:nvSpPr>
            <p:cNvPr name="TextBox 13" id="13"/>
            <p:cNvSpPr txBox="true"/>
            <p:nvPr/>
          </p:nvSpPr>
          <p:spPr>
            <a:xfrm>
              <a:off x="0" y="-9525"/>
              <a:ext cx="14327848" cy="3684228"/>
            </a:xfrm>
            <a:prstGeom prst="rect">
              <a:avLst/>
            </a:prstGeom>
          </p:spPr>
          <p:txBody>
            <a:bodyPr anchor="b" rtlCol="false" tIns="0" lIns="0" bIns="0" rIns="0"/>
            <a:lstStyle/>
            <a:p>
              <a:pPr algn="l">
                <a:lnSpc>
                  <a:spcPts val="19200"/>
                </a:lnSpc>
              </a:pPr>
              <a:r>
                <a:rPr lang="en-US" sz="16000">
                  <a:solidFill>
                    <a:srgbClr val="BB3A1E"/>
                  </a:solidFill>
                  <a:latin typeface="Germania One"/>
                  <a:ea typeface="Germania One"/>
                  <a:cs typeface="Germania One"/>
                  <a:sym typeface="Germania One"/>
                </a:rPr>
                <a:t>¡Comiencen!</a:t>
              </a:r>
            </a:p>
          </p:txBody>
        </p:sp>
      </p:grpSp>
      <p:sp>
        <p:nvSpPr>
          <p:cNvPr name="Freeform 14" id="14"/>
          <p:cNvSpPr/>
          <p:nvPr/>
        </p:nvSpPr>
        <p:spPr>
          <a:xfrm flipH="false" flipV="false" rot="0">
            <a:off x="10972781" y="29"/>
            <a:ext cx="2541842" cy="2541603"/>
          </a:xfrm>
          <a:custGeom>
            <a:avLst/>
            <a:gdLst/>
            <a:ahLst/>
            <a:cxnLst/>
            <a:rect r="r" b="b" t="t" l="l"/>
            <a:pathLst>
              <a:path h="2541603" w="2541842">
                <a:moveTo>
                  <a:pt x="0" y="0"/>
                </a:moveTo>
                <a:lnTo>
                  <a:pt x="2541841" y="0"/>
                </a:lnTo>
                <a:lnTo>
                  <a:pt x="2541841" y="2541603"/>
                </a:lnTo>
                <a:lnTo>
                  <a:pt x="0" y="25416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DAHH5bLRqAs</dc:identifier>
  <dcterms:modified xsi:type="dcterms:W3CDTF">2011-08-01T06:04:30Z</dcterms:modified>
  <cp:revision>1</cp:revision>
  <dc:title>Desafío 1 - Fast and Rats</dc:title>
</cp:coreProperties>
</file>