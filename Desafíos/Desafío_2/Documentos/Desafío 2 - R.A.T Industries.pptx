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4a" Extension="m4a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mo" charset="1" panose="020B0604020202020204"/>
      <p:regular r:id="rId17"/>
    </p:embeddedFont>
    <p:embeddedFont>
      <p:font typeface="Arimo Bold" charset="1" panose="020B0704020202020204"/>
      <p:regular r:id="rId18"/>
    </p:embeddedFont>
    <p:embeddedFont>
      <p:font typeface="Arimo Italics" charset="1" panose="020B0604020202090204"/>
      <p:regular r:id="rId20"/>
    </p:embeddedFont>
    <p:embeddedFont>
      <p:font typeface="Montserrat" charset="1" panose="00000500000000000000"/>
      <p:regular r:id="rId22"/>
    </p:embeddedFont>
    <p:embeddedFont>
      <p:font typeface="Montserrat Bold" charset="1" panose="00000800000000000000"/>
      <p:regular r:id="rId23"/>
    </p:embeddedFont>
    <p:embeddedFont>
      <p:font typeface="Montserrat Medium" charset="1" panose="00000600000000000000"/>
      <p:regular r:id="rId24"/>
    </p:embeddedFont>
    <p:embeddedFont>
      <p:font typeface="Open Sans Bold" charset="1" panose="020B0806030504020204"/>
      <p:regular r:id="rId26"/>
    </p:embeddedFont>
    <p:embeddedFont>
      <p:font typeface="Open Sans" charset="1" panose="020B060603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aAG2SX_u2cI.m4a" Type="http://schemas.microsoft.com/office/2007/relationships/media"/><Relationship Id="rId12" Target="../media/aAG2SX_u2cI.m4a" Type="http://schemas.openxmlformats.org/officeDocument/2006/relationships/audio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5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https://cursos.mcielectronics.cl/2022/12/26/interfaz-del-sensor-de-color-tcs230-tcs3200-con-arduino" TargetMode="External" Type="http://schemas.openxmlformats.org/officeDocument/2006/relationships/hyperlink"/><Relationship Id="rId6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2.png" Type="http://schemas.openxmlformats.org/officeDocument/2006/relationships/image"/><Relationship Id="rId4" Target="../media/image5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2.pn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media/image24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000" y="251100"/>
            <a:ext cx="17784000" cy="9784800"/>
            <a:chOff x="0" y="0"/>
            <a:chExt cx="23712000" cy="1304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2043" cy="13046456"/>
            </a:xfrm>
            <a:custGeom>
              <a:avLst/>
              <a:gdLst/>
              <a:ahLst/>
              <a:cxnLst/>
              <a:rect r="r" b="b" t="t" l="l"/>
              <a:pathLst>
                <a:path h="13046456" w="23712043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52000" y="1079870"/>
            <a:ext cx="10865518" cy="8956030"/>
          </a:xfrm>
          <a:custGeom>
            <a:avLst/>
            <a:gdLst/>
            <a:ahLst/>
            <a:cxnLst/>
            <a:rect r="r" b="b" t="t" l="l"/>
            <a:pathLst>
              <a:path h="8956030" w="10865518">
                <a:moveTo>
                  <a:pt x="0" y="0"/>
                </a:moveTo>
                <a:lnTo>
                  <a:pt x="10865518" y="0"/>
                </a:lnTo>
                <a:lnTo>
                  <a:pt x="10865518" y="8956030"/>
                </a:lnTo>
                <a:lnTo>
                  <a:pt x="0" y="8956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65465" y="8254038"/>
            <a:ext cx="6249150" cy="57150"/>
          </a:xfrm>
          <a:prstGeom prst="line">
            <a:avLst/>
          </a:prstGeom>
          <a:ln cap="rnd" w="19050">
            <a:solidFill>
              <a:srgbClr val="1626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719119" y="5557885"/>
            <a:ext cx="1276752" cy="1377035"/>
          </a:xfrm>
          <a:custGeom>
            <a:avLst/>
            <a:gdLst/>
            <a:ahLst/>
            <a:cxnLst/>
            <a:rect r="r" b="b" t="t" l="l"/>
            <a:pathLst>
              <a:path h="1377035" w="1276752">
                <a:moveTo>
                  <a:pt x="0" y="0"/>
                </a:moveTo>
                <a:lnTo>
                  <a:pt x="1276752" y="0"/>
                </a:lnTo>
                <a:lnTo>
                  <a:pt x="1276752" y="1377035"/>
                </a:lnTo>
                <a:lnTo>
                  <a:pt x="0" y="13770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154" t="0" r="-26608" b="-426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9581" y="5499091"/>
            <a:ext cx="1435829" cy="1435829"/>
          </a:xfrm>
          <a:custGeom>
            <a:avLst/>
            <a:gdLst/>
            <a:ahLst/>
            <a:cxnLst/>
            <a:rect r="r" b="b" t="t" l="l"/>
            <a:pathLst>
              <a:path h="1435829" w="1435829">
                <a:moveTo>
                  <a:pt x="0" y="0"/>
                </a:moveTo>
                <a:lnTo>
                  <a:pt x="1435829" y="0"/>
                </a:lnTo>
                <a:lnTo>
                  <a:pt x="1435829" y="1435829"/>
                </a:lnTo>
                <a:lnTo>
                  <a:pt x="0" y="14358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80312" y="5704037"/>
            <a:ext cx="1276752" cy="1230883"/>
          </a:xfrm>
          <a:custGeom>
            <a:avLst/>
            <a:gdLst/>
            <a:ahLst/>
            <a:cxnLst/>
            <a:rect r="r" b="b" t="t" l="l"/>
            <a:pathLst>
              <a:path h="1230883" w="1276752">
                <a:moveTo>
                  <a:pt x="0" y="0"/>
                </a:moveTo>
                <a:lnTo>
                  <a:pt x="1276751" y="0"/>
                </a:lnTo>
                <a:lnTo>
                  <a:pt x="1276751" y="1230883"/>
                </a:lnTo>
                <a:lnTo>
                  <a:pt x="0" y="12308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154" t="-11873" r="-26608" b="-477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80312" y="5207902"/>
            <a:ext cx="1558651" cy="2077002"/>
          </a:xfrm>
          <a:custGeom>
            <a:avLst/>
            <a:gdLst/>
            <a:ahLst/>
            <a:cxnLst/>
            <a:rect r="r" b="b" t="t" l="l"/>
            <a:pathLst>
              <a:path h="2077002" w="1558651">
                <a:moveTo>
                  <a:pt x="0" y="0"/>
                </a:moveTo>
                <a:lnTo>
                  <a:pt x="1558651" y="0"/>
                </a:lnTo>
                <a:lnTo>
                  <a:pt x="1558651" y="2077001"/>
                </a:lnTo>
                <a:lnTo>
                  <a:pt x="0" y="20770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6501583" y="6750622"/>
            <a:ext cx="3684363" cy="3684363"/>
          </a:xfrm>
          <a:custGeom>
            <a:avLst/>
            <a:gdLst/>
            <a:ahLst/>
            <a:cxnLst/>
            <a:rect r="r" b="b" t="t" l="l"/>
            <a:pathLst>
              <a:path h="3684363" w="3684363">
                <a:moveTo>
                  <a:pt x="3684363" y="0"/>
                </a:moveTo>
                <a:lnTo>
                  <a:pt x="0" y="0"/>
                </a:lnTo>
                <a:lnTo>
                  <a:pt x="0" y="3684363"/>
                </a:lnTo>
                <a:lnTo>
                  <a:pt x="3684363" y="3684363"/>
                </a:lnTo>
                <a:lnTo>
                  <a:pt x="3684363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91357" y="1079870"/>
            <a:ext cx="3382561" cy="1141614"/>
          </a:xfrm>
          <a:custGeom>
            <a:avLst/>
            <a:gdLst/>
            <a:ahLst/>
            <a:cxnLst/>
            <a:rect r="r" b="b" t="t" l="l"/>
            <a:pathLst>
              <a:path h="1141614" w="3382561">
                <a:moveTo>
                  <a:pt x="0" y="0"/>
                </a:moveTo>
                <a:lnTo>
                  <a:pt x="3382561" y="0"/>
                </a:lnTo>
                <a:lnTo>
                  <a:pt x="3382561" y="1141614"/>
                </a:lnTo>
                <a:lnTo>
                  <a:pt x="0" y="1141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06161" y="3923589"/>
            <a:ext cx="6767756" cy="433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32"/>
              </a:lnSpc>
            </a:pPr>
            <a:r>
              <a:rPr lang="en-US" sz="10400">
                <a:solidFill>
                  <a:srgbClr val="16263C"/>
                </a:solidFill>
                <a:latin typeface="Arimo"/>
                <a:ea typeface="Arimo"/>
                <a:cs typeface="Arimo"/>
                <a:sym typeface="Arimo"/>
              </a:rPr>
              <a:t>Desafío 2:</a:t>
            </a:r>
            <a:r>
              <a:rPr lang="en-US" sz="10400">
                <a:solidFill>
                  <a:srgbClr val="4676BE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ctr">
              <a:lnSpc>
                <a:spcPts val="11232"/>
              </a:lnSpc>
            </a:pPr>
            <a:r>
              <a:rPr lang="en-US" b="true" sz="10400">
                <a:solidFill>
                  <a:srgbClr val="4676BE"/>
                </a:solidFill>
                <a:latin typeface="Arimo Bold"/>
                <a:ea typeface="Arimo Bold"/>
                <a:cs typeface="Arimo Bold"/>
                <a:sym typeface="Arimo Bold"/>
              </a:rPr>
              <a:t>R.A.T. Industries</a:t>
            </a:r>
          </a:p>
        </p:txBody>
      </p:sp>
      <p:pic>
        <p:nvPicPr>
          <p:cNvPr name="Picture 13" id="13">
            <a:hlinkClick action="ppaction://media"/>
          </p:cNvPr>
          <p:cNvPicPr>
            <a:picLocks noChangeAspect="true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>
                  <p14:trim st="0.0000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13"/>
                </p:tgtEl>
              </p:cBhvr>
            </p:cmd>
            <p:audio>
              <p:cMediaNode vol="128000" showWhenStopped="false">
                <p:cTn/>
                <p:tgtEl>
                  <p:spTgt spid="13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000" y="251100"/>
            <a:ext cx="17784000" cy="9784800"/>
            <a:chOff x="0" y="0"/>
            <a:chExt cx="23712000" cy="1304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2043" cy="13046456"/>
            </a:xfrm>
            <a:custGeom>
              <a:avLst/>
              <a:gdLst/>
              <a:ahLst/>
              <a:cxnLst/>
              <a:rect r="r" b="b" t="t" l="l"/>
              <a:pathLst>
                <a:path h="13046456" w="23712043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831672" y="2118114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20901">
            <a:off x="9806578" y="4945602"/>
            <a:ext cx="9514949" cy="7438960"/>
          </a:xfrm>
          <a:custGeom>
            <a:avLst/>
            <a:gdLst/>
            <a:ahLst/>
            <a:cxnLst/>
            <a:rect r="r" b="b" t="t" l="l"/>
            <a:pathLst>
              <a:path h="7438960" w="9514949">
                <a:moveTo>
                  <a:pt x="0" y="0"/>
                </a:moveTo>
                <a:lnTo>
                  <a:pt x="9514949" y="0"/>
                </a:lnTo>
                <a:lnTo>
                  <a:pt x="9514949" y="7438960"/>
                </a:lnTo>
                <a:lnTo>
                  <a:pt x="0" y="7438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99652" y="10035900"/>
            <a:ext cx="8892915" cy="699905"/>
          </a:xfrm>
          <a:custGeom>
            <a:avLst/>
            <a:gdLst/>
            <a:ahLst/>
            <a:cxnLst/>
            <a:rect r="r" b="b" t="t" l="l"/>
            <a:pathLst>
              <a:path h="699905" w="8892915">
                <a:moveTo>
                  <a:pt x="0" y="0"/>
                </a:moveTo>
                <a:lnTo>
                  <a:pt x="8892914" y="0"/>
                </a:lnTo>
                <a:lnTo>
                  <a:pt x="8892914" y="699905"/>
                </a:lnTo>
                <a:lnTo>
                  <a:pt x="0" y="6999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3939495" y="5490590"/>
            <a:ext cx="8892915" cy="699905"/>
          </a:xfrm>
          <a:custGeom>
            <a:avLst/>
            <a:gdLst/>
            <a:ahLst/>
            <a:cxnLst/>
            <a:rect r="r" b="b" t="t" l="l"/>
            <a:pathLst>
              <a:path h="699905" w="8892915">
                <a:moveTo>
                  <a:pt x="0" y="0"/>
                </a:moveTo>
                <a:lnTo>
                  <a:pt x="8892915" y="0"/>
                </a:lnTo>
                <a:lnTo>
                  <a:pt x="8892915" y="699905"/>
                </a:lnTo>
                <a:lnTo>
                  <a:pt x="0" y="6999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07744" y="7436571"/>
            <a:ext cx="1558651" cy="2077002"/>
          </a:xfrm>
          <a:custGeom>
            <a:avLst/>
            <a:gdLst/>
            <a:ahLst/>
            <a:cxnLst/>
            <a:rect r="r" b="b" t="t" l="l"/>
            <a:pathLst>
              <a:path h="2077002" w="1558651">
                <a:moveTo>
                  <a:pt x="0" y="0"/>
                </a:moveTo>
                <a:lnTo>
                  <a:pt x="1558651" y="0"/>
                </a:lnTo>
                <a:lnTo>
                  <a:pt x="1558651" y="2077002"/>
                </a:lnTo>
                <a:lnTo>
                  <a:pt x="0" y="20770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46109" y="6649736"/>
            <a:ext cx="1512383" cy="2015346"/>
          </a:xfrm>
          <a:custGeom>
            <a:avLst/>
            <a:gdLst/>
            <a:ahLst/>
            <a:cxnLst/>
            <a:rect r="r" b="b" t="t" l="l"/>
            <a:pathLst>
              <a:path h="2015346" w="1512383">
                <a:moveTo>
                  <a:pt x="0" y="0"/>
                </a:moveTo>
                <a:lnTo>
                  <a:pt x="1512383" y="0"/>
                </a:lnTo>
                <a:lnTo>
                  <a:pt x="1512383" y="2015346"/>
                </a:lnTo>
                <a:lnTo>
                  <a:pt x="0" y="20153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326894" y="6035458"/>
            <a:ext cx="701402" cy="70140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060015" y="6164041"/>
            <a:ext cx="398570" cy="39857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169261" y="5816313"/>
            <a:ext cx="1381620" cy="1841096"/>
          </a:xfrm>
          <a:custGeom>
            <a:avLst/>
            <a:gdLst/>
            <a:ahLst/>
            <a:cxnLst/>
            <a:rect r="r" b="b" t="t" l="l"/>
            <a:pathLst>
              <a:path h="1841096" w="1381620">
                <a:moveTo>
                  <a:pt x="0" y="0"/>
                </a:moveTo>
                <a:lnTo>
                  <a:pt x="1381619" y="0"/>
                </a:lnTo>
                <a:lnTo>
                  <a:pt x="1381619" y="1841096"/>
                </a:lnTo>
                <a:lnTo>
                  <a:pt x="0" y="18410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76286" y="3028259"/>
            <a:ext cx="7584000" cy="504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sz="2800">
                <a:solidFill>
                  <a:srgbClr val="2F2E48"/>
                </a:solidFill>
                <a:latin typeface="Arimo"/>
                <a:ea typeface="Arimo"/>
                <a:cs typeface="Arimo"/>
                <a:sym typeface="Arimo"/>
              </a:rPr>
              <a:t>Las carreras de ratones han caído en decadencia, y ya no es posible ganarse la vida como piloto. Como resultado, muchos ratones que alguna vez soñaron con conducir a máxima velocidad se vieron obligados a abandonar su sueño y comenzar a trabajar para grandes empresas como </a:t>
            </a:r>
            <a:r>
              <a:rPr lang="en-US" sz="2800" i="true">
                <a:solidFill>
                  <a:srgbClr val="2F2E48"/>
                </a:solidFill>
                <a:latin typeface="Arimo Italics"/>
                <a:ea typeface="Arimo Italics"/>
                <a:cs typeface="Arimo Italics"/>
                <a:sym typeface="Arimo Italics"/>
              </a:rPr>
              <a:t>R.A.T Industries</a:t>
            </a:r>
            <a:r>
              <a:rPr lang="en-US" sz="2800">
                <a:solidFill>
                  <a:srgbClr val="2F2E48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</a:p>
          <a:p>
            <a:pPr algn="just">
              <a:lnSpc>
                <a:spcPts val="3360"/>
              </a:lnSpc>
              <a:spcBef>
                <a:spcPct val="0"/>
              </a:spcBef>
            </a:pPr>
          </a:p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sz="2800">
                <a:solidFill>
                  <a:srgbClr val="2F2E48"/>
                </a:solidFill>
                <a:latin typeface="Arimo"/>
                <a:ea typeface="Arimo"/>
                <a:cs typeface="Arimo"/>
                <a:sym typeface="Arimo"/>
              </a:rPr>
              <a:t>Ante la creciente carga de trabajo, la compañía busca implementar un método eficiente que permita clasificar rápidamente los distintos productos que envían.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9834" y="1383308"/>
            <a:ext cx="15225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4676BE"/>
                </a:solidFill>
                <a:latin typeface="Arimo"/>
                <a:ea typeface="Arimo"/>
                <a:cs typeface="Arimo"/>
                <a:sym typeface="Arimo"/>
              </a:rPr>
              <a:t>Contexto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000" y="251100"/>
            <a:ext cx="17784000" cy="9784800"/>
            <a:chOff x="0" y="0"/>
            <a:chExt cx="23712000" cy="1304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2043" cy="13046456"/>
            </a:xfrm>
            <a:custGeom>
              <a:avLst/>
              <a:gdLst/>
              <a:ahLst/>
              <a:cxnLst/>
              <a:rect r="r" b="b" t="t" l="l"/>
              <a:pathLst>
                <a:path h="13046456" w="23712043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531425" y="3738408"/>
          <a:ext cx="8821419" cy="4044950"/>
        </p:xfrm>
        <a:graphic>
          <a:graphicData uri="http://schemas.openxmlformats.org/drawingml/2006/table">
            <a:tbl>
              <a:tblPr/>
              <a:tblGrid>
                <a:gridCol w="4490083"/>
                <a:gridCol w="4331336"/>
              </a:tblGrid>
              <a:tr h="6348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6263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Criterio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6263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Puntaje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</a:tr>
              <a:tr h="6348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b="true" sz="1900" u="none">
                          <a:solidFill>
                            <a:srgbClr val="16263C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</a:t>
                      </a:r>
                      <a:r>
                        <a:rPr lang="en-US" b="true" sz="1900" u="none">
                          <a:solidFill>
                            <a:srgbClr val="16263C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alibración correcta del sensor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626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PTO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8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b="true" sz="1900" u="none">
                          <a:solidFill>
                            <a:srgbClr val="16263C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Detecció</a:t>
                      </a:r>
                      <a:r>
                        <a:rPr lang="en-US" b="true" sz="1900" u="none">
                          <a:solidFill>
                            <a:srgbClr val="16263C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 de colores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626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1.5 PTOS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b="true" sz="1900" u="none">
                          <a:solidFill>
                            <a:srgbClr val="16263C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</a:t>
                      </a:r>
                      <a:r>
                        <a:rPr lang="en-US" b="true" sz="1900" u="none">
                          <a:solidFill>
                            <a:srgbClr val="16263C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ovimiento correa transportadora </a:t>
                      </a:r>
                      <a:r>
                        <a:rPr lang="en-US" b="true" sz="1900">
                          <a:solidFill>
                            <a:srgbClr val="16263C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y servos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626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PTO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8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6263C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Clasificación de R.E.P.O.S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626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1.5 PTO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8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6263C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</a:t>
                      </a:r>
                      <a:r>
                        <a:rPr lang="en-US" b="true" sz="1900">
                          <a:solidFill>
                            <a:srgbClr val="16263C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iagrama simple del sistema*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16263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 PTO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676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5464850" y="2230605"/>
            <a:ext cx="13766084" cy="7588554"/>
          </a:xfrm>
          <a:custGeom>
            <a:avLst/>
            <a:gdLst/>
            <a:ahLst/>
            <a:cxnLst/>
            <a:rect r="r" b="b" t="t" l="l"/>
            <a:pathLst>
              <a:path h="7588554" w="13766084">
                <a:moveTo>
                  <a:pt x="0" y="0"/>
                </a:moveTo>
                <a:lnTo>
                  <a:pt x="13766084" y="0"/>
                </a:lnTo>
                <a:lnTo>
                  <a:pt x="13766084" y="7588554"/>
                </a:lnTo>
                <a:lnTo>
                  <a:pt x="0" y="7588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1425" y="2240130"/>
            <a:ext cx="152280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626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</a:t>
            </a:r>
            <a:r>
              <a:rPr lang="en-US" b="true" sz="2400">
                <a:solidFill>
                  <a:srgbClr val="1626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objetivo es clasificar los R.E.P.O.S según su color, de modo que cada uno caiga en el cajón correspondiente.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1425" y="1141850"/>
            <a:ext cx="15225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4676BE"/>
                </a:solidFill>
                <a:latin typeface="Arimo"/>
                <a:ea typeface="Arimo"/>
                <a:cs typeface="Arimo"/>
                <a:sym typeface="Arimo"/>
              </a:rPr>
              <a:t>Desafío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1425" y="8543925"/>
            <a:ext cx="15228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626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(*) Abriremos una tarea para que suban el diagrama.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000" y="251100"/>
            <a:ext cx="17784000" cy="9784800"/>
            <a:chOff x="0" y="0"/>
            <a:chExt cx="23712000" cy="1304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2043" cy="13046456"/>
            </a:xfrm>
            <a:custGeom>
              <a:avLst/>
              <a:gdLst/>
              <a:ahLst/>
              <a:cxnLst/>
              <a:rect r="r" b="b" t="t" l="l"/>
              <a:pathLst>
                <a:path h="13046456" w="23712043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>
            <a:hlinkClick r:id="rId5" tooltip="https://cursos.mcielectronics.cl/2022/12/26/interfaz-del-sensor-de-color-tcs230-tcs3200-con-arduino"/>
          </p:cNvPr>
          <p:cNvSpPr/>
          <p:nvPr/>
        </p:nvSpPr>
        <p:spPr>
          <a:xfrm flipH="false" flipV="false" rot="0">
            <a:off x="6806011" y="2458188"/>
            <a:ext cx="821475" cy="821475"/>
          </a:xfrm>
          <a:custGeom>
            <a:avLst/>
            <a:gdLst/>
            <a:ahLst/>
            <a:cxnLst/>
            <a:rect r="r" b="b" t="t" l="l"/>
            <a:pathLst>
              <a:path h="821475" w="821475">
                <a:moveTo>
                  <a:pt x="0" y="0"/>
                </a:moveTo>
                <a:lnTo>
                  <a:pt x="821474" y="0"/>
                </a:lnTo>
                <a:lnTo>
                  <a:pt x="821474" y="821474"/>
                </a:lnTo>
                <a:lnTo>
                  <a:pt x="0" y="8214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4287" y="2458188"/>
            <a:ext cx="440187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5F7D9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3600">
                <a:solidFill>
                  <a:srgbClr val="5F7D9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ensor TCS3200</a:t>
            </a:r>
            <a:r>
              <a:rPr lang="en-US" b="true" sz="3600">
                <a:solidFill>
                  <a:srgbClr val="5F7D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1425" y="1141850"/>
            <a:ext cx="15225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4676BE"/>
                </a:solidFill>
                <a:latin typeface="Arimo"/>
                <a:ea typeface="Arimo"/>
                <a:cs typeface="Arimo"/>
                <a:sym typeface="Arimo"/>
              </a:rPr>
              <a:t>HINTS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8575" y="3325524"/>
            <a:ext cx="672945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16263C"/>
                </a:solidFill>
                <a:latin typeface="Montserrat"/>
                <a:ea typeface="Montserrat"/>
                <a:cs typeface="Montserrat"/>
                <a:sym typeface="Montserrat"/>
              </a:rPr>
              <a:t>El TCS3200 </a:t>
            </a:r>
            <a:r>
              <a:rPr lang="en-US" sz="2400">
                <a:solidFill>
                  <a:srgbClr val="16263C"/>
                </a:solidFill>
                <a:latin typeface="Montserrat"/>
                <a:ea typeface="Montserrat"/>
                <a:cs typeface="Montserrat"/>
                <a:sym typeface="Montserrat"/>
              </a:rPr>
              <a:t>es un sensor de color basado en un fotodiodo capaz de detectar la intensidad de luz en los colores rojo, verde y azul.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065985" y="1471775"/>
            <a:ext cx="6690590" cy="3058675"/>
          </a:xfrm>
          <a:custGeom>
            <a:avLst/>
            <a:gdLst/>
            <a:ahLst/>
            <a:cxnLst/>
            <a:rect r="r" b="b" t="t" l="l"/>
            <a:pathLst>
              <a:path h="3058675" w="6690590">
                <a:moveTo>
                  <a:pt x="0" y="0"/>
                </a:moveTo>
                <a:lnTo>
                  <a:pt x="6690590" y="0"/>
                </a:lnTo>
                <a:lnTo>
                  <a:pt x="6690590" y="3058675"/>
                </a:lnTo>
                <a:lnTo>
                  <a:pt x="0" y="30586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58" b="-2920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74287" y="5532872"/>
            <a:ext cx="39630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5F7D9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Funcionamiento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4287" y="6123422"/>
            <a:ext cx="6683738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16263C"/>
                </a:solidFill>
                <a:latin typeface="Montserrat"/>
                <a:ea typeface="Montserrat"/>
                <a:cs typeface="Montserrat"/>
                <a:sym typeface="Montserrat"/>
              </a:rPr>
              <a:t>El s</a:t>
            </a:r>
            <a:r>
              <a:rPr lang="en-US" sz="2400">
                <a:solidFill>
                  <a:srgbClr val="16263C"/>
                </a:solidFill>
                <a:latin typeface="Montserrat"/>
                <a:ea typeface="Montserrat"/>
                <a:cs typeface="Montserrat"/>
                <a:sym typeface="Montserrat"/>
              </a:rPr>
              <a:t>ensor cuenta con dos parámetros configurables: la</a:t>
            </a:r>
            <a:r>
              <a:rPr lang="en-US" b="true" sz="2400">
                <a:solidFill>
                  <a:srgbClr val="1626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selección de fotodiodos</a:t>
            </a:r>
            <a:r>
              <a:rPr lang="en-US" sz="2400">
                <a:solidFill>
                  <a:srgbClr val="16263C"/>
                </a:solidFill>
                <a:latin typeface="Montserrat"/>
                <a:ea typeface="Montserrat"/>
                <a:cs typeface="Montserrat"/>
                <a:sym typeface="Montserrat"/>
              </a:rPr>
              <a:t>, que determina qué componente del color se desea medir (rojo, verde o azul), y la </a:t>
            </a:r>
            <a:r>
              <a:rPr lang="en-US" b="true" sz="2400">
                <a:solidFill>
                  <a:srgbClr val="1626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frecuencia de salida</a:t>
            </a:r>
            <a:r>
              <a:rPr lang="en-US" sz="2400">
                <a:solidFill>
                  <a:srgbClr val="16263C"/>
                </a:solidFill>
                <a:latin typeface="Montserrat"/>
                <a:ea typeface="Montserrat"/>
                <a:cs typeface="Montserrat"/>
                <a:sym typeface="Montserrat"/>
              </a:rPr>
              <a:t> de la señal, la cual afecta la sensibilidad y el tiempo de respuesta del sensor.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9144000" y="4924589"/>
          <a:ext cx="4100139" cy="4005959"/>
        </p:xfrm>
        <a:graphic>
          <a:graphicData uri="http://schemas.openxmlformats.org/drawingml/2006/table">
            <a:tbl>
              <a:tblPr/>
              <a:tblGrid>
                <a:gridCol w="752564"/>
                <a:gridCol w="808052"/>
                <a:gridCol w="2539522"/>
              </a:tblGrid>
              <a:tr h="1403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S0  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S1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Escalado de frecuencia de Salida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</a:tr>
              <a:tr h="7088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APAGADO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2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2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20%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2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3588446" y="4922118"/>
          <a:ext cx="4060121" cy="4008429"/>
        </p:xfrm>
        <a:graphic>
          <a:graphicData uri="http://schemas.openxmlformats.org/drawingml/2006/table">
            <a:tbl>
              <a:tblPr/>
              <a:tblGrid>
                <a:gridCol w="1087277"/>
                <a:gridCol w="1119306"/>
                <a:gridCol w="1853538"/>
              </a:tblGrid>
              <a:tr h="1353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S2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S3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Tipo de fotodiodo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</a:tr>
              <a:tr h="5633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Rojo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72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Azul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72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Sin filtro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72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Verde</a:t>
                      </a:r>
                      <a:endParaRPr lang="en-US" sz="1100"/>
                    </a:p>
                  </a:txBody>
                  <a:tcPr marL="28575" marR="28575" marT="28575" marB="28575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000" y="251100"/>
            <a:ext cx="17784000" cy="9784800"/>
            <a:chOff x="0" y="0"/>
            <a:chExt cx="23712000" cy="1304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2043" cy="13046456"/>
            </a:xfrm>
            <a:custGeom>
              <a:avLst/>
              <a:gdLst/>
              <a:ahLst/>
              <a:cxnLst/>
              <a:rect r="r" b="b" t="t" l="l"/>
              <a:pathLst>
                <a:path h="13046456" w="23712043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08042" y="617361"/>
            <a:ext cx="6621195" cy="9418539"/>
          </a:xfrm>
          <a:custGeom>
            <a:avLst/>
            <a:gdLst/>
            <a:ahLst/>
            <a:cxnLst/>
            <a:rect r="r" b="b" t="t" l="l"/>
            <a:pathLst>
              <a:path h="9418539" w="6621195">
                <a:moveTo>
                  <a:pt x="0" y="0"/>
                </a:moveTo>
                <a:lnTo>
                  <a:pt x="6621195" y="0"/>
                </a:lnTo>
                <a:lnTo>
                  <a:pt x="6621195" y="9418539"/>
                </a:lnTo>
                <a:lnTo>
                  <a:pt x="0" y="94185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88575" y="4852386"/>
            <a:ext cx="14234618" cy="1399756"/>
            <a:chOff x="0" y="0"/>
            <a:chExt cx="3749035" cy="3686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49035" cy="368660"/>
            </a:xfrm>
            <a:custGeom>
              <a:avLst/>
              <a:gdLst/>
              <a:ahLst/>
              <a:cxnLst/>
              <a:rect r="r" b="b" t="t" l="l"/>
              <a:pathLst>
                <a:path h="368660" w="3749035">
                  <a:moveTo>
                    <a:pt x="27738" y="0"/>
                  </a:moveTo>
                  <a:lnTo>
                    <a:pt x="3721297" y="0"/>
                  </a:lnTo>
                  <a:cubicBezTo>
                    <a:pt x="3736616" y="0"/>
                    <a:pt x="3749035" y="12419"/>
                    <a:pt x="3749035" y="27738"/>
                  </a:cubicBezTo>
                  <a:lnTo>
                    <a:pt x="3749035" y="340922"/>
                  </a:lnTo>
                  <a:cubicBezTo>
                    <a:pt x="3749035" y="356241"/>
                    <a:pt x="3736616" y="368660"/>
                    <a:pt x="3721297" y="368660"/>
                  </a:cubicBezTo>
                  <a:lnTo>
                    <a:pt x="27738" y="368660"/>
                  </a:lnTo>
                  <a:cubicBezTo>
                    <a:pt x="12419" y="368660"/>
                    <a:pt x="0" y="356241"/>
                    <a:pt x="0" y="340922"/>
                  </a:cubicBezTo>
                  <a:lnTo>
                    <a:pt x="0" y="27738"/>
                  </a:lnTo>
                  <a:cubicBezTo>
                    <a:pt x="0" y="12419"/>
                    <a:pt x="12419" y="0"/>
                    <a:pt x="27738" y="0"/>
                  </a:cubicBezTo>
                  <a:close/>
                </a:path>
              </a:pathLst>
            </a:custGeom>
            <a:solidFill>
              <a:srgbClr val="D1DEF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749035" cy="368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  <a:r>
                <a:rPr lang="en-US" b="true" sz="2699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Elegir una</a:t>
              </a:r>
              <a:r>
                <a:rPr lang="en-US" b="true" sz="26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frecuencia de salida </a:t>
              </a:r>
              <a:r>
                <a:rPr lang="en-US" b="true" sz="2699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del sensor (2%, 20% o 100%). Un 20% es el estándar.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88575" y="6740200"/>
            <a:ext cx="14234618" cy="2189005"/>
            <a:chOff x="0" y="0"/>
            <a:chExt cx="3749035" cy="5765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49035" cy="576528"/>
            </a:xfrm>
            <a:custGeom>
              <a:avLst/>
              <a:gdLst/>
              <a:ahLst/>
              <a:cxnLst/>
              <a:rect r="r" b="b" t="t" l="l"/>
              <a:pathLst>
                <a:path h="576528" w="3749035">
                  <a:moveTo>
                    <a:pt x="27738" y="0"/>
                  </a:moveTo>
                  <a:lnTo>
                    <a:pt x="3721297" y="0"/>
                  </a:lnTo>
                  <a:cubicBezTo>
                    <a:pt x="3736616" y="0"/>
                    <a:pt x="3749035" y="12419"/>
                    <a:pt x="3749035" y="27738"/>
                  </a:cubicBezTo>
                  <a:lnTo>
                    <a:pt x="3749035" y="548790"/>
                  </a:lnTo>
                  <a:cubicBezTo>
                    <a:pt x="3749035" y="556147"/>
                    <a:pt x="3746113" y="563202"/>
                    <a:pt x="3740911" y="568404"/>
                  </a:cubicBezTo>
                  <a:cubicBezTo>
                    <a:pt x="3735709" y="573606"/>
                    <a:pt x="3728654" y="576528"/>
                    <a:pt x="3721297" y="576528"/>
                  </a:cubicBezTo>
                  <a:lnTo>
                    <a:pt x="27738" y="576528"/>
                  </a:lnTo>
                  <a:cubicBezTo>
                    <a:pt x="12419" y="576528"/>
                    <a:pt x="0" y="564109"/>
                    <a:pt x="0" y="548790"/>
                  </a:cubicBezTo>
                  <a:lnTo>
                    <a:pt x="0" y="27738"/>
                  </a:lnTo>
                  <a:cubicBezTo>
                    <a:pt x="0" y="12419"/>
                    <a:pt x="12419" y="0"/>
                    <a:pt x="27738" y="0"/>
                  </a:cubicBezTo>
                  <a:close/>
                </a:path>
              </a:pathLst>
            </a:custGeom>
            <a:solidFill>
              <a:srgbClr val="D1DEF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3749035" cy="576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  <a:r>
                <a:rPr lang="en-US" b="true" sz="26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Calibrar el sensor</a:t>
              </a:r>
              <a:r>
                <a:rPr lang="en-US" b="true" sz="2699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utilizando el código Calibration_TCS3200. Para ello, es necesario obtener los valores mínimos y máximos de cada componente del color RGB. Se recomienda probar el sensor en una superficie blanco y en una negra para establecer los valores extremos.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400888" y="1459721"/>
            <a:ext cx="1435829" cy="1435829"/>
          </a:xfrm>
          <a:custGeom>
            <a:avLst/>
            <a:gdLst/>
            <a:ahLst/>
            <a:cxnLst/>
            <a:rect r="r" b="b" t="t" l="l"/>
            <a:pathLst>
              <a:path h="1435829" w="1435829">
                <a:moveTo>
                  <a:pt x="0" y="0"/>
                </a:moveTo>
                <a:lnTo>
                  <a:pt x="1435829" y="0"/>
                </a:lnTo>
                <a:lnTo>
                  <a:pt x="1435829" y="1435829"/>
                </a:lnTo>
                <a:lnTo>
                  <a:pt x="0" y="14358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4569584" y="1167986"/>
            <a:ext cx="1515350" cy="2019300"/>
          </a:xfrm>
          <a:custGeom>
            <a:avLst/>
            <a:gdLst/>
            <a:ahLst/>
            <a:cxnLst/>
            <a:rect r="r" b="b" t="t" l="l"/>
            <a:pathLst>
              <a:path h="2019300" w="1515350">
                <a:moveTo>
                  <a:pt x="1515350" y="0"/>
                </a:moveTo>
                <a:lnTo>
                  <a:pt x="0" y="0"/>
                </a:lnTo>
                <a:lnTo>
                  <a:pt x="0" y="2019300"/>
                </a:lnTo>
                <a:lnTo>
                  <a:pt x="1515350" y="2019300"/>
                </a:lnTo>
                <a:lnTo>
                  <a:pt x="151535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836717" y="864873"/>
            <a:ext cx="1569968" cy="1121813"/>
          </a:xfrm>
          <a:custGeom>
            <a:avLst/>
            <a:gdLst/>
            <a:ahLst/>
            <a:cxnLst/>
            <a:rect r="r" b="b" t="t" l="l"/>
            <a:pathLst>
              <a:path h="1121813" w="1569968">
                <a:moveTo>
                  <a:pt x="0" y="0"/>
                </a:moveTo>
                <a:lnTo>
                  <a:pt x="1569968" y="0"/>
                </a:lnTo>
                <a:lnTo>
                  <a:pt x="1569968" y="1121813"/>
                </a:lnTo>
                <a:lnTo>
                  <a:pt x="0" y="11218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31425" y="4968614"/>
            <a:ext cx="1257150" cy="113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4676BE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1425" y="7251052"/>
            <a:ext cx="1257150" cy="113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4676BE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1425" y="2505075"/>
            <a:ext cx="876208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5F7D9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Paso previos para utilizar el sensor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31425" y="3390850"/>
            <a:ext cx="15727875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Antes de utilizar el sensor es necesario calibrarlo, para eso es necesario realizar los siguientes pasos: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000" y="251100"/>
            <a:ext cx="17784000" cy="9784800"/>
            <a:chOff x="0" y="0"/>
            <a:chExt cx="23712000" cy="1304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2043" cy="13046456"/>
            </a:xfrm>
            <a:custGeom>
              <a:avLst/>
              <a:gdLst/>
              <a:ahLst/>
              <a:cxnLst/>
              <a:rect r="r" b="b" t="t" l="l"/>
              <a:pathLst>
                <a:path h="13046456" w="23712043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34779" y="2406097"/>
            <a:ext cx="10342209" cy="1399756"/>
            <a:chOff x="0" y="0"/>
            <a:chExt cx="2723874" cy="368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23874" cy="368660"/>
            </a:xfrm>
            <a:custGeom>
              <a:avLst/>
              <a:gdLst/>
              <a:ahLst/>
              <a:cxnLst/>
              <a:rect r="r" b="b" t="t" l="l"/>
              <a:pathLst>
                <a:path h="368660" w="2723874">
                  <a:moveTo>
                    <a:pt x="38177" y="0"/>
                  </a:moveTo>
                  <a:lnTo>
                    <a:pt x="2685697" y="0"/>
                  </a:lnTo>
                  <a:cubicBezTo>
                    <a:pt x="2706781" y="0"/>
                    <a:pt x="2723874" y="17093"/>
                    <a:pt x="2723874" y="38177"/>
                  </a:cubicBezTo>
                  <a:lnTo>
                    <a:pt x="2723874" y="330483"/>
                  </a:lnTo>
                  <a:cubicBezTo>
                    <a:pt x="2723874" y="351567"/>
                    <a:pt x="2706781" y="368660"/>
                    <a:pt x="2685697" y="368660"/>
                  </a:cubicBezTo>
                  <a:lnTo>
                    <a:pt x="38177" y="368660"/>
                  </a:lnTo>
                  <a:cubicBezTo>
                    <a:pt x="17093" y="368660"/>
                    <a:pt x="0" y="351567"/>
                    <a:pt x="0" y="330483"/>
                  </a:cubicBezTo>
                  <a:lnTo>
                    <a:pt x="0" y="38177"/>
                  </a:lnTo>
                  <a:cubicBezTo>
                    <a:pt x="0" y="17093"/>
                    <a:pt x="17093" y="0"/>
                    <a:pt x="38177" y="0"/>
                  </a:cubicBezTo>
                  <a:close/>
                </a:path>
              </a:pathLst>
            </a:custGeom>
            <a:solidFill>
              <a:srgbClr val="D1DEF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723874" cy="368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Realizar </a:t>
              </a:r>
              <a:r>
                <a:rPr lang="en-US" b="true" sz="26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conexiones del sensor en la PCB </a:t>
              </a:r>
              <a:r>
                <a:rPr lang="en-US" sz="26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 la zona que se ve indicada en la placa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783475">
            <a:off x="1981208" y="2076093"/>
            <a:ext cx="2027188" cy="2352222"/>
          </a:xfrm>
          <a:custGeom>
            <a:avLst/>
            <a:gdLst/>
            <a:ahLst/>
            <a:cxnLst/>
            <a:rect r="r" b="b" t="t" l="l"/>
            <a:pathLst>
              <a:path h="2352222" w="2027188">
                <a:moveTo>
                  <a:pt x="0" y="0"/>
                </a:moveTo>
                <a:lnTo>
                  <a:pt x="2027188" y="0"/>
                </a:lnTo>
                <a:lnTo>
                  <a:pt x="2027188" y="2352223"/>
                </a:lnTo>
                <a:lnTo>
                  <a:pt x="0" y="2352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2213704"/>
            <a:ext cx="1558651" cy="2077002"/>
          </a:xfrm>
          <a:custGeom>
            <a:avLst/>
            <a:gdLst/>
            <a:ahLst/>
            <a:cxnLst/>
            <a:rect r="r" b="b" t="t" l="l"/>
            <a:pathLst>
              <a:path h="2077002" w="1558651">
                <a:moveTo>
                  <a:pt x="0" y="0"/>
                </a:moveTo>
                <a:lnTo>
                  <a:pt x="1558651" y="0"/>
                </a:lnTo>
                <a:lnTo>
                  <a:pt x="1558651" y="2077001"/>
                </a:lnTo>
                <a:lnTo>
                  <a:pt x="0" y="20770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13711" y="4290705"/>
            <a:ext cx="10984347" cy="5167024"/>
          </a:xfrm>
          <a:custGeom>
            <a:avLst/>
            <a:gdLst/>
            <a:ahLst/>
            <a:cxnLst/>
            <a:rect r="r" b="b" t="t" l="l"/>
            <a:pathLst>
              <a:path h="5167024" w="10984347">
                <a:moveTo>
                  <a:pt x="0" y="0"/>
                </a:moveTo>
                <a:lnTo>
                  <a:pt x="10984346" y="0"/>
                </a:lnTo>
                <a:lnTo>
                  <a:pt x="10984346" y="5167024"/>
                </a:lnTo>
                <a:lnTo>
                  <a:pt x="0" y="516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872" t="-26671" r="-10399" b="-17788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381266" y="8232127"/>
            <a:ext cx="1639845" cy="1026173"/>
            <a:chOff x="0" y="0"/>
            <a:chExt cx="431893" cy="2702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1893" cy="270268"/>
            </a:xfrm>
            <a:custGeom>
              <a:avLst/>
              <a:gdLst/>
              <a:ahLst/>
              <a:cxnLst/>
              <a:rect r="r" b="b" t="t" l="l"/>
              <a:pathLst>
                <a:path h="270268" w="431893">
                  <a:moveTo>
                    <a:pt x="0" y="0"/>
                  </a:moveTo>
                  <a:lnTo>
                    <a:pt x="431893" y="0"/>
                  </a:lnTo>
                  <a:lnTo>
                    <a:pt x="431893" y="270268"/>
                  </a:lnTo>
                  <a:lnTo>
                    <a:pt x="0" y="270268"/>
                  </a:lnTo>
                  <a:close/>
                </a:path>
              </a:pathLst>
            </a:custGeom>
            <a:ln w="571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1893" cy="308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2147318">
            <a:off x="2801625" y="2407046"/>
            <a:ext cx="1257150" cy="113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4676BE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1425" y="785301"/>
            <a:ext cx="15225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4676BE"/>
                </a:solidFill>
                <a:latin typeface="Arimo"/>
                <a:ea typeface="Arimo"/>
                <a:cs typeface="Arimo"/>
                <a:sym typeface="Arimo"/>
              </a:rPr>
              <a:t>Pasos generales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941123" y="8232127"/>
            <a:ext cx="505174" cy="513087"/>
            <a:chOff x="0" y="0"/>
            <a:chExt cx="133050" cy="1351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3050" cy="135134"/>
            </a:xfrm>
            <a:custGeom>
              <a:avLst/>
              <a:gdLst/>
              <a:ahLst/>
              <a:cxnLst/>
              <a:rect r="r" b="b" t="t" l="l"/>
              <a:pathLst>
                <a:path h="135134" w="133050">
                  <a:moveTo>
                    <a:pt x="0" y="0"/>
                  </a:moveTo>
                  <a:lnTo>
                    <a:pt x="133050" y="0"/>
                  </a:lnTo>
                  <a:lnTo>
                    <a:pt x="133050" y="135134"/>
                  </a:lnTo>
                  <a:lnTo>
                    <a:pt x="0" y="135134"/>
                  </a:lnTo>
                  <a:close/>
                </a:path>
              </a:pathLst>
            </a:custGeom>
            <a:ln w="571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3050" cy="173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889213" y="8919910"/>
            <a:ext cx="608995" cy="338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9"/>
              </a:lnSpc>
              <a:spcBef>
                <a:spcPct val="0"/>
              </a:spcBef>
            </a:pPr>
            <a:r>
              <a:rPr lang="en-US" sz="2157">
                <a:solidFill>
                  <a:srgbClr val="FF3131"/>
                </a:solidFill>
                <a:latin typeface="Arimo"/>
                <a:ea typeface="Arimo"/>
                <a:cs typeface="Arimo"/>
                <a:sym typeface="Arimo"/>
              </a:rPr>
              <a:t>GND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000" y="251100"/>
            <a:ext cx="17784000" cy="9784800"/>
            <a:chOff x="0" y="0"/>
            <a:chExt cx="23712000" cy="1304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2043" cy="13046456"/>
            </a:xfrm>
            <a:custGeom>
              <a:avLst/>
              <a:gdLst/>
              <a:ahLst/>
              <a:cxnLst/>
              <a:rect r="r" b="b" t="t" l="l"/>
              <a:pathLst>
                <a:path h="13046456" w="23712043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30007" y="1423125"/>
            <a:ext cx="10342209" cy="1399756"/>
            <a:chOff x="0" y="0"/>
            <a:chExt cx="2723874" cy="368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23874" cy="368660"/>
            </a:xfrm>
            <a:custGeom>
              <a:avLst/>
              <a:gdLst/>
              <a:ahLst/>
              <a:cxnLst/>
              <a:rect r="r" b="b" t="t" l="l"/>
              <a:pathLst>
                <a:path h="368660" w="2723874">
                  <a:moveTo>
                    <a:pt x="38177" y="0"/>
                  </a:moveTo>
                  <a:lnTo>
                    <a:pt x="2685697" y="0"/>
                  </a:lnTo>
                  <a:cubicBezTo>
                    <a:pt x="2706781" y="0"/>
                    <a:pt x="2723874" y="17093"/>
                    <a:pt x="2723874" y="38177"/>
                  </a:cubicBezTo>
                  <a:lnTo>
                    <a:pt x="2723874" y="330483"/>
                  </a:lnTo>
                  <a:cubicBezTo>
                    <a:pt x="2723874" y="351567"/>
                    <a:pt x="2706781" y="368660"/>
                    <a:pt x="2685697" y="368660"/>
                  </a:cubicBezTo>
                  <a:lnTo>
                    <a:pt x="38177" y="368660"/>
                  </a:lnTo>
                  <a:cubicBezTo>
                    <a:pt x="17093" y="368660"/>
                    <a:pt x="0" y="351567"/>
                    <a:pt x="0" y="330483"/>
                  </a:cubicBezTo>
                  <a:lnTo>
                    <a:pt x="0" y="38177"/>
                  </a:lnTo>
                  <a:cubicBezTo>
                    <a:pt x="0" y="17093"/>
                    <a:pt x="17093" y="0"/>
                    <a:pt x="38177" y="0"/>
                  </a:cubicBezTo>
                  <a:close/>
                </a:path>
              </a:pathLst>
            </a:custGeom>
            <a:solidFill>
              <a:srgbClr val="D1DEF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723874" cy="368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Prueba y programación del sensor (detección de colores)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783475">
            <a:off x="2233962" y="1090354"/>
            <a:ext cx="2027188" cy="2352222"/>
          </a:xfrm>
          <a:custGeom>
            <a:avLst/>
            <a:gdLst/>
            <a:ahLst/>
            <a:cxnLst/>
            <a:rect r="r" b="b" t="t" l="l"/>
            <a:pathLst>
              <a:path h="2352222" w="2027188">
                <a:moveTo>
                  <a:pt x="0" y="0"/>
                </a:moveTo>
                <a:lnTo>
                  <a:pt x="2027188" y="0"/>
                </a:lnTo>
                <a:lnTo>
                  <a:pt x="2027188" y="2352222"/>
                </a:lnTo>
                <a:lnTo>
                  <a:pt x="0" y="2352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2147318">
            <a:off x="3054378" y="1519181"/>
            <a:ext cx="1257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4676BE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2438" y="1869136"/>
            <a:ext cx="1435829" cy="1435829"/>
          </a:xfrm>
          <a:custGeom>
            <a:avLst/>
            <a:gdLst/>
            <a:ahLst/>
            <a:cxnLst/>
            <a:rect r="r" b="b" t="t" l="l"/>
            <a:pathLst>
              <a:path h="1435829" w="1435829">
                <a:moveTo>
                  <a:pt x="0" y="0"/>
                </a:moveTo>
                <a:lnTo>
                  <a:pt x="1435829" y="0"/>
                </a:lnTo>
                <a:lnTo>
                  <a:pt x="1435829" y="1435829"/>
                </a:lnTo>
                <a:lnTo>
                  <a:pt x="0" y="14358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063357" y="4217998"/>
            <a:ext cx="10342209" cy="1399756"/>
            <a:chOff x="0" y="0"/>
            <a:chExt cx="2723874" cy="3686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23874" cy="368660"/>
            </a:xfrm>
            <a:custGeom>
              <a:avLst/>
              <a:gdLst/>
              <a:ahLst/>
              <a:cxnLst/>
              <a:rect r="r" b="b" t="t" l="l"/>
              <a:pathLst>
                <a:path h="368660" w="2723874">
                  <a:moveTo>
                    <a:pt x="38177" y="0"/>
                  </a:moveTo>
                  <a:lnTo>
                    <a:pt x="2685697" y="0"/>
                  </a:lnTo>
                  <a:cubicBezTo>
                    <a:pt x="2706781" y="0"/>
                    <a:pt x="2723874" y="17093"/>
                    <a:pt x="2723874" y="38177"/>
                  </a:cubicBezTo>
                  <a:lnTo>
                    <a:pt x="2723874" y="330483"/>
                  </a:lnTo>
                  <a:cubicBezTo>
                    <a:pt x="2723874" y="351567"/>
                    <a:pt x="2706781" y="368660"/>
                    <a:pt x="2685697" y="368660"/>
                  </a:cubicBezTo>
                  <a:lnTo>
                    <a:pt x="38177" y="368660"/>
                  </a:lnTo>
                  <a:cubicBezTo>
                    <a:pt x="17093" y="368660"/>
                    <a:pt x="0" y="351567"/>
                    <a:pt x="0" y="330483"/>
                  </a:cubicBezTo>
                  <a:lnTo>
                    <a:pt x="0" y="38177"/>
                  </a:lnTo>
                  <a:cubicBezTo>
                    <a:pt x="0" y="17093"/>
                    <a:pt x="17093" y="0"/>
                    <a:pt x="38177" y="0"/>
                  </a:cubicBezTo>
                  <a:close/>
                </a:path>
              </a:pathLst>
            </a:custGeom>
            <a:solidFill>
              <a:srgbClr val="D1DEF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723874" cy="368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Realizar </a:t>
              </a:r>
              <a:r>
                <a:rPr lang="en-US" b="true" sz="26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conexiones de servomotores y clasificar.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1783475">
            <a:off x="2233962" y="3967389"/>
            <a:ext cx="2027188" cy="2352222"/>
          </a:xfrm>
          <a:custGeom>
            <a:avLst/>
            <a:gdLst/>
            <a:ahLst/>
            <a:cxnLst/>
            <a:rect r="r" b="b" t="t" l="l"/>
            <a:pathLst>
              <a:path h="2352222" w="2027188">
                <a:moveTo>
                  <a:pt x="0" y="0"/>
                </a:moveTo>
                <a:lnTo>
                  <a:pt x="2027188" y="0"/>
                </a:lnTo>
                <a:lnTo>
                  <a:pt x="2027188" y="2352222"/>
                </a:lnTo>
                <a:lnTo>
                  <a:pt x="0" y="2352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2147318">
            <a:off x="3054378" y="4396216"/>
            <a:ext cx="1257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4676BE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28700" y="4450778"/>
            <a:ext cx="1512383" cy="2015346"/>
          </a:xfrm>
          <a:custGeom>
            <a:avLst/>
            <a:gdLst/>
            <a:ahLst/>
            <a:cxnLst/>
            <a:rect r="r" b="b" t="t" l="l"/>
            <a:pathLst>
              <a:path h="2015346" w="1512383">
                <a:moveTo>
                  <a:pt x="0" y="0"/>
                </a:moveTo>
                <a:lnTo>
                  <a:pt x="1512383" y="0"/>
                </a:lnTo>
                <a:lnTo>
                  <a:pt x="1512383" y="2015346"/>
                </a:lnTo>
                <a:lnTo>
                  <a:pt x="0" y="2015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987533" y="7425805"/>
            <a:ext cx="10342209" cy="1399756"/>
            <a:chOff x="0" y="0"/>
            <a:chExt cx="2723874" cy="3686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23874" cy="368660"/>
            </a:xfrm>
            <a:custGeom>
              <a:avLst/>
              <a:gdLst/>
              <a:ahLst/>
              <a:cxnLst/>
              <a:rect r="r" b="b" t="t" l="l"/>
              <a:pathLst>
                <a:path h="368660" w="2723874">
                  <a:moveTo>
                    <a:pt x="38177" y="0"/>
                  </a:moveTo>
                  <a:lnTo>
                    <a:pt x="2685697" y="0"/>
                  </a:lnTo>
                  <a:cubicBezTo>
                    <a:pt x="2706781" y="0"/>
                    <a:pt x="2723874" y="17093"/>
                    <a:pt x="2723874" y="38177"/>
                  </a:cubicBezTo>
                  <a:lnTo>
                    <a:pt x="2723874" y="330483"/>
                  </a:lnTo>
                  <a:cubicBezTo>
                    <a:pt x="2723874" y="351567"/>
                    <a:pt x="2706781" y="368660"/>
                    <a:pt x="2685697" y="368660"/>
                  </a:cubicBezTo>
                  <a:lnTo>
                    <a:pt x="38177" y="368660"/>
                  </a:lnTo>
                  <a:cubicBezTo>
                    <a:pt x="17093" y="368660"/>
                    <a:pt x="0" y="351567"/>
                    <a:pt x="0" y="330483"/>
                  </a:cubicBezTo>
                  <a:lnTo>
                    <a:pt x="0" y="38177"/>
                  </a:lnTo>
                  <a:cubicBezTo>
                    <a:pt x="0" y="17093"/>
                    <a:pt x="17093" y="0"/>
                    <a:pt x="38177" y="0"/>
                  </a:cubicBezTo>
                  <a:close/>
                </a:path>
              </a:pathLst>
            </a:custGeom>
            <a:solidFill>
              <a:srgbClr val="D1DEF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723874" cy="368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39"/>
                </a:lnSpc>
              </a:pPr>
              <a:r>
                <a:rPr lang="en-US" b="true" sz="2699">
                  <a:solidFill>
                    <a:srgbClr val="000000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Programación del sistema de clasificación y movimiento de correa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1783475">
            <a:off x="2233962" y="6813941"/>
            <a:ext cx="2027188" cy="2352222"/>
          </a:xfrm>
          <a:custGeom>
            <a:avLst/>
            <a:gdLst/>
            <a:ahLst/>
            <a:cxnLst/>
            <a:rect r="r" b="b" t="t" l="l"/>
            <a:pathLst>
              <a:path h="2352222" w="2027188">
                <a:moveTo>
                  <a:pt x="0" y="0"/>
                </a:moveTo>
                <a:lnTo>
                  <a:pt x="2027188" y="0"/>
                </a:lnTo>
                <a:lnTo>
                  <a:pt x="2027188" y="2352222"/>
                </a:lnTo>
                <a:lnTo>
                  <a:pt x="0" y="2352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2147318">
            <a:off x="3054378" y="7242769"/>
            <a:ext cx="1257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4676BE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28700" y="7425805"/>
            <a:ext cx="1558651" cy="2077002"/>
          </a:xfrm>
          <a:custGeom>
            <a:avLst/>
            <a:gdLst/>
            <a:ahLst/>
            <a:cxnLst/>
            <a:rect r="r" b="b" t="t" l="l"/>
            <a:pathLst>
              <a:path h="2077002" w="1558651">
                <a:moveTo>
                  <a:pt x="0" y="0"/>
                </a:moveTo>
                <a:lnTo>
                  <a:pt x="1558651" y="0"/>
                </a:lnTo>
                <a:lnTo>
                  <a:pt x="1558651" y="2077002"/>
                </a:lnTo>
                <a:lnTo>
                  <a:pt x="0" y="20770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744378" y="5907271"/>
            <a:ext cx="6828519" cy="1080114"/>
          </a:xfrm>
          <a:custGeom>
            <a:avLst/>
            <a:gdLst/>
            <a:ahLst/>
            <a:cxnLst/>
            <a:rect r="r" b="b" t="t" l="l"/>
            <a:pathLst>
              <a:path h="1080114" w="6828519">
                <a:moveTo>
                  <a:pt x="0" y="0"/>
                </a:moveTo>
                <a:lnTo>
                  <a:pt x="6828519" y="0"/>
                </a:lnTo>
                <a:lnTo>
                  <a:pt x="6828519" y="1080115"/>
                </a:lnTo>
                <a:lnTo>
                  <a:pt x="0" y="10801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180" t="-493904" r="-59114" b="-97159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359218" y="5907271"/>
            <a:ext cx="763219" cy="760157"/>
            <a:chOff x="0" y="0"/>
            <a:chExt cx="201012" cy="2002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1012" cy="200206"/>
            </a:xfrm>
            <a:custGeom>
              <a:avLst/>
              <a:gdLst/>
              <a:ahLst/>
              <a:cxnLst/>
              <a:rect r="r" b="b" t="t" l="l"/>
              <a:pathLst>
                <a:path h="200206" w="201012">
                  <a:moveTo>
                    <a:pt x="0" y="0"/>
                  </a:moveTo>
                  <a:lnTo>
                    <a:pt x="201012" y="0"/>
                  </a:lnTo>
                  <a:lnTo>
                    <a:pt x="201012" y="200206"/>
                  </a:lnTo>
                  <a:lnTo>
                    <a:pt x="0" y="200206"/>
                  </a:lnTo>
                  <a:close/>
                </a:path>
              </a:pathLst>
            </a:custGeom>
            <a:ln w="571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01012" cy="238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24224" y="5907271"/>
            <a:ext cx="556314" cy="760157"/>
            <a:chOff x="0" y="0"/>
            <a:chExt cx="146519" cy="2002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519" cy="200206"/>
            </a:xfrm>
            <a:custGeom>
              <a:avLst/>
              <a:gdLst/>
              <a:ahLst/>
              <a:cxnLst/>
              <a:rect r="r" b="b" t="t" l="l"/>
              <a:pathLst>
                <a:path h="200206" w="146519">
                  <a:moveTo>
                    <a:pt x="0" y="0"/>
                  </a:moveTo>
                  <a:lnTo>
                    <a:pt x="146519" y="0"/>
                  </a:lnTo>
                  <a:lnTo>
                    <a:pt x="146519" y="200206"/>
                  </a:lnTo>
                  <a:lnTo>
                    <a:pt x="0" y="200206"/>
                  </a:lnTo>
                  <a:close/>
                </a:path>
              </a:pathLst>
            </a:custGeom>
            <a:ln w="571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46519" cy="238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063357" y="3012503"/>
            <a:ext cx="1020885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6263C"/>
                </a:solidFill>
                <a:latin typeface="Montserrat"/>
                <a:ea typeface="Montserrat"/>
                <a:cs typeface="Montserrat"/>
                <a:sym typeface="Montserrat"/>
              </a:rPr>
              <a:t>Usar Código Desafio_2_Alumno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2000" y="251100"/>
            <a:ext cx="17784000" cy="9784800"/>
            <a:chOff x="0" y="0"/>
            <a:chExt cx="23712000" cy="1304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12043" cy="13046456"/>
            </a:xfrm>
            <a:custGeom>
              <a:avLst/>
              <a:gdLst/>
              <a:ahLst/>
              <a:cxnLst/>
              <a:rect r="r" b="b" t="t" l="l"/>
              <a:pathLst>
                <a:path h="13046456" w="23712043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52000" y="1079870"/>
            <a:ext cx="10865518" cy="8956030"/>
          </a:xfrm>
          <a:custGeom>
            <a:avLst/>
            <a:gdLst/>
            <a:ahLst/>
            <a:cxnLst/>
            <a:rect r="r" b="b" t="t" l="l"/>
            <a:pathLst>
              <a:path h="8956030" w="10865518">
                <a:moveTo>
                  <a:pt x="0" y="0"/>
                </a:moveTo>
                <a:lnTo>
                  <a:pt x="10865518" y="0"/>
                </a:lnTo>
                <a:lnTo>
                  <a:pt x="10865518" y="8956030"/>
                </a:lnTo>
                <a:lnTo>
                  <a:pt x="0" y="8956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65465" y="8254038"/>
            <a:ext cx="6249150" cy="57150"/>
          </a:xfrm>
          <a:prstGeom prst="line">
            <a:avLst/>
          </a:prstGeom>
          <a:ln cap="rnd" w="19050">
            <a:solidFill>
              <a:srgbClr val="1626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719119" y="5557885"/>
            <a:ext cx="1276752" cy="1377035"/>
          </a:xfrm>
          <a:custGeom>
            <a:avLst/>
            <a:gdLst/>
            <a:ahLst/>
            <a:cxnLst/>
            <a:rect r="r" b="b" t="t" l="l"/>
            <a:pathLst>
              <a:path h="1377035" w="1276752">
                <a:moveTo>
                  <a:pt x="0" y="0"/>
                </a:moveTo>
                <a:lnTo>
                  <a:pt x="1276752" y="0"/>
                </a:lnTo>
                <a:lnTo>
                  <a:pt x="1276752" y="1377035"/>
                </a:lnTo>
                <a:lnTo>
                  <a:pt x="0" y="13770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154" t="0" r="-26608" b="-426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9581" y="5499091"/>
            <a:ext cx="1435829" cy="1435829"/>
          </a:xfrm>
          <a:custGeom>
            <a:avLst/>
            <a:gdLst/>
            <a:ahLst/>
            <a:cxnLst/>
            <a:rect r="r" b="b" t="t" l="l"/>
            <a:pathLst>
              <a:path h="1435829" w="1435829">
                <a:moveTo>
                  <a:pt x="0" y="0"/>
                </a:moveTo>
                <a:lnTo>
                  <a:pt x="1435829" y="0"/>
                </a:lnTo>
                <a:lnTo>
                  <a:pt x="1435829" y="1435829"/>
                </a:lnTo>
                <a:lnTo>
                  <a:pt x="0" y="14358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80312" y="5704037"/>
            <a:ext cx="1276752" cy="1230883"/>
          </a:xfrm>
          <a:custGeom>
            <a:avLst/>
            <a:gdLst/>
            <a:ahLst/>
            <a:cxnLst/>
            <a:rect r="r" b="b" t="t" l="l"/>
            <a:pathLst>
              <a:path h="1230883" w="1276752">
                <a:moveTo>
                  <a:pt x="0" y="0"/>
                </a:moveTo>
                <a:lnTo>
                  <a:pt x="1276751" y="0"/>
                </a:lnTo>
                <a:lnTo>
                  <a:pt x="1276751" y="1230883"/>
                </a:lnTo>
                <a:lnTo>
                  <a:pt x="0" y="12308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154" t="-11873" r="-26608" b="-477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80312" y="5207902"/>
            <a:ext cx="1558651" cy="2077002"/>
          </a:xfrm>
          <a:custGeom>
            <a:avLst/>
            <a:gdLst/>
            <a:ahLst/>
            <a:cxnLst/>
            <a:rect r="r" b="b" t="t" l="l"/>
            <a:pathLst>
              <a:path h="2077002" w="1558651">
                <a:moveTo>
                  <a:pt x="0" y="0"/>
                </a:moveTo>
                <a:lnTo>
                  <a:pt x="1558651" y="0"/>
                </a:lnTo>
                <a:lnTo>
                  <a:pt x="1558651" y="2077001"/>
                </a:lnTo>
                <a:lnTo>
                  <a:pt x="0" y="20770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6501583" y="6750622"/>
            <a:ext cx="3684363" cy="3684363"/>
          </a:xfrm>
          <a:custGeom>
            <a:avLst/>
            <a:gdLst/>
            <a:ahLst/>
            <a:cxnLst/>
            <a:rect r="r" b="b" t="t" l="l"/>
            <a:pathLst>
              <a:path h="3684363" w="3684363">
                <a:moveTo>
                  <a:pt x="3684363" y="0"/>
                </a:moveTo>
                <a:lnTo>
                  <a:pt x="0" y="0"/>
                </a:lnTo>
                <a:lnTo>
                  <a:pt x="0" y="3684363"/>
                </a:lnTo>
                <a:lnTo>
                  <a:pt x="3684363" y="3684363"/>
                </a:lnTo>
                <a:lnTo>
                  <a:pt x="3684363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91357" y="1079870"/>
            <a:ext cx="3382561" cy="1141614"/>
          </a:xfrm>
          <a:custGeom>
            <a:avLst/>
            <a:gdLst/>
            <a:ahLst/>
            <a:cxnLst/>
            <a:rect r="r" b="b" t="t" l="l"/>
            <a:pathLst>
              <a:path h="1141614" w="3382561">
                <a:moveTo>
                  <a:pt x="0" y="0"/>
                </a:moveTo>
                <a:lnTo>
                  <a:pt x="3382561" y="0"/>
                </a:lnTo>
                <a:lnTo>
                  <a:pt x="3382561" y="1141614"/>
                </a:lnTo>
                <a:lnTo>
                  <a:pt x="0" y="1141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06161" y="3923589"/>
            <a:ext cx="6767756" cy="433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32"/>
              </a:lnSpc>
            </a:pPr>
            <a:r>
              <a:rPr lang="en-US" sz="10400">
                <a:solidFill>
                  <a:srgbClr val="16263C"/>
                </a:solidFill>
                <a:latin typeface="Arimo"/>
                <a:ea typeface="Arimo"/>
                <a:cs typeface="Arimo"/>
                <a:sym typeface="Arimo"/>
              </a:rPr>
              <a:t>Desafío 2:</a:t>
            </a:r>
            <a:r>
              <a:rPr lang="en-US" sz="10400">
                <a:solidFill>
                  <a:srgbClr val="4676BE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ctr">
              <a:lnSpc>
                <a:spcPts val="11232"/>
              </a:lnSpc>
            </a:pPr>
            <a:r>
              <a:rPr lang="en-US" b="true" sz="10400">
                <a:solidFill>
                  <a:srgbClr val="4676BE"/>
                </a:solidFill>
                <a:latin typeface="Arimo Bold"/>
                <a:ea typeface="Arimo Bold"/>
                <a:cs typeface="Arimo Bold"/>
                <a:sym typeface="Arimo Bold"/>
              </a:rPr>
              <a:t>R.A.T. Industries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DAG2SEOeBY4</dc:identifier>
  <dcterms:modified xsi:type="dcterms:W3CDTF">2011-08-01T06:04:30Z</dcterms:modified>
  <cp:revision>1</cp:revision>
  <dc:title>Desafío 2 - R.A.T Industries</dc:title>
</cp:coreProperties>
</file>