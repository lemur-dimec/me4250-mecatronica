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ress Start 2P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orient="horz" pos="3702">
          <p15:clr>
            <a:srgbClr val="A4A3A4"/>
          </p15:clr>
        </p15:guide>
        <p15:guide id="3" pos="756">
          <p15:clr>
            <a:srgbClr val="A4A3A4"/>
          </p15:clr>
        </p15:guide>
        <p15:guide id="4" orient="horz" pos="141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702" orient="horz"/>
        <p:guide pos="756"/>
        <p:guide pos="14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essStart2P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bbfd52ce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bbfd52cef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bbfd52c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bbfd52ce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fdb90f8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13fdb90f8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473754" y="1965945"/>
            <a:ext cx="3502024" cy="3997325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4"/>
          <p:cNvSpPr/>
          <p:nvPr>
            <p:ph idx="3" type="pic"/>
          </p:nvPr>
        </p:nvSpPr>
        <p:spPr>
          <a:xfrm>
            <a:off x="4344988" y="1965945"/>
            <a:ext cx="3502024" cy="3997325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4"/>
          <p:cNvSpPr/>
          <p:nvPr>
            <p:ph idx="4" type="pic"/>
          </p:nvPr>
        </p:nvSpPr>
        <p:spPr>
          <a:xfrm>
            <a:off x="8191500" y="1965945"/>
            <a:ext cx="3502024" cy="39973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34054" y="378445"/>
            <a:ext cx="11523892" cy="610111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>
            <p:ph idx="2" type="pic"/>
          </p:nvPr>
        </p:nvSpPr>
        <p:spPr>
          <a:xfrm>
            <a:off x="2427622" y="2115403"/>
            <a:ext cx="2306472" cy="3330054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/>
          <p:nvPr>
            <p:ph idx="3" type="pic"/>
          </p:nvPr>
        </p:nvSpPr>
        <p:spPr>
          <a:xfrm>
            <a:off x="4942764" y="2115403"/>
            <a:ext cx="2306472" cy="3330054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/>
          <p:nvPr>
            <p:ph idx="4" type="pic"/>
          </p:nvPr>
        </p:nvSpPr>
        <p:spPr>
          <a:xfrm>
            <a:off x="7457906" y="2115403"/>
            <a:ext cx="2306472" cy="333005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slide" Target="/ppt/slides/slide10.xml"/><Relationship Id="rId9" Type="http://schemas.openxmlformats.org/officeDocument/2006/relationships/image" Target="../media/image21.png"/><Relationship Id="rId5" Type="http://schemas.openxmlformats.org/officeDocument/2006/relationships/slide" Target="/ppt/slides/slide10.xml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l2gtWG8mWUIdm6_VZiY1h7V0UJDBLX5z/view" TargetMode="External"/><Relationship Id="rId5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hyperlink" Target="http://drive.google.com/file/d/1l2gtWG8mWUIdm6_VZiY1h7V0UJDBLX5z/view" TargetMode="External"/><Relationship Id="rId6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3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slide" Target="/ppt/slides/slide7.xml"/><Relationship Id="rId9" Type="http://schemas.openxmlformats.org/officeDocument/2006/relationships/image" Target="../media/image17.png"/><Relationship Id="rId5" Type="http://schemas.openxmlformats.org/officeDocument/2006/relationships/slide" Target="/ppt/slides/slide9.xml"/><Relationship Id="rId6" Type="http://schemas.openxmlformats.org/officeDocument/2006/relationships/slide" Target="/ppt/slides/slide8.xml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slide" Target="/ppt/slides/slide7.xml"/><Relationship Id="rId9" Type="http://schemas.openxmlformats.org/officeDocument/2006/relationships/image" Target="../media/image34.png"/><Relationship Id="rId5" Type="http://schemas.openxmlformats.org/officeDocument/2006/relationships/slide" Target="/ppt/slides/slide9.xml"/><Relationship Id="rId6" Type="http://schemas.openxmlformats.org/officeDocument/2006/relationships/slide" Target="/ppt/slides/slide8.xml"/><Relationship Id="rId7" Type="http://schemas.openxmlformats.org/officeDocument/2006/relationships/image" Target="../media/image18.gif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slide" Target="/ppt/slides/slide5.xml"/><Relationship Id="rId9" Type="http://schemas.openxmlformats.org/officeDocument/2006/relationships/image" Target="../media/image20.png"/><Relationship Id="rId5" Type="http://schemas.openxmlformats.org/officeDocument/2006/relationships/slide" Target="/ppt/slides/slide9.xml"/><Relationship Id="rId6" Type="http://schemas.openxmlformats.org/officeDocument/2006/relationships/slide" Target="/ppt/slides/slide8.xml"/><Relationship Id="rId7" Type="http://schemas.openxmlformats.org/officeDocument/2006/relationships/image" Target="../media/image23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2.png"/><Relationship Id="rId13" Type="http://schemas.openxmlformats.org/officeDocument/2006/relationships/image" Target="../media/image31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slide" Target="/ppt/slides/slide7.xml"/><Relationship Id="rId9" Type="http://schemas.openxmlformats.org/officeDocument/2006/relationships/image" Target="../media/image5.png"/><Relationship Id="rId5" Type="http://schemas.openxmlformats.org/officeDocument/2006/relationships/slide" Target="/ppt/slides/slide5.xml"/><Relationship Id="rId6" Type="http://schemas.openxmlformats.org/officeDocument/2006/relationships/slide" Target="/ppt/slides/slide9.xml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8.xml"/><Relationship Id="rId4" Type="http://schemas.openxmlformats.org/officeDocument/2006/relationships/slide" Target="/ppt/slides/slide7.xml"/><Relationship Id="rId5" Type="http://schemas.openxmlformats.org/officeDocument/2006/relationships/slide" Target="/ppt/slides/slide5.xml"/><Relationship Id="rId6" Type="http://schemas.openxmlformats.org/officeDocument/2006/relationships/hyperlink" Target="http://drive.google.com/file/d/1EbCSw0aW1uj_Jp9LjoC7hEA3PaBPIls0/view" TargetMode="External"/><Relationship Id="rId7" Type="http://schemas.openxmlformats.org/officeDocument/2006/relationships/image" Target="../media/image3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Relationship Id="rId4" Type="http://schemas.openxmlformats.org/officeDocument/2006/relationships/slide" Target="/ppt/slides/slide10.xml"/><Relationship Id="rId5" Type="http://schemas.openxmlformats.org/officeDocument/2006/relationships/slide" Target="/ppt/slides/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5799" y="-285750"/>
            <a:ext cx="15887700" cy="821071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>
            <a:hlinkClick action="ppaction://hlinkshowjump?jump=nextslide"/>
          </p:cNvPr>
          <p:cNvSpPr/>
          <p:nvPr/>
        </p:nvSpPr>
        <p:spPr>
          <a:xfrm>
            <a:off x="3943350" y="2766536"/>
            <a:ext cx="4305300" cy="526043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310896" y="2891058"/>
            <a:ext cx="35702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 3: PID</a:t>
            </a:r>
            <a:endParaRPr b="0" i="0" sz="1200" u="none" cap="none" strike="noStrike">
              <a:solidFill>
                <a:srgbClr val="F2F2F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943350" y="3689340"/>
            <a:ext cx="1987550" cy="526043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>
            <a:hlinkClick action="ppaction://hlinkshowjump?jump=nextslide"/>
          </p:cNvPr>
          <p:cNvSpPr txBox="1"/>
          <p:nvPr/>
        </p:nvSpPr>
        <p:spPr>
          <a:xfrm>
            <a:off x="4229239" y="3813862"/>
            <a:ext cx="14157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Empezar</a:t>
            </a:r>
            <a:endParaRPr b="0" i="0" sz="1200" u="none" cap="none" strike="noStrike">
              <a:solidFill>
                <a:srgbClr val="F2F2F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9" name="Google Shape;99;p16">
            <a:hlinkClick action="ppaction://hlinksldjump" r:id="rId4"/>
          </p:cNvPr>
          <p:cNvSpPr/>
          <p:nvPr/>
        </p:nvSpPr>
        <p:spPr>
          <a:xfrm>
            <a:off x="6261102" y="3689340"/>
            <a:ext cx="1987500" cy="525900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>
            <a:hlinkClick action="ppaction://hlinksldjump" r:id="rId5"/>
          </p:cNvPr>
          <p:cNvSpPr txBox="1"/>
          <p:nvPr/>
        </p:nvSpPr>
        <p:spPr>
          <a:xfrm>
            <a:off x="6741702" y="3813913"/>
            <a:ext cx="102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Salir</a:t>
            </a:r>
            <a:endParaRPr b="0" i="0" sz="1200" u="none" cap="none" strike="noStrike">
              <a:solidFill>
                <a:srgbClr val="F2F2F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01" name="Google Shape;101;p16" title="AGV_vUck29buBZDMveh8_41fktzjIkbkmTY7_Og4LR54qqVo_1.png"/>
          <p:cNvPicPr preferRelativeResize="0"/>
          <p:nvPr/>
        </p:nvPicPr>
        <p:blipFill rotWithShape="1">
          <a:blip r:embed="rId6">
            <a:alphaModFix/>
          </a:blip>
          <a:srcRect b="31669" l="0" r="0" t="34829"/>
          <a:stretch/>
        </p:blipFill>
        <p:spPr>
          <a:xfrm>
            <a:off x="3386400" y="1067762"/>
            <a:ext cx="5829300" cy="130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39314">
            <a:off x="5417575" y="4090825"/>
            <a:ext cx="4175474" cy="417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48722">
            <a:off x="9411275" y="2486950"/>
            <a:ext cx="4175474" cy="417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 title="Proyecto nuevo.png"/>
          <p:cNvPicPr preferRelativeResize="0"/>
          <p:nvPr/>
        </p:nvPicPr>
        <p:blipFill rotWithShape="1">
          <a:blip r:embed="rId8">
            <a:alphaModFix/>
          </a:blip>
          <a:srcRect b="23370" l="30652" r="30182" t="22570"/>
          <a:stretch/>
        </p:blipFill>
        <p:spPr>
          <a:xfrm>
            <a:off x="7062050" y="3689350"/>
            <a:ext cx="4979675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286346">
            <a:off x="-887587" y="1944413"/>
            <a:ext cx="4175474" cy="417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7">
            <a:alphaModFix/>
          </a:blip>
          <a:srcRect b="0" l="2306" r="0" t="25838"/>
          <a:stretch/>
        </p:blipFill>
        <p:spPr>
          <a:xfrm flipH="1" rot="148546">
            <a:off x="2101304" y="4865430"/>
            <a:ext cx="4078992" cy="309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Proyecto nuevo.png"/>
          <p:cNvPicPr preferRelativeResize="0"/>
          <p:nvPr/>
        </p:nvPicPr>
        <p:blipFill rotWithShape="1">
          <a:blip r:embed="rId9">
            <a:alphaModFix/>
          </a:blip>
          <a:srcRect b="22191" l="29118" r="29160" t="20894"/>
          <a:stretch/>
        </p:blipFill>
        <p:spPr>
          <a:xfrm flipH="1" rot="524551">
            <a:off x="387707" y="3516372"/>
            <a:ext cx="4873838" cy="3799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286346">
            <a:off x="-2659062" y="840988"/>
            <a:ext cx="4175474" cy="417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48722">
            <a:off x="11277250" y="1731863"/>
            <a:ext cx="4175474" cy="417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436674" y="185650"/>
            <a:ext cx="50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EFE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Mecatrónica 4250-1</a:t>
            </a:r>
            <a:endParaRPr>
              <a:solidFill>
                <a:srgbClr val="EFEFEF"/>
              </a:solidFill>
            </a:endParaRPr>
          </a:p>
        </p:txBody>
      </p:sp>
      <p:pic>
        <p:nvPicPr>
          <p:cNvPr id="111" name="Google Shape;111;p16" title="ChatGPT_Image_12_jun_2026__03_54_37_p.m.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732200" y="-116500"/>
            <a:ext cx="1641075" cy="14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title="ChatGPT_Image_12_jun_2026__03_54_37_p.m.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02100" y="139665"/>
            <a:ext cx="1641075" cy="144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2133600" y="4130674"/>
            <a:ext cx="7924800" cy="1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133600" y="4130674"/>
            <a:ext cx="3962400" cy="1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095500" y="4095750"/>
            <a:ext cx="8001000" cy="2382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133600" y="4130675"/>
            <a:ext cx="1505100" cy="16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64921" y="4817097"/>
            <a:ext cx="22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Loading……</a:t>
            </a:r>
            <a:endParaRPr/>
          </a:p>
        </p:txBody>
      </p:sp>
      <p:pic>
        <p:nvPicPr>
          <p:cNvPr id="122" name="Google Shape;122;p17" title="AGV_vUck29buBZDMveh8_41fktzjIkbkmTY7_Og4LR54qqVo_1.png"/>
          <p:cNvPicPr preferRelativeResize="0"/>
          <p:nvPr/>
        </p:nvPicPr>
        <p:blipFill rotWithShape="1">
          <a:blip r:embed="rId3">
            <a:alphaModFix/>
          </a:blip>
          <a:srcRect b="31669" l="0" r="0" t="34829"/>
          <a:stretch/>
        </p:blipFill>
        <p:spPr>
          <a:xfrm>
            <a:off x="3268725" y="2017812"/>
            <a:ext cx="5829300" cy="130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title="VID-20251116-WA001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19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29003">
            <a:off x="1017070" y="3444663"/>
            <a:ext cx="1532520" cy="2137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VID-20251116-WA0016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9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-229925" y="-65700"/>
            <a:ext cx="12579600" cy="7028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9175" y="-30287"/>
            <a:ext cx="12192000" cy="691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1753276" y="2370484"/>
            <a:ext cx="8571000" cy="27777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rgbClr val="84848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272741" y="1075088"/>
            <a:ext cx="3531900" cy="8289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rgbClr val="84848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870127" y="1304877"/>
            <a:ext cx="233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Contexto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2265487" y="2789569"/>
            <a:ext cx="7502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La vida no ha sido amable con estos pobres ratones. Tras la implementación de las nuevas tecnologías del desafío anterior, muchos se quedaron sin trabajo, víctimas del progreso y la automatización. Sin más opciones, terminaron trabajando en el único lugar donde la mecatrónica aún no llega: Las Minas.</a:t>
            </a:r>
            <a:endParaRPr sz="12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9001365" y="3759512"/>
            <a:ext cx="2444385" cy="2023405"/>
            <a:chOff x="7760925" y="3863650"/>
            <a:chExt cx="3497975" cy="2704725"/>
          </a:xfrm>
        </p:grpSpPr>
        <p:pic>
          <p:nvPicPr>
            <p:cNvPr id="141" name="Google Shape;141;p19" title="Proyecto nuevo.png"/>
            <p:cNvPicPr preferRelativeResize="0"/>
            <p:nvPr/>
          </p:nvPicPr>
          <p:blipFill rotWithShape="1">
            <a:blip r:embed="rId5">
              <a:alphaModFix/>
            </a:blip>
            <a:srcRect b="23370" l="30652" r="30182" t="22570"/>
            <a:stretch/>
          </p:blipFill>
          <p:spPr>
            <a:xfrm>
              <a:off x="7760925" y="3863650"/>
              <a:ext cx="3497975" cy="2704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1309667">
              <a:off x="8500926" y="5120970"/>
              <a:ext cx="301024" cy="301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3" name="Google Shape;14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129003">
            <a:off x="1017070" y="3444663"/>
            <a:ext cx="1532520" cy="213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9400" y="0"/>
            <a:ext cx="13269252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20"/>
          <p:cNvGrpSpPr/>
          <p:nvPr/>
        </p:nvGrpSpPr>
        <p:grpSpPr>
          <a:xfrm>
            <a:off x="3951968" y="2079356"/>
            <a:ext cx="2084162" cy="733634"/>
            <a:chOff x="3951968" y="2079356"/>
            <a:chExt cx="2084162" cy="733634"/>
          </a:xfrm>
        </p:grpSpPr>
        <p:sp>
          <p:nvSpPr>
            <p:cNvPr id="150" name="Google Shape;150;p20">
              <a:hlinkClick action="ppaction://hlinksldjump" r:id="rId4"/>
            </p:cNvPr>
            <p:cNvSpPr/>
            <p:nvPr/>
          </p:nvSpPr>
          <p:spPr>
            <a:xfrm>
              <a:off x="3951968" y="2079356"/>
              <a:ext cx="2084162" cy="733634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A5A5A5"/>
                </a:gs>
                <a:gs pos="55000">
                  <a:srgbClr val="7F7F7F"/>
                </a:gs>
                <a:gs pos="100000">
                  <a:srgbClr val="A5A5A5"/>
                </a:gs>
              </a:gsLst>
              <a:lin ang="5400000" scaled="0"/>
            </a:gradFill>
            <a:ln cap="flat" cmpd="sng" w="19050">
              <a:solidFill>
                <a:srgbClr val="26262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0"/>
            <p:cNvSpPr txBox="1"/>
            <p:nvPr/>
          </p:nvSpPr>
          <p:spPr>
            <a:xfrm>
              <a:off x="4273288" y="2214725"/>
              <a:ext cx="1441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Rúbrica</a:t>
              </a:r>
              <a:endParaRPr sz="14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152" name="Google Shape;152;p20">
            <a:hlinkClick action="ppaction://hlinksldjump" r:id="rId5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>
            <a:hlinkClick action="ppaction://hlinksldjump" r:id="rId6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rgbClr val="8888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DADAD"/>
              </a:gs>
              <a:gs pos="100000">
                <a:srgbClr val="D9D9D9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1998600" y="2216213"/>
            <a:ext cx="158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6477207" y="2214740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9D9D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Creeper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748063" y="3282259"/>
            <a:ext cx="5119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Encontrar los valores de las </a:t>
            </a: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constantes</a:t>
            </a: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del PID y lograr estabilizar el sistema.</a:t>
            </a: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1853536" y="4796287"/>
            <a:ext cx="686464" cy="686464"/>
          </a:xfrm>
          <a:prstGeom prst="rect">
            <a:avLst/>
          </a:prstGeom>
          <a:solidFill>
            <a:srgbClr val="8B8B8B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606848" y="4796287"/>
            <a:ext cx="686464" cy="686464"/>
          </a:xfrm>
          <a:prstGeom prst="rect">
            <a:avLst/>
          </a:prstGeom>
          <a:solidFill>
            <a:srgbClr val="8B8B8B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360160" y="4796287"/>
            <a:ext cx="686464" cy="686464"/>
          </a:xfrm>
          <a:prstGeom prst="rect">
            <a:avLst/>
          </a:prstGeom>
          <a:solidFill>
            <a:srgbClr val="8B8B8B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113472" y="4796287"/>
            <a:ext cx="686464" cy="686464"/>
          </a:xfrm>
          <a:prstGeom prst="rect">
            <a:avLst/>
          </a:prstGeom>
          <a:solidFill>
            <a:srgbClr val="8B8B8B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866784" y="4796287"/>
            <a:ext cx="686464" cy="686464"/>
          </a:xfrm>
          <a:prstGeom prst="rect">
            <a:avLst/>
          </a:prstGeom>
          <a:solidFill>
            <a:srgbClr val="8B8B8B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clipart&#10;&#10;Description automatically generated" id="166" name="Google Shape;16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74998" y="4964437"/>
            <a:ext cx="350164" cy="350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 code&#10;&#10;Description automatically generated" id="167" name="Google Shape;16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88541" y="4940948"/>
            <a:ext cx="396405" cy="397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histogram&#10;&#10;Description automatically generated" id="168" name="Google Shape;16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48039" y="4871481"/>
            <a:ext cx="536076" cy="536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169" name="Google Shape;16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13835" y="4978360"/>
            <a:ext cx="392361" cy="322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" id="170" name="Google Shape;17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93726" y="4974062"/>
            <a:ext cx="330914" cy="33091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4321199" y="1053600"/>
            <a:ext cx="35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 3: PID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2" name="Google Shape;172;p20" title="Ensamble desafío 3.png"/>
          <p:cNvPicPr preferRelativeResize="0"/>
          <p:nvPr/>
        </p:nvPicPr>
        <p:blipFill rotWithShape="1">
          <a:blip r:embed="rId12">
            <a:alphaModFix/>
          </a:blip>
          <a:srcRect b="0" l="27357" r="0" t="0"/>
          <a:stretch/>
        </p:blipFill>
        <p:spPr>
          <a:xfrm>
            <a:off x="6692400" y="2628326"/>
            <a:ext cx="3822700" cy="37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9400" y="0"/>
            <a:ext cx="13269252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21"/>
          <p:cNvGrpSpPr/>
          <p:nvPr/>
        </p:nvGrpSpPr>
        <p:grpSpPr>
          <a:xfrm>
            <a:off x="3951968" y="2079356"/>
            <a:ext cx="2084100" cy="733500"/>
            <a:chOff x="3951968" y="2079356"/>
            <a:chExt cx="2084100" cy="733500"/>
          </a:xfrm>
        </p:grpSpPr>
        <p:sp>
          <p:nvSpPr>
            <p:cNvPr id="179" name="Google Shape;179;p21">
              <a:hlinkClick action="ppaction://hlinksldjump" r:id="rId4"/>
            </p:cNvPr>
            <p:cNvSpPr/>
            <p:nvPr/>
          </p:nvSpPr>
          <p:spPr>
            <a:xfrm>
              <a:off x="3951968" y="2079356"/>
              <a:ext cx="2084100" cy="733500"/>
            </a:xfrm>
            <a:prstGeom prst="roundRect">
              <a:avLst>
                <a:gd fmla="val 0" name="adj"/>
              </a:avLst>
            </a:prstGeom>
            <a:gradFill>
              <a:gsLst>
                <a:gs pos="0">
                  <a:srgbClr val="A5A5A5"/>
                </a:gs>
                <a:gs pos="55000">
                  <a:srgbClr val="7F7F7F"/>
                </a:gs>
                <a:gs pos="100000">
                  <a:srgbClr val="A5A5A5"/>
                </a:gs>
              </a:gsLst>
              <a:lin ang="5400012" scaled="0"/>
            </a:gradFill>
            <a:ln cap="flat" cmpd="sng" w="19050">
              <a:solidFill>
                <a:srgbClr val="26262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4273288" y="2214725"/>
              <a:ext cx="1441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Rúbrica</a:t>
              </a:r>
              <a:endParaRPr sz="14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181" name="Google Shape;181;p21">
            <a:hlinkClick action="ppaction://hlinksldjump" r:id="rId5"/>
          </p:cNvPr>
          <p:cNvSpPr/>
          <p:nvPr/>
        </p:nvSpPr>
        <p:spPr>
          <a:xfrm>
            <a:off x="8359775" y="2079356"/>
            <a:ext cx="2084100" cy="73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>
            <a:hlinkClick action="ppaction://hlinksldjump" r:id="rId6"/>
          </p:cNvPr>
          <p:cNvSpPr/>
          <p:nvPr/>
        </p:nvSpPr>
        <p:spPr>
          <a:xfrm>
            <a:off x="6155872" y="2079356"/>
            <a:ext cx="2084100" cy="73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294039" y="2628324"/>
            <a:ext cx="9603900" cy="34383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184649" y="871432"/>
            <a:ext cx="3822600" cy="73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rgbClr val="8888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1748064" y="2079356"/>
            <a:ext cx="2084100" cy="73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DADAD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1998600" y="2216213"/>
            <a:ext cx="158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477207" y="2214740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8688356" y="2199952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9D9D9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Creeper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321199" y="1053600"/>
            <a:ext cx="35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 3: PID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079744" y="2953025"/>
            <a:ext cx="243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Funcionamiento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91" name="Google Shape;191;p21" title="minecraft-minecraft-lever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1275" y="2812838"/>
            <a:ext cx="607322" cy="7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61574" l="43896" r="0" t="0"/>
          <a:stretch/>
        </p:blipFill>
        <p:spPr>
          <a:xfrm>
            <a:off x="3969413" y="4721625"/>
            <a:ext cx="1368025" cy="5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0" l="43896" r="0" t="58535"/>
          <a:stretch/>
        </p:blipFill>
        <p:spPr>
          <a:xfrm>
            <a:off x="3969413" y="4869700"/>
            <a:ext cx="1368025" cy="5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445908" y="3758500"/>
            <a:ext cx="6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0D0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KP</a:t>
            </a:r>
            <a:endParaRPr sz="1200">
              <a:solidFill>
                <a:srgbClr val="340D0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7445908" y="4160475"/>
            <a:ext cx="6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0D0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</a:t>
            </a:r>
            <a:r>
              <a:rPr lang="en-US" sz="1200">
                <a:solidFill>
                  <a:srgbClr val="340D0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</a:t>
            </a:r>
            <a:endParaRPr sz="1200">
              <a:solidFill>
                <a:srgbClr val="340D0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7445908" y="4524450"/>
            <a:ext cx="6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0D0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KI</a:t>
            </a:r>
            <a:endParaRPr sz="1200">
              <a:solidFill>
                <a:srgbClr val="340D0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197" name="Google Shape;197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61574" l="43898" r="21774" t="0"/>
          <a:stretch/>
        </p:blipFill>
        <p:spPr>
          <a:xfrm rot="5400000">
            <a:off x="5586783" y="5248675"/>
            <a:ext cx="837025" cy="5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61574" l="43898" r="21774" t="0"/>
          <a:stretch/>
        </p:blipFill>
        <p:spPr>
          <a:xfrm>
            <a:off x="6608883" y="3546350"/>
            <a:ext cx="837025" cy="5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61574" l="43898" r="21774" t="0"/>
          <a:stretch/>
        </p:blipFill>
        <p:spPr>
          <a:xfrm>
            <a:off x="6608883" y="3910325"/>
            <a:ext cx="837025" cy="5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61574" l="43898" r="21774" t="0"/>
          <a:stretch/>
        </p:blipFill>
        <p:spPr>
          <a:xfrm>
            <a:off x="6608883" y="4312300"/>
            <a:ext cx="837025" cy="5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730838" y="4971775"/>
            <a:ext cx="12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0D0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Decimal</a:t>
            </a:r>
            <a:endParaRPr sz="1200">
              <a:solidFill>
                <a:srgbClr val="340D0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2730838" y="4971775"/>
            <a:ext cx="12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80E0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Decimal</a:t>
            </a:r>
            <a:endParaRPr sz="1200">
              <a:solidFill>
                <a:srgbClr val="B80E0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203" name="Google Shape;203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0" l="43896" r="0" t="58535"/>
          <a:stretch/>
        </p:blipFill>
        <p:spPr>
          <a:xfrm>
            <a:off x="6608863" y="3705125"/>
            <a:ext cx="1368025" cy="5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0" l="43896" r="0" t="58535"/>
          <a:stretch/>
        </p:blipFill>
        <p:spPr>
          <a:xfrm>
            <a:off x="6608863" y="4459413"/>
            <a:ext cx="1368025" cy="5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0" l="43896" r="0" t="58535"/>
          <a:stretch/>
        </p:blipFill>
        <p:spPr>
          <a:xfrm>
            <a:off x="6608863" y="4063113"/>
            <a:ext cx="1368025" cy="5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445908" y="3758500"/>
            <a:ext cx="6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80E0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KP</a:t>
            </a:r>
            <a:endParaRPr sz="1200">
              <a:solidFill>
                <a:srgbClr val="B80E0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445908" y="4160475"/>
            <a:ext cx="6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80E0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KD</a:t>
            </a:r>
            <a:endParaRPr sz="1200">
              <a:solidFill>
                <a:srgbClr val="B80E0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7445908" y="4524450"/>
            <a:ext cx="6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80E0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KI</a:t>
            </a:r>
            <a:endParaRPr sz="1200">
              <a:solidFill>
                <a:srgbClr val="B80E0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 rotWithShape="1">
          <a:blip r:embed="rId9">
            <a:alphaModFix/>
          </a:blip>
          <a:srcRect b="20369" l="0" r="0" t="0"/>
          <a:stretch/>
        </p:blipFill>
        <p:spPr>
          <a:xfrm>
            <a:off x="4706913" y="3370100"/>
            <a:ext cx="1968475" cy="21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4913400" y="4912350"/>
            <a:ext cx="364500" cy="369300"/>
          </a:xfrm>
          <a:prstGeom prst="rect">
            <a:avLst/>
          </a:prstGeom>
          <a:solidFill>
            <a:srgbClr val="FF0000">
              <a:alpha val="16459"/>
            </a:srgbClr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083975" y="3712300"/>
            <a:ext cx="393000" cy="1179000"/>
          </a:xfrm>
          <a:prstGeom prst="rect">
            <a:avLst/>
          </a:prstGeom>
          <a:solidFill>
            <a:srgbClr val="FF0000">
              <a:alpha val="16459"/>
            </a:srgbClr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705875" y="4902400"/>
            <a:ext cx="364500" cy="369300"/>
          </a:xfrm>
          <a:prstGeom prst="rect">
            <a:avLst/>
          </a:prstGeom>
          <a:solidFill>
            <a:srgbClr val="FF0000">
              <a:alpha val="16459"/>
            </a:srgbClr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61574" l="43898" r="21774" t="0"/>
          <a:stretch/>
        </p:blipFill>
        <p:spPr>
          <a:xfrm>
            <a:off x="5982683" y="5456425"/>
            <a:ext cx="837025" cy="5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6769563" y="5706575"/>
            <a:ext cx="12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0D0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Enter</a:t>
            </a:r>
            <a:endParaRPr sz="1200">
              <a:solidFill>
                <a:srgbClr val="340D0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215" name="Google Shape;215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0" l="43896" r="0" t="58535"/>
          <a:stretch/>
        </p:blipFill>
        <p:spPr>
          <a:xfrm>
            <a:off x="5982663" y="5617225"/>
            <a:ext cx="1368025" cy="5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title="image-removebg-preview (1).png"/>
          <p:cNvPicPr preferRelativeResize="0"/>
          <p:nvPr/>
        </p:nvPicPr>
        <p:blipFill rotWithShape="1">
          <a:blip r:embed="rId8">
            <a:alphaModFix/>
          </a:blip>
          <a:srcRect b="0" l="61778" r="0" t="58534"/>
          <a:stretch/>
        </p:blipFill>
        <p:spPr>
          <a:xfrm rot="5400000">
            <a:off x="5370925" y="5711325"/>
            <a:ext cx="932000" cy="5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6769563" y="5706575"/>
            <a:ext cx="128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80E0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Enter</a:t>
            </a:r>
            <a:endParaRPr sz="1200">
              <a:solidFill>
                <a:srgbClr val="B80E02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8022" y="-64075"/>
            <a:ext cx="12557125" cy="70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>
            <a:hlinkClick action="ppaction://hlinksldjump" r:id="rId4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2069351" y="2199925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</a:t>
            </a:r>
            <a:endParaRPr/>
          </a:p>
        </p:txBody>
      </p:sp>
      <p:sp>
        <p:nvSpPr>
          <p:cNvPr id="225" name="Google Shape;225;p22">
            <a:hlinkClick action="ppaction://hlinksldjump" r:id="rId5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>
            <a:hlinkClick action="ppaction://hlinksldjump" r:id="rId6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294050" y="2606475"/>
            <a:ext cx="9603900" cy="38838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321199" y="1053600"/>
            <a:ext cx="35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 3: PID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Creeper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1748075" y="3139625"/>
            <a:ext cx="6259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ess Start 2P"/>
              <a:buChar char="●"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Encontrar constante K 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ess Start 2P"/>
              <a:buChar char="●"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Encontrar constante I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ess Start 2P"/>
              <a:buChar char="●"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Encontrar constante D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ess Start 2P"/>
              <a:buChar char="●"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Control estable del sistema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ess Start 2P"/>
              <a:buChar char="●"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Reporte con diagrama de conexiones,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constantes, método de obtención, lógica código y  mejoras 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DADAD"/>
              </a:gs>
              <a:gs pos="100000">
                <a:srgbClr val="D9D9D9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202500" y="2214738"/>
            <a:ext cx="158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Rúbrica</a:t>
            </a:r>
            <a:endParaRPr sz="14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235" name="Google Shape;23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33600" y="4126981"/>
            <a:ext cx="2164350" cy="21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title="Experience_Orb_Value_307-61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90188" y="3901450"/>
            <a:ext cx="307775" cy="3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99600" y="4791438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4375" y="2996225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4375" y="3403488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4375" y="3810775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41" name="Google Shape;24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7250" y="4171738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42" name="Google Shape;24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27175" y="4791438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43" name="Google Shape;243;p22" title="Experience_Orb_Value_307-61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96388" y="5363550"/>
            <a:ext cx="307775" cy="3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title="Experience_Orb_Value_307-61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992388" y="5876925"/>
            <a:ext cx="307775" cy="3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title="Experience_Orb_Value_307-61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22013" y="3095725"/>
            <a:ext cx="307775" cy="3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21300" y="5633225"/>
            <a:ext cx="307750" cy="307750"/>
          </a:xfrm>
          <a:prstGeom prst="rect">
            <a:avLst/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12" scaled="0"/>
          </a:gradFill>
          <a:ln cap="flat" cmpd="sng" w="19050">
            <a:solidFill>
              <a:srgbClr val="262626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47" name="Google Shape;247;p22"/>
          <p:cNvSpPr txBox="1"/>
          <p:nvPr/>
        </p:nvSpPr>
        <p:spPr>
          <a:xfrm>
            <a:off x="3363100" y="5648650"/>
            <a:ext cx="1737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= 1 pto</a:t>
            </a:r>
            <a:endParaRPr sz="12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2014775" y="6091200"/>
            <a:ext cx="6259200" cy="200100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*Mencionar en el reporte el número de balancín que están utilizando</a:t>
            </a:r>
            <a:endParaRPr sz="7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8848" y="-246300"/>
            <a:ext cx="12789677" cy="71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>
            <a:hlinkClick action="ppaction://hlinksldjump" r:id="rId4"/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4244638" y="2214725"/>
            <a:ext cx="149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Rúbrica</a:t>
            </a:r>
            <a:endParaRPr sz="14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56" name="Google Shape;256;p23">
            <a:hlinkClick action="ppaction://hlinksldjump" r:id="rId5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2069351" y="2242450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</a:t>
            </a:r>
            <a:endParaRPr/>
          </a:p>
        </p:txBody>
      </p:sp>
      <p:sp>
        <p:nvSpPr>
          <p:cNvPr id="258" name="Google Shape;258;p23">
            <a:hlinkClick action="ppaction://hlinksldjump" r:id="rId6"/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294039" y="2628324"/>
            <a:ext cx="9603900" cy="34383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4319249" y="1053600"/>
            <a:ext cx="355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 3: PID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Creeper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1748063" y="2892796"/>
            <a:ext cx="60447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Prueba los valores extremos de cada una de las constante para ver lo que sucede con el sistema.</a:t>
            </a:r>
            <a:endParaRPr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DADAD"/>
              </a:gs>
              <a:gs pos="100000">
                <a:srgbClr val="D9D9D9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Hint</a:t>
            </a:r>
            <a:endParaRPr/>
          </a:p>
        </p:txBody>
      </p:sp>
      <p:pic>
        <p:nvPicPr>
          <p:cNvPr id="266" name="Google Shape;26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88338" y="3109625"/>
            <a:ext cx="1600028" cy="32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 rotWithShape="1">
          <a:blip r:embed="rId8">
            <a:alphaModFix/>
          </a:blip>
          <a:srcRect b="0" l="0" r="-9206" t="-9206"/>
          <a:stretch/>
        </p:blipFill>
        <p:spPr>
          <a:xfrm>
            <a:off x="7174425" y="4658100"/>
            <a:ext cx="1861950" cy="18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9488619">
            <a:off x="3460407" y="5245504"/>
            <a:ext cx="1560314" cy="140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398224">
            <a:off x="4648125" y="4654388"/>
            <a:ext cx="1564362" cy="13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title="Proyecto nuevo.png"/>
          <p:cNvPicPr preferRelativeResize="0"/>
          <p:nvPr/>
        </p:nvPicPr>
        <p:blipFill rotWithShape="1">
          <a:blip r:embed="rId10">
            <a:alphaModFix/>
          </a:blip>
          <a:srcRect b="23370" l="30652" r="30182" t="22570"/>
          <a:stretch/>
        </p:blipFill>
        <p:spPr>
          <a:xfrm flipH="1" rot="-733609">
            <a:off x="4005414" y="4600869"/>
            <a:ext cx="1877478" cy="130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/>
          <p:cNvPicPr preferRelativeResize="0"/>
          <p:nvPr/>
        </p:nvPicPr>
        <p:blipFill rotWithShape="1">
          <a:blip r:embed="rId9">
            <a:alphaModFix/>
          </a:blip>
          <a:srcRect b="-5570" l="-5530" r="5530" t="5570"/>
          <a:stretch/>
        </p:blipFill>
        <p:spPr>
          <a:xfrm rot="1230328">
            <a:off x="5346439" y="4673789"/>
            <a:ext cx="1564363" cy="1396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72" name="Google Shape;272;p23"/>
          <p:cNvPicPr preferRelativeResize="0"/>
          <p:nvPr/>
        </p:nvPicPr>
        <p:blipFill rotWithShape="1">
          <a:blip r:embed="rId11">
            <a:alphaModFix/>
          </a:blip>
          <a:srcRect b="30642" l="0" r="0" t="0"/>
          <a:stretch/>
        </p:blipFill>
        <p:spPr>
          <a:xfrm>
            <a:off x="4244650" y="4908403"/>
            <a:ext cx="392374" cy="223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73" name="Google Shape;273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66335" y="4759460"/>
            <a:ext cx="392361" cy="322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74" name="Google Shape;274;p23"/>
          <p:cNvPicPr preferRelativeResize="0"/>
          <p:nvPr/>
        </p:nvPicPr>
        <p:blipFill rotWithShape="1">
          <a:blip r:embed="rId11">
            <a:alphaModFix/>
          </a:blip>
          <a:srcRect b="30642" l="0" r="0" t="0"/>
          <a:stretch/>
        </p:blipFill>
        <p:spPr>
          <a:xfrm>
            <a:off x="4466325" y="4908403"/>
            <a:ext cx="392374" cy="223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75" name="Google Shape;275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975697">
            <a:off x="7668070" y="4799346"/>
            <a:ext cx="737685" cy="73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9488619">
            <a:off x="1069332" y="5288329"/>
            <a:ext cx="1560314" cy="140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398224">
            <a:off x="2204125" y="4693188"/>
            <a:ext cx="1564362" cy="139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/>
          <p:cNvPicPr preferRelativeResize="0"/>
          <p:nvPr/>
        </p:nvPicPr>
        <p:blipFill rotWithShape="1">
          <a:blip r:embed="rId9">
            <a:alphaModFix/>
          </a:blip>
          <a:srcRect b="-5570" l="-5530" r="5530" t="5570"/>
          <a:stretch/>
        </p:blipFill>
        <p:spPr>
          <a:xfrm rot="1230328">
            <a:off x="2902439" y="4712589"/>
            <a:ext cx="1564363" cy="13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>
            <a:hlinkClick action="ppaction://hlinksldjump" r:id="rId3"/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Hints</a:t>
            </a:r>
            <a:endParaRPr/>
          </a:p>
        </p:txBody>
      </p:sp>
      <p:sp>
        <p:nvSpPr>
          <p:cNvPr id="285" name="Google Shape;285;p24">
            <a:hlinkClick action="ppaction://hlinksldjump" r:id="rId4"/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4273300" y="2214738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Rúbrica</a:t>
            </a:r>
            <a:endParaRPr sz="1400">
              <a:solidFill>
                <a:schemeClr val="lt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87" name="Google Shape;287;p24">
            <a:hlinkClick action="ppaction://hlinksldjump" r:id="rId5"/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5A5A5"/>
              </a:gs>
              <a:gs pos="3540">
                <a:srgbClr val="A5A5A5"/>
              </a:gs>
              <a:gs pos="55000">
                <a:srgbClr val="7F7F7F"/>
              </a:gs>
              <a:gs pos="100000">
                <a:srgbClr val="A5A5A5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2069351" y="2199925"/>
            <a:ext cx="14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D9D9D9"/>
              </a:gs>
              <a:gs pos="3540">
                <a:srgbClr val="D9D9D9"/>
              </a:gs>
              <a:gs pos="84000">
                <a:srgbClr val="ADADAD"/>
              </a:gs>
              <a:gs pos="100000">
                <a:srgbClr val="D8D8D8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0"/>
          </a:gra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4337099" y="1053600"/>
            <a:ext cx="351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Desafío 3: PID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ADADAD"/>
              </a:gs>
              <a:gs pos="100000">
                <a:srgbClr val="D9D9D9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Creeper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-504275" y="-896475"/>
            <a:ext cx="14259600" cy="893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4" title="0623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688787" y="0"/>
            <a:ext cx="13569576" cy="7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/>
        </p:nvSpPr>
        <p:spPr>
          <a:xfrm>
            <a:off x="4080064" y="1544650"/>
            <a:ext cx="4032000" cy="240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YOU</a:t>
            </a:r>
            <a:endParaRPr/>
          </a:p>
        </p:txBody>
      </p:sp>
      <p:pic>
        <p:nvPicPr>
          <p:cNvPr descr="A picture containing container, square&#10;&#10;Description automatically generated" id="301" name="Google Shape;3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8631" y="4481505"/>
            <a:ext cx="2300287" cy="2300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ntainer, square&#10;&#10;Description automatically generated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957" y="4026113"/>
            <a:ext cx="2785217" cy="27852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ntainer, square&#10;&#10;Description automatically generated" id="303" name="Google Shape;3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48" y="2208001"/>
            <a:ext cx="1814053" cy="1814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ntainer, square&#10;&#10;Description automatically generated" id="304" name="Google Shape;3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1682" y="2276830"/>
            <a:ext cx="1814053" cy="1814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ntainer, square&#10;&#10;Description automatically generated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6250" y="873122"/>
            <a:ext cx="1300063" cy="1300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ntainer, square&#10;&#10;Description automatically generated" id="306" name="Google Shape;3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833" y="907947"/>
            <a:ext cx="1300063" cy="130006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>
            <a:hlinkClick action="ppaction://hlinkshowjump?jump=nextslide"/>
          </p:cNvPr>
          <p:cNvSpPr/>
          <p:nvPr/>
        </p:nvSpPr>
        <p:spPr>
          <a:xfrm>
            <a:off x="5124450" y="3918300"/>
            <a:ext cx="1943100" cy="525900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>
            <a:hlinkClick action="ppaction://hlinkshowjump?jump=nextslide"/>
          </p:cNvPr>
          <p:cNvSpPr txBox="1"/>
          <p:nvPr/>
        </p:nvSpPr>
        <p:spPr>
          <a:xfrm>
            <a:off x="5695891" y="4042822"/>
            <a:ext cx="8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Quit</a:t>
            </a:r>
            <a:endParaRPr b="0" i="0" sz="1200" u="none" cap="none" strike="noStrike">
              <a:solidFill>
                <a:srgbClr val="D8D8D8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09" name="Google Shape;309;p25">
            <a:hlinkClick action="ppaction://hlinkshowjump?jump=firstslide"/>
          </p:cNvPr>
          <p:cNvSpPr/>
          <p:nvPr/>
        </p:nvSpPr>
        <p:spPr>
          <a:xfrm>
            <a:off x="5124450" y="4577958"/>
            <a:ext cx="1943100" cy="525900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>
            <a:hlinkClick action="ppaction://hlinkshowjump?jump=firstslide"/>
          </p:cNvPr>
          <p:cNvSpPr txBox="1"/>
          <p:nvPr/>
        </p:nvSpPr>
        <p:spPr>
          <a:xfrm>
            <a:off x="5465058" y="4702480"/>
            <a:ext cx="126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Restart</a:t>
            </a:r>
            <a:endParaRPr b="0" i="0" sz="1200" u="none" cap="none" strike="noStrike">
              <a:solidFill>
                <a:srgbClr val="D8D8D8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749" y="0"/>
            <a:ext cx="122067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/>
          <p:nvPr/>
        </p:nvSpPr>
        <p:spPr>
          <a:xfrm>
            <a:off x="4586749" y="2506304"/>
            <a:ext cx="3018600" cy="1992600"/>
          </a:xfrm>
          <a:prstGeom prst="rect">
            <a:avLst/>
          </a:prstGeom>
          <a:solidFill>
            <a:srgbClr val="262626">
              <a:alpha val="84710"/>
            </a:srgbClr>
          </a:solidFill>
          <a:ln cap="flat" cmpd="sng" w="190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4875153" y="2774156"/>
            <a:ext cx="2441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Are you sure you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want to quit ?</a:t>
            </a:r>
            <a:endParaRPr/>
          </a:p>
        </p:txBody>
      </p:sp>
      <p:sp>
        <p:nvSpPr>
          <p:cNvPr id="318" name="Google Shape;318;p26">
            <a:hlinkClick action="ppaction://hlinkshowjump?jump=nextslide"/>
          </p:cNvPr>
          <p:cNvSpPr/>
          <p:nvPr/>
        </p:nvSpPr>
        <p:spPr>
          <a:xfrm>
            <a:off x="5092357" y="3641886"/>
            <a:ext cx="831900" cy="525900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>
            <a:hlinkClick action="ppaction://hlinkshowjump?jump=nextslide"/>
          </p:cNvPr>
          <p:cNvSpPr txBox="1"/>
          <p:nvPr/>
        </p:nvSpPr>
        <p:spPr>
          <a:xfrm>
            <a:off x="5185117" y="3766408"/>
            <a:ext cx="64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Yes</a:t>
            </a:r>
            <a:endParaRPr b="0" i="0" sz="1200" u="none" cap="none" strike="noStrike">
              <a:solidFill>
                <a:srgbClr val="D8D8D8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20" name="Google Shape;320;p26">
            <a:hlinkClick action="ppaction://hlinksldjump" r:id="rId4"/>
          </p:cNvPr>
          <p:cNvSpPr/>
          <p:nvPr/>
        </p:nvSpPr>
        <p:spPr>
          <a:xfrm>
            <a:off x="6267793" y="3641886"/>
            <a:ext cx="831900" cy="525900"/>
          </a:xfrm>
          <a:prstGeom prst="rect">
            <a:avLst/>
          </a:prstGeom>
          <a:gradFill>
            <a:gsLst>
              <a:gs pos="0">
                <a:srgbClr val="848484"/>
              </a:gs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12" scaled="0"/>
          </a:gra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>
            <a:hlinkClick action="ppaction://hlinksldjump" r:id="rId5"/>
          </p:cNvPr>
          <p:cNvSpPr txBox="1"/>
          <p:nvPr/>
        </p:nvSpPr>
        <p:spPr>
          <a:xfrm>
            <a:off x="6437496" y="3766408"/>
            <a:ext cx="492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</a:t>
            </a:r>
            <a:endParaRPr b="0" i="0" sz="1200" u="none" cap="none" strike="noStrike">
              <a:solidFill>
                <a:srgbClr val="D8D8D8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