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32399288" cy="21599525"/>
  <p:notesSz cx="6997700" cy="9271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102">
          <p15:clr>
            <a:srgbClr val="A4A3A4"/>
          </p15:clr>
        </p15:guide>
        <p15:guide id="2" orient="horz" pos="3245">
          <p15:clr>
            <a:srgbClr val="A4A3A4"/>
          </p15:clr>
        </p15:guide>
        <p15:guide id="3" orient="horz" pos="2236">
          <p15:clr>
            <a:srgbClr val="A4A3A4"/>
          </p15:clr>
        </p15:guide>
        <p15:guide id="4" orient="horz" pos="2797">
          <p15:clr>
            <a:srgbClr val="A4A3A4"/>
          </p15:clr>
        </p15:guide>
        <p15:guide id="5" pos="531">
          <p15:clr>
            <a:srgbClr val="A4A3A4"/>
          </p15:clr>
        </p15:guide>
        <p15:guide id="6" pos="5102">
          <p15:clr>
            <a:srgbClr val="A4A3A4"/>
          </p15:clr>
        </p15:guide>
        <p15:guide id="7" pos="5457">
          <p15:clr>
            <a:srgbClr val="A4A3A4"/>
          </p15:clr>
        </p15:guide>
        <p15:guide id="8" pos="10028">
          <p15:clr>
            <a:srgbClr val="A4A3A4"/>
          </p15:clr>
        </p15:guide>
        <p15:guide id="9" pos="10382">
          <p15:clr>
            <a:srgbClr val="A4A3A4"/>
          </p15:clr>
        </p15:guide>
        <p15:guide id="10" pos="14953">
          <p15:clr>
            <a:srgbClr val="A4A3A4"/>
          </p15:clr>
        </p15:guide>
        <p15:guide id="11" pos="15307">
          <p15:clr>
            <a:srgbClr val="A4A3A4"/>
          </p15:clr>
        </p15:guide>
        <p15:guide id="12" pos="1987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goaMdUGNEFwRnEo1eYEcOvBXsM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10" autoAdjust="0"/>
  </p:normalViewPr>
  <p:slideViewPr>
    <p:cSldViewPr snapToGrid="0">
      <p:cViewPr>
        <p:scale>
          <a:sx n="66" d="100"/>
          <a:sy n="66" d="100"/>
        </p:scale>
        <p:origin x="24" y="-1977"/>
      </p:cViewPr>
      <p:guideLst>
        <p:guide orient="horz" pos="13102"/>
        <p:guide orient="horz" pos="3245"/>
        <p:guide orient="horz" pos="2236"/>
        <p:guide orient="horz" pos="2797"/>
        <p:guide pos="531"/>
        <p:guide pos="5102"/>
        <p:guide pos="5457"/>
        <p:guide pos="10028"/>
        <p:guide pos="10382"/>
        <p:guide pos="14953"/>
        <p:guide pos="15307"/>
        <p:guide pos="19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226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50" tIns="44775" rIns="89550" bIns="447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29063" y="0"/>
            <a:ext cx="30956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50" tIns="44775" rIns="89550" bIns="447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76412" y="693738"/>
            <a:ext cx="5200500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06463" y="4438650"/>
            <a:ext cx="5137150" cy="4160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50" tIns="44775" rIns="89550" bIns="447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09038"/>
            <a:ext cx="302260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50" tIns="44775" rIns="89550" bIns="447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29063" y="8809038"/>
            <a:ext cx="3095625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50" tIns="44775" rIns="8955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050000" y="3535556"/>
            <a:ext cx="24300000" cy="75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4050000" y="11345556"/>
            <a:ext cx="24300000" cy="52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2430469" y="1920000"/>
            <a:ext cx="27539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2430469" y="6240000"/>
            <a:ext cx="27539100" cy="12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2210156" y="5385556"/>
            <a:ext cx="27945600" cy="8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2210156" y="14455556"/>
            <a:ext cx="27945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2430469" y="1920000"/>
            <a:ext cx="27539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2430469" y="6240000"/>
            <a:ext cx="13713300" cy="12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6256250" y="6240000"/>
            <a:ext cx="13713300" cy="12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2231250" y="1150000"/>
            <a:ext cx="27945600" cy="41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2231250" y="5295556"/>
            <a:ext cx="13707300" cy="2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2231250" y="7890000"/>
            <a:ext cx="13707300" cy="116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3"/>
          </p:nvPr>
        </p:nvSpPr>
        <p:spPr>
          <a:xfrm>
            <a:off x="16402735" y="5295556"/>
            <a:ext cx="13774200" cy="2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4"/>
          </p:nvPr>
        </p:nvSpPr>
        <p:spPr>
          <a:xfrm>
            <a:off x="16402735" y="7890000"/>
            <a:ext cx="13774200" cy="116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2430469" y="1920000"/>
            <a:ext cx="27539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231250" y="1440000"/>
            <a:ext cx="104508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13774219" y="3110000"/>
            <a:ext cx="16402800" cy="15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3746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  <a:defRPr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■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○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■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■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2231250" y="6480000"/>
            <a:ext cx="10450800" cy="120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2231250" y="1440000"/>
            <a:ext cx="104508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>
            <a:spLocks noGrp="1"/>
          </p:cNvSpPr>
          <p:nvPr>
            <p:ph type="pic" idx="2"/>
          </p:nvPr>
        </p:nvSpPr>
        <p:spPr>
          <a:xfrm>
            <a:off x="13774219" y="3110000"/>
            <a:ext cx="15552300" cy="153501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231250" y="6480000"/>
            <a:ext cx="10450800" cy="120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2430469" y="1920000"/>
            <a:ext cx="27539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9719981" y="-1049550"/>
            <a:ext cx="12960000" cy="275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 rot="5400000">
            <a:off x="17887181" y="7117650"/>
            <a:ext cx="17280000" cy="6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1"/>
          </p:nvPr>
        </p:nvSpPr>
        <p:spPr>
          <a:xfrm rot="5400000">
            <a:off x="4061316" y="289050"/>
            <a:ext cx="17280000" cy="205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457200" marR="0" lvl="0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6D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2430469" y="1920000"/>
            <a:ext cx="27539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9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dt" idx="10"/>
          </p:nvPr>
        </p:nvSpPr>
        <p:spPr>
          <a:xfrm>
            <a:off x="2430469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11069531" y="19680000"/>
            <a:ext cx="102609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23219531" y="19680000"/>
            <a:ext cx="67500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9550" tIns="154775" rIns="309550" bIns="15477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sz="4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‹Nº›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43750" y="4533900"/>
            <a:ext cx="7256400" cy="1626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662500" y="4533900"/>
            <a:ext cx="7256400" cy="1626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16481250" y="4533900"/>
            <a:ext cx="7256400" cy="1626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4300000" y="4533900"/>
            <a:ext cx="7256400" cy="1626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EBBDA-F373-13C2-7E6E-0EB8CB99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5AF3A-7DBC-CDE8-8BDE-B169ED607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D1A68D-4103-7FFA-5022-A98CBE4A3E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3F59EB-124D-75D9-A73F-02C90E0B31DF}"/>
              </a:ext>
            </a:extLst>
          </p:cNvPr>
          <p:cNvSpPr>
            <a:spLocks/>
          </p:cNvSpPr>
          <p:nvPr/>
        </p:nvSpPr>
        <p:spPr>
          <a:xfrm>
            <a:off x="0" y="0"/>
            <a:ext cx="32399288" cy="215995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5F580C-6BD1-CC11-8624-31E551357CB7}"/>
              </a:ext>
            </a:extLst>
          </p:cNvPr>
          <p:cNvSpPr/>
          <p:nvPr/>
        </p:nvSpPr>
        <p:spPr>
          <a:xfrm>
            <a:off x="510917" y="4609451"/>
            <a:ext cx="7256400" cy="1619771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1BD603-3753-2213-BDA5-729033BCD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7759" y="4805169"/>
            <a:ext cx="7256400" cy="16002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704779A-49FD-6892-D498-E1B47859D7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31259" y="4540146"/>
            <a:ext cx="7256400" cy="16267023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Google Shape;95;p1">
            <a:extLst>
              <a:ext uri="{FF2B5EF4-FFF2-40B4-BE49-F238E27FC236}">
                <a16:creationId xmlns:a16="http://schemas.microsoft.com/office/drawing/2014/main" id="{BA1FE785-A8F3-F450-3739-E3E44A4BDF8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712" y="-26485"/>
            <a:ext cx="32400000" cy="25952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91725" tIns="522300" rIns="391725" bIns="391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AU" sz="8000" b="1" i="0" u="none" strike="noStrike" cap="none" dirty="0" err="1">
                <a:solidFill>
                  <a:schemeClr val="accent6"/>
                </a:solidFill>
                <a:latin typeface="Albert Sans ExtraBold" pitchFamily="2" charset="0"/>
                <a:sym typeface="Arial"/>
              </a:rPr>
              <a:t>Título</a:t>
            </a:r>
            <a:r>
              <a:rPr lang="en-AU" sz="8000" b="1" i="0" u="none" strike="noStrike" cap="none" dirty="0">
                <a:solidFill>
                  <a:schemeClr val="accent6"/>
                </a:solidFill>
                <a:latin typeface="Albert Sans ExtraBold" pitchFamily="2" charset="0"/>
                <a:sym typeface="Arial"/>
              </a:rPr>
              <a:t> de Proyecto (</a:t>
            </a:r>
            <a:r>
              <a:rPr lang="en-AU" sz="8000" b="1" i="0" u="none" strike="noStrike" cap="none" dirty="0" err="1">
                <a:solidFill>
                  <a:schemeClr val="accent6"/>
                </a:solidFill>
                <a:latin typeface="Albert Sans ExtraBold" pitchFamily="2" charset="0"/>
                <a:sym typeface="Arial"/>
              </a:rPr>
              <a:t>descriptivo</a:t>
            </a:r>
            <a:r>
              <a:rPr lang="en-AU" sz="8000" b="1" i="0" u="none" strike="noStrike" cap="none" dirty="0">
                <a:solidFill>
                  <a:schemeClr val="accent6"/>
                </a:solidFill>
                <a:latin typeface="Albert Sans ExtraBold" pitchFamily="2" charset="0"/>
                <a:sym typeface="Arial"/>
              </a:rPr>
              <a:t>)</a:t>
            </a:r>
            <a:endParaRPr sz="8000" b="1" i="0" u="none" strike="noStrike" cap="none" dirty="0">
              <a:solidFill>
                <a:schemeClr val="accent6"/>
              </a:solidFill>
              <a:latin typeface="Albert Sans ExtraBold" pitchFamily="2" charset="0"/>
              <a:sym typeface="Arial"/>
            </a:endParaRPr>
          </a:p>
        </p:txBody>
      </p:sp>
      <p:sp>
        <p:nvSpPr>
          <p:cNvPr id="10" name="Google Shape;100;p1">
            <a:extLst>
              <a:ext uri="{FF2B5EF4-FFF2-40B4-BE49-F238E27FC236}">
                <a16:creationId xmlns:a16="http://schemas.microsoft.com/office/drawing/2014/main" id="{AFD97A30-C5C0-8F92-18B9-85A2E24CA9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598757"/>
            <a:ext cx="32400000" cy="159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" name="Imagen 11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8CF28915-61FC-FD76-0AE0-1A01C45E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9768" y="709500"/>
            <a:ext cx="3846584" cy="1295403"/>
          </a:xfrm>
          <a:prstGeom prst="rect">
            <a:avLst/>
          </a:prstGeom>
        </p:spPr>
      </p:pic>
      <p:pic>
        <p:nvPicPr>
          <p:cNvPr id="13" name="Google Shape;118;p1">
            <a:extLst>
              <a:ext uri="{FF2B5EF4-FFF2-40B4-BE49-F238E27FC236}">
                <a16:creationId xmlns:a16="http://schemas.microsoft.com/office/drawing/2014/main" id="{2075CF99-CBA5-D43C-2833-19D33ADB79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1964" y="237495"/>
            <a:ext cx="5456072" cy="2067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96;p1">
            <a:extLst>
              <a:ext uri="{FF2B5EF4-FFF2-40B4-BE49-F238E27FC236}">
                <a16:creationId xmlns:a16="http://schemas.microsoft.com/office/drawing/2014/main" id="{F83D1BD4-C7C2-585F-17CA-9F42EDA52372}"/>
              </a:ext>
            </a:extLst>
          </p:cNvPr>
          <p:cNvSpPr txBox="1"/>
          <p:nvPr/>
        </p:nvSpPr>
        <p:spPr>
          <a:xfrm>
            <a:off x="843038" y="2743505"/>
            <a:ext cx="30712500" cy="17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150" tIns="261150" rIns="261150" bIns="261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-AU" sz="4200" b="1" i="0" u="none" strike="noStrike" cap="none" dirty="0">
                <a:solidFill>
                  <a:schemeClr val="tx1"/>
                </a:solidFill>
                <a:latin typeface="Albert Sans" pitchFamily="2" charset="0"/>
              </a:rPr>
              <a:t>Autor #1, Autor #2, Autor #3, …</a:t>
            </a:r>
            <a:endParaRPr sz="4200" b="1" i="0" u="none" strike="noStrike" cap="none" dirty="0">
              <a:solidFill>
                <a:schemeClr val="tx1"/>
              </a:solidFill>
              <a:latin typeface="Albert Sans" pitchFamily="2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-AU" sz="4200" b="1" dirty="0">
                <a:solidFill>
                  <a:schemeClr val="tx1"/>
                </a:solidFill>
                <a:latin typeface="Albert Sans" pitchFamily="2" charset="0"/>
              </a:rPr>
              <a:t>ME4250 2025-(N° de </a:t>
            </a:r>
            <a:r>
              <a:rPr lang="en-AU" sz="4200" b="1" dirty="0" err="1">
                <a:solidFill>
                  <a:schemeClr val="tx1"/>
                </a:solidFill>
                <a:latin typeface="Albert Sans" pitchFamily="2" charset="0"/>
              </a:rPr>
              <a:t>su</a:t>
            </a:r>
            <a:r>
              <a:rPr lang="en-AU" sz="4200" b="1" dirty="0">
                <a:solidFill>
                  <a:schemeClr val="tx1"/>
                </a:solidFill>
                <a:latin typeface="Albert Sans" pitchFamily="2" charset="0"/>
              </a:rPr>
              <a:t> </a:t>
            </a:r>
            <a:r>
              <a:rPr lang="en-AU" sz="4200" b="1" dirty="0" err="1">
                <a:solidFill>
                  <a:schemeClr val="tx1"/>
                </a:solidFill>
                <a:latin typeface="Albert Sans" pitchFamily="2" charset="0"/>
              </a:rPr>
              <a:t>sección</a:t>
            </a:r>
            <a:r>
              <a:rPr lang="en-AU" sz="4200" b="1" dirty="0">
                <a:solidFill>
                  <a:schemeClr val="tx1"/>
                </a:solidFill>
                <a:latin typeface="Albert Sans" pitchFamily="2" charset="0"/>
              </a:rPr>
              <a:t>)</a:t>
            </a:r>
            <a:endParaRPr sz="4200" b="1" dirty="0">
              <a:solidFill>
                <a:schemeClr val="tx1"/>
              </a:solidFill>
              <a:latin typeface="Albert Sans" pitchFamily="2" charset="0"/>
            </a:endParaRPr>
          </a:p>
        </p:txBody>
      </p:sp>
      <p:sp>
        <p:nvSpPr>
          <p:cNvPr id="16" name="Google Shape;112;p1">
            <a:extLst>
              <a:ext uri="{FF2B5EF4-FFF2-40B4-BE49-F238E27FC236}">
                <a16:creationId xmlns:a16="http://schemas.microsoft.com/office/drawing/2014/main" id="{357C12BC-D728-CC35-F9EF-8AF0F2475E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7759" y="4540146"/>
            <a:ext cx="7256400" cy="744308"/>
          </a:xfrm>
          <a:prstGeom prst="round2Same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61150" tIns="130575" rIns="261150" bIns="130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Propuesta</a:t>
            </a:r>
            <a:r>
              <a:rPr lang="en-AU" sz="2900" b="1" i="0" u="none" strike="noStrike" cap="none" dirty="0">
                <a:solidFill>
                  <a:schemeClr val="lt1"/>
                </a:solidFill>
                <a:latin typeface="Albert Sans ExtraBold" pitchFamily="2" charset="0"/>
                <a:sym typeface="Arial"/>
              </a:rPr>
              <a:t>/</a:t>
            </a: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Metodología</a:t>
            </a:r>
            <a:endParaRPr sz="2900" b="1" i="0" u="none" strike="noStrike" cap="none" dirty="0">
              <a:solidFill>
                <a:schemeClr val="lt1"/>
              </a:solidFill>
              <a:latin typeface="Albert Sans ExtraBold" pitchFamily="2" charset="0"/>
              <a:sym typeface="Arial"/>
            </a:endParaRPr>
          </a:p>
        </p:txBody>
      </p:sp>
      <p:sp>
        <p:nvSpPr>
          <p:cNvPr id="18" name="Google Shape;115;p1">
            <a:extLst>
              <a:ext uri="{FF2B5EF4-FFF2-40B4-BE49-F238E27FC236}">
                <a16:creationId xmlns:a16="http://schemas.microsoft.com/office/drawing/2014/main" id="{2FA429C2-3426-526B-AE38-5F4BEA1E9C7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631971" y="13220440"/>
            <a:ext cx="7256400" cy="744308"/>
          </a:xfrm>
          <a:prstGeom prst="round2Same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61150" tIns="130575" rIns="261150" bIns="130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Conclusiones</a:t>
            </a:r>
            <a:endParaRPr sz="2900" b="1" i="0" u="none" strike="noStrike" cap="none" dirty="0">
              <a:solidFill>
                <a:schemeClr val="lt1"/>
              </a:solidFill>
              <a:latin typeface="Albert Sans ExtraBold" pitchFamily="2" charset="0"/>
              <a:sym typeface="Aria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6EC7F00-B7E2-42B8-4412-0761187E6E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663889" y="4831654"/>
            <a:ext cx="7256400" cy="160020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6D6C026-E45D-6A66-AE8C-FD09891AC1E3}"/>
              </a:ext>
            </a:extLst>
          </p:cNvPr>
          <p:cNvSpPr>
            <a:spLocks/>
          </p:cNvSpPr>
          <p:nvPr/>
        </p:nvSpPr>
        <p:spPr>
          <a:xfrm>
            <a:off x="503717" y="5834833"/>
            <a:ext cx="7259288" cy="1499882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Google Shape;111;p1">
            <a:extLst>
              <a:ext uri="{FF2B5EF4-FFF2-40B4-BE49-F238E27FC236}">
                <a16:creationId xmlns:a16="http://schemas.microsoft.com/office/drawing/2014/main" id="{A1897A66-CF36-92CE-4694-036B0ABC42E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8741" y="4513763"/>
            <a:ext cx="7262888" cy="744308"/>
          </a:xfrm>
          <a:prstGeom prst="round2Same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61150" tIns="130575" rIns="261150" bIns="130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Introducción</a:t>
            </a:r>
            <a:endParaRPr lang="en-AU" sz="2900" b="1" i="0" u="none" strike="noStrike" cap="none" dirty="0">
              <a:solidFill>
                <a:schemeClr val="lt1"/>
              </a:solidFill>
              <a:latin typeface="Albert Sans ExtraBold" pitchFamily="2" charset="0"/>
              <a:sym typeface="Arial"/>
            </a:endParaRPr>
          </a:p>
        </p:txBody>
      </p:sp>
      <p:sp>
        <p:nvSpPr>
          <p:cNvPr id="17" name="Google Shape;114;p1">
            <a:extLst>
              <a:ext uri="{FF2B5EF4-FFF2-40B4-BE49-F238E27FC236}">
                <a16:creationId xmlns:a16="http://schemas.microsoft.com/office/drawing/2014/main" id="{BF3BFB5F-B3E2-8B01-6D4C-E56639EAD7C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663889" y="4518524"/>
            <a:ext cx="7256400" cy="744308"/>
          </a:xfrm>
          <a:prstGeom prst="round2Same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61150" tIns="130575" rIns="261150" bIns="130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Resultados</a:t>
            </a:r>
            <a:r>
              <a:rPr lang="en-AU" sz="2900" b="1" i="0" u="none" strike="noStrike" cap="none" dirty="0">
                <a:solidFill>
                  <a:schemeClr val="lt1"/>
                </a:solidFill>
                <a:latin typeface="Albert Sans ExtraBold" pitchFamily="2" charset="0"/>
                <a:sym typeface="Arial"/>
              </a:rPr>
              <a:t> &amp; </a:t>
            </a: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Discusión</a:t>
            </a:r>
            <a:endParaRPr sz="2900" b="1" i="0" u="none" strike="noStrike" cap="none" dirty="0">
              <a:solidFill>
                <a:schemeClr val="lt1"/>
              </a:solidFill>
              <a:latin typeface="Albert Sans ExtraBold" pitchFamily="2" charset="0"/>
              <a:sym typeface="Arial"/>
            </a:endParaRPr>
          </a:p>
        </p:txBody>
      </p:sp>
      <p:sp>
        <p:nvSpPr>
          <p:cNvPr id="23" name="Google Shape;113;p1">
            <a:extLst>
              <a:ext uri="{FF2B5EF4-FFF2-40B4-BE49-F238E27FC236}">
                <a16:creationId xmlns:a16="http://schemas.microsoft.com/office/drawing/2014/main" id="{1AF2F255-2A44-0C38-57BE-12FA4F480E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0205" y="13242606"/>
            <a:ext cx="7252800" cy="744308"/>
          </a:xfrm>
          <a:prstGeom prst="round2Same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61150" tIns="130575" rIns="261150" bIns="130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Objetivos</a:t>
            </a:r>
            <a:r>
              <a:rPr lang="en-AU" sz="2900" b="1" i="0" u="none" strike="noStrike" cap="none" dirty="0">
                <a:solidFill>
                  <a:schemeClr val="lt1"/>
                </a:solidFill>
                <a:latin typeface="Albert Sans ExtraBold" pitchFamily="2" charset="0"/>
                <a:sym typeface="Arial"/>
              </a:rPr>
              <a:t> del </a:t>
            </a: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proyecto</a:t>
            </a:r>
            <a:endParaRPr sz="2900" b="1" i="0" u="none" strike="noStrike" cap="none" dirty="0">
              <a:solidFill>
                <a:schemeClr val="lt1"/>
              </a:solidFill>
              <a:latin typeface="Albert Sans ExtraBold" pitchFamily="2" charset="0"/>
              <a:sym typeface="Arial"/>
            </a:endParaRPr>
          </a:p>
        </p:txBody>
      </p:sp>
      <p:sp>
        <p:nvSpPr>
          <p:cNvPr id="24" name="Google Shape;116;p1">
            <a:extLst>
              <a:ext uri="{FF2B5EF4-FFF2-40B4-BE49-F238E27FC236}">
                <a16:creationId xmlns:a16="http://schemas.microsoft.com/office/drawing/2014/main" id="{12780E16-1021-352D-BC8E-DF4CF32BE13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631259" y="18079690"/>
            <a:ext cx="7256400" cy="744308"/>
          </a:xfrm>
          <a:prstGeom prst="round2Same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261150" tIns="130575" rIns="261150" bIns="130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AU" sz="2900" b="1" i="0" u="none" strike="noStrike" cap="none" dirty="0" err="1">
                <a:solidFill>
                  <a:schemeClr val="lt1"/>
                </a:solidFill>
                <a:latin typeface="Albert Sans ExtraBold" pitchFamily="2" charset="0"/>
                <a:sym typeface="Arial"/>
              </a:rPr>
              <a:t>Referencias</a:t>
            </a:r>
            <a:endParaRPr sz="2900" b="1" i="0" u="none" strike="noStrike" cap="none" dirty="0">
              <a:solidFill>
                <a:schemeClr val="lt1"/>
              </a:solidFill>
              <a:latin typeface="Albert Sans ExtraBold" pitchFamily="2" charset="0"/>
              <a:sym typeface="Arial"/>
            </a:endParaRPr>
          </a:p>
        </p:txBody>
      </p:sp>
      <p:sp>
        <p:nvSpPr>
          <p:cNvPr id="25" name="Google Shape;91;p1">
            <a:extLst>
              <a:ext uri="{FF2B5EF4-FFF2-40B4-BE49-F238E27FC236}">
                <a16:creationId xmlns:a16="http://schemas.microsoft.com/office/drawing/2014/main" id="{F09C2096-8D82-6B2F-2BA8-E1E20F969F35}"/>
              </a:ext>
            </a:extLst>
          </p:cNvPr>
          <p:cNvSpPr txBox="1"/>
          <p:nvPr/>
        </p:nvSpPr>
        <p:spPr>
          <a:xfrm>
            <a:off x="543815" y="5843220"/>
            <a:ext cx="7252800" cy="406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150" tIns="261150" rIns="261150" bIns="261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Lorem ipsum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dolor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sit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amet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consectetur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adipiscing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sed do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eiusmod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tempor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incididunt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labore et dolore magna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aliqua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Ut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enim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ad minim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veniam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quis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nostrud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exercitation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ullamco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laboris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nisi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aliquip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ex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commodo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consequat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Duis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aute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irure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dolor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reprehenderit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voluptate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velit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esse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cillum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dolore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fugiat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nulla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pariatur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Excepteur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sint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occaecat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cupidatat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non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proident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sunt in culpa qui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officia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deserunt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mollit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anim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id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laborum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b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b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Introducción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concisa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relacionada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al Proyecto del robot,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inspiraciones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breve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resumen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todo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contenido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del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póster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(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Objetivos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metodología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resultados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discusión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conclusions).</a:t>
            </a:r>
            <a:b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endParaRPr sz="1000" b="1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</p:txBody>
      </p:sp>
      <p:sp>
        <p:nvSpPr>
          <p:cNvPr id="26" name="Google Shape;97;p1">
            <a:extLst>
              <a:ext uri="{FF2B5EF4-FFF2-40B4-BE49-F238E27FC236}">
                <a16:creationId xmlns:a16="http://schemas.microsoft.com/office/drawing/2014/main" id="{330C5B33-AA73-71AA-1BEE-BECB7E8C62C9}"/>
              </a:ext>
            </a:extLst>
          </p:cNvPr>
          <p:cNvSpPr txBox="1"/>
          <p:nvPr/>
        </p:nvSpPr>
        <p:spPr>
          <a:xfrm>
            <a:off x="513805" y="14257375"/>
            <a:ext cx="7252800" cy="6580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150" tIns="261150" rIns="261150" bIns="261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Cómo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utilizar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esta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plantilla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póster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...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Simplemente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resalte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texto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sustitúyalo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escribiendo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propio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texto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copie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pegue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texto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desde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un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documento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MS Word 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una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presentación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diapositivas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PowerPoint. 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Los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cuadros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texto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subtítulos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pueden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desplazarse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hacia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arriba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hacia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abajo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función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tamaño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"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Introducción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", "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Objetivo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", ”Estado del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arte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", "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Resultados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destacados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" y "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Conclusiones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".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El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cuerpo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texto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/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tamaño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la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letra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debe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estar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entre 24 y 32 puntos. Arial, Helvetica 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equivalente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Mantenga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texto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cuerpo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alineado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 la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izquierda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no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justifique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texto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b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b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Los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objetivos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del Proyecto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deben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ser con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verbos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que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tengan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relación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 lo qu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e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hicieron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(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ej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: no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sirve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programación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,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debe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ser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programar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/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implementar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, etc.) Es recommendable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considerar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un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objetivo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general y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específicos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que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permiten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cumplir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el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general.</a:t>
            </a:r>
            <a:endParaRPr sz="1000" b="1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</p:txBody>
      </p:sp>
      <p:sp>
        <p:nvSpPr>
          <p:cNvPr id="28" name="Google Shape;105;p1">
            <a:extLst>
              <a:ext uri="{FF2B5EF4-FFF2-40B4-BE49-F238E27FC236}">
                <a16:creationId xmlns:a16="http://schemas.microsoft.com/office/drawing/2014/main" id="{F290BFA0-8C13-DD93-130E-9593B1B338DE}"/>
              </a:ext>
            </a:extLst>
          </p:cNvPr>
          <p:cNvSpPr txBox="1"/>
          <p:nvPr/>
        </p:nvSpPr>
        <p:spPr>
          <a:xfrm>
            <a:off x="8869455" y="14319764"/>
            <a:ext cx="2587500" cy="23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575" tIns="130575" rIns="130575" bIns="1305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AU" sz="15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pies de foto deben ir en Times o Times New Roman o equivalente, en cursiva, entre 18 y 24 puntos. Alineado a la derecha si se refiere a una figura a su derecha. El pie de foto comienza justo en el borde superior de la imagen (gráfico o foto).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06;p1">
            <a:extLst>
              <a:ext uri="{FF2B5EF4-FFF2-40B4-BE49-F238E27FC236}">
                <a16:creationId xmlns:a16="http://schemas.microsoft.com/office/drawing/2014/main" id="{94D793DD-4A99-6E07-6F88-A1A453A819C4}"/>
              </a:ext>
            </a:extLst>
          </p:cNvPr>
          <p:cNvSpPr/>
          <p:nvPr/>
        </p:nvSpPr>
        <p:spPr>
          <a:xfrm>
            <a:off x="11465158" y="14479764"/>
            <a:ext cx="3985500" cy="25188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107;p1">
            <a:extLst>
              <a:ext uri="{FF2B5EF4-FFF2-40B4-BE49-F238E27FC236}">
                <a16:creationId xmlns:a16="http://schemas.microsoft.com/office/drawing/2014/main" id="{19E4EA1A-22E4-A67C-8E2B-FDF46230BF31}"/>
              </a:ext>
            </a:extLst>
          </p:cNvPr>
          <p:cNvSpPr/>
          <p:nvPr/>
        </p:nvSpPr>
        <p:spPr>
          <a:xfrm>
            <a:off x="8869455" y="17425319"/>
            <a:ext cx="6581400" cy="25188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108;p1">
            <a:extLst>
              <a:ext uri="{FF2B5EF4-FFF2-40B4-BE49-F238E27FC236}">
                <a16:creationId xmlns:a16="http://schemas.microsoft.com/office/drawing/2014/main" id="{8FC25828-B35D-298D-9D2B-8817DCEF347F}"/>
              </a:ext>
            </a:extLst>
          </p:cNvPr>
          <p:cNvSpPr txBox="1"/>
          <p:nvPr/>
        </p:nvSpPr>
        <p:spPr>
          <a:xfrm>
            <a:off x="8869455" y="20027541"/>
            <a:ext cx="65814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150" rIns="0" bIns="33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AU" sz="15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pies de foto deben ir en Times o Times New Roman o equivalente, en cursiva, de 18 a 24 puntos, hasta la longitud de la columna en caso de que una figura ocupe más de 2/3 del ancho de la columna.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09;p1">
            <a:extLst>
              <a:ext uri="{FF2B5EF4-FFF2-40B4-BE49-F238E27FC236}">
                <a16:creationId xmlns:a16="http://schemas.microsoft.com/office/drawing/2014/main" id="{46B7F888-2894-C397-F028-46AE24977D00}"/>
              </a:ext>
            </a:extLst>
          </p:cNvPr>
          <p:cNvSpPr/>
          <p:nvPr/>
        </p:nvSpPr>
        <p:spPr>
          <a:xfrm>
            <a:off x="8869455" y="11439764"/>
            <a:ext cx="3985500" cy="25188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110;p1">
            <a:extLst>
              <a:ext uri="{FF2B5EF4-FFF2-40B4-BE49-F238E27FC236}">
                <a16:creationId xmlns:a16="http://schemas.microsoft.com/office/drawing/2014/main" id="{CBF9200D-678A-F59A-9E89-9B9D45AA71C3}"/>
              </a:ext>
            </a:extLst>
          </p:cNvPr>
          <p:cNvSpPr txBox="1"/>
          <p:nvPr/>
        </p:nvSpPr>
        <p:spPr>
          <a:xfrm>
            <a:off x="12863205" y="11295319"/>
            <a:ext cx="2587500" cy="25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575" tIns="130575" rIns="130575" bIns="130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AU" sz="15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pies de foto deben ir en Times o Times New Roman o equivalente, en cursiva, entre 18 y 24 puntos.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AU" sz="15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Alineado a la izquierda si se refiere a una figura a su izquierda. El pie de foto comienza justo en el borde superior de la imagen (gráfico o foto).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92;p1">
            <a:extLst>
              <a:ext uri="{FF2B5EF4-FFF2-40B4-BE49-F238E27FC236}">
                <a16:creationId xmlns:a16="http://schemas.microsoft.com/office/drawing/2014/main" id="{5DF3464C-4616-6D89-4070-F95E260AC6AD}"/>
              </a:ext>
            </a:extLst>
          </p:cNvPr>
          <p:cNvSpPr txBox="1"/>
          <p:nvPr/>
        </p:nvSpPr>
        <p:spPr>
          <a:xfrm>
            <a:off x="8611092" y="5798650"/>
            <a:ext cx="7252800" cy="606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150" tIns="261150" rIns="261150" bIns="261150" anchor="t" anchorCtr="0">
            <a:spAutoFit/>
          </a:bodyPr>
          <a:lstStyle/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Consejos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para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hacer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un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póster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con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éxito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...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Simplifique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todo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evite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exceso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datos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Los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títulos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más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6 palabras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deben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mayúsculas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minúsculas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no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mayúsculas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No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escribas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nunca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frases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enteras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mayúsculas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ni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las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subrayes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para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enfatizar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tu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punto de vista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utiliza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lugar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caracteres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negrita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Al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diseñar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póster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deje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un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espacio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respiración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alrededor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texto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No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sobrecargue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cartel.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Intenta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utilizar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fotografías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gráficos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colores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Evita las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tablas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numéricas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largas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330200" marR="0" lvl="0" indent="-330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Corrige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la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ortografía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pide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otra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persona que lo revise</a:t>
            </a:r>
            <a:r>
              <a:rPr lang="en-AU" sz="2000" dirty="0">
                <a:solidFill>
                  <a:schemeClr val="dk1"/>
                </a:solidFill>
              </a:rPr>
              <a:t> (revision entre pares).</a:t>
            </a:r>
            <a:br>
              <a:rPr lang="en-A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</a:b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El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formato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propuesto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 a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continuación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 es solo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una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guía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deben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crear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el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suyo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/>
                <a:sym typeface="Arial"/>
              </a:rPr>
              <a:t>personalizado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/>
                <a:sym typeface="Arial"/>
              </a:rPr>
              <a:t>:</a:t>
            </a:r>
            <a:endParaRPr sz="1000" b="1" i="0" u="none" strike="noStrike" cap="none" dirty="0">
              <a:solidFill>
                <a:srgbClr val="000000"/>
              </a:solidFill>
              <a:latin typeface="Albert Sans Medium"/>
              <a:sym typeface="Arial"/>
            </a:endParaRPr>
          </a:p>
        </p:txBody>
      </p:sp>
      <p:sp>
        <p:nvSpPr>
          <p:cNvPr id="35" name="Google Shape;93;p1">
            <a:extLst>
              <a:ext uri="{FF2B5EF4-FFF2-40B4-BE49-F238E27FC236}">
                <a16:creationId xmlns:a16="http://schemas.microsoft.com/office/drawing/2014/main" id="{00DDA8D8-2286-E552-208A-214717717813}"/>
              </a:ext>
            </a:extLst>
          </p:cNvPr>
          <p:cNvSpPr txBox="1"/>
          <p:nvPr/>
        </p:nvSpPr>
        <p:spPr>
          <a:xfrm>
            <a:off x="16663889" y="5284454"/>
            <a:ext cx="7252800" cy="729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150" tIns="261150" rIns="261150" bIns="261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Importar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/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insertar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archivos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...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lbert Sans Medium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Se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pueden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añadir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póster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imágenes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como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fotografías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gráficos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diagramas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logotipos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etc.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lbert Sans Medium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Para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insertar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imágenes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escaneadas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póster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vaya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través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menús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la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siguiente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manera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: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Insertar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/ Imagen /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Desde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archivo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... luego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busque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archivo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ordenador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selecciónelo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pulse OK.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lbert Sans Medium" pitchFamily="2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El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mejor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tipo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archivos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imagen para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insertar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son JPEG o TIFF,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siendo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JPEG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formato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preferido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b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b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Se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recomienda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encarecidamente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como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resultados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discusión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Sistema de control (curvas PID,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parámetros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etc).,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fabricación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del robot,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uso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o no de PCB y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manejo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de cables, etc.</a:t>
            </a:r>
            <a:b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b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Las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discusiones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deben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estar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basadas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trabajo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realizado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y no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lo que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podrían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haber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hecho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.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Esto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último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es para las conclusions.</a:t>
            </a:r>
            <a:endParaRPr sz="1000" b="1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</p:txBody>
      </p:sp>
      <p:sp>
        <p:nvSpPr>
          <p:cNvPr id="36" name="Google Shape;101;p1">
            <a:extLst>
              <a:ext uri="{FF2B5EF4-FFF2-40B4-BE49-F238E27FC236}">
                <a16:creationId xmlns:a16="http://schemas.microsoft.com/office/drawing/2014/main" id="{C312FE81-7C53-10AE-5F10-3E6B3306CB72}"/>
              </a:ext>
            </a:extLst>
          </p:cNvPr>
          <p:cNvSpPr/>
          <p:nvPr/>
        </p:nvSpPr>
        <p:spPr>
          <a:xfrm>
            <a:off x="17005167" y="17335795"/>
            <a:ext cx="6581400" cy="25188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102;p1">
            <a:extLst>
              <a:ext uri="{FF2B5EF4-FFF2-40B4-BE49-F238E27FC236}">
                <a16:creationId xmlns:a16="http://schemas.microsoft.com/office/drawing/2014/main" id="{B0F796F0-4BD2-32B2-6424-020A40B77446}"/>
              </a:ext>
            </a:extLst>
          </p:cNvPr>
          <p:cNvSpPr txBox="1"/>
          <p:nvPr/>
        </p:nvSpPr>
        <p:spPr>
          <a:xfrm>
            <a:off x="17059708" y="19991506"/>
            <a:ext cx="65814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150" rIns="0" bIns="33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pies de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foto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deben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Times o Times New Roman o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equivalente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cursiva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 18 a 24 puntos, hasta la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longitud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caso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que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ocupe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más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2/3 del ancho de la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103;p1">
            <a:extLst>
              <a:ext uri="{FF2B5EF4-FFF2-40B4-BE49-F238E27FC236}">
                <a16:creationId xmlns:a16="http://schemas.microsoft.com/office/drawing/2014/main" id="{3305B8EC-CAEE-9B09-6367-0E149279E549}"/>
              </a:ext>
            </a:extLst>
          </p:cNvPr>
          <p:cNvSpPr/>
          <p:nvPr/>
        </p:nvSpPr>
        <p:spPr>
          <a:xfrm>
            <a:off x="16994103" y="14423992"/>
            <a:ext cx="3985500" cy="25188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6325" tIns="33150" rIns="66325" bIns="3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104;p1">
            <a:extLst>
              <a:ext uri="{FF2B5EF4-FFF2-40B4-BE49-F238E27FC236}">
                <a16:creationId xmlns:a16="http://schemas.microsoft.com/office/drawing/2014/main" id="{16413725-2EAA-CE06-50E6-45AD6985CFD6}"/>
              </a:ext>
            </a:extLst>
          </p:cNvPr>
          <p:cNvSpPr txBox="1"/>
          <p:nvPr/>
        </p:nvSpPr>
        <p:spPr>
          <a:xfrm>
            <a:off x="20999067" y="14340570"/>
            <a:ext cx="2587500" cy="25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575" tIns="130575" rIns="130575" bIns="130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pies de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foto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deben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Times o Times New Roman o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equivalente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cursiva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entre 18 y 24 puntos. 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Alineado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la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izquierda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refiere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izquierda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El pie de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foto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comienza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justo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borde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superior de la imagen (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gráfico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AU" sz="1500" b="0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foto</a:t>
            </a:r>
            <a:r>
              <a:rPr lang="en-AU" sz="1500" b="0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94;p1">
            <a:extLst>
              <a:ext uri="{FF2B5EF4-FFF2-40B4-BE49-F238E27FC236}">
                <a16:creationId xmlns:a16="http://schemas.microsoft.com/office/drawing/2014/main" id="{B7AA1D69-5C5F-3689-033E-368F29E4885F}"/>
              </a:ext>
            </a:extLst>
          </p:cNvPr>
          <p:cNvSpPr txBox="1"/>
          <p:nvPr/>
        </p:nvSpPr>
        <p:spPr>
          <a:xfrm>
            <a:off x="24522499" y="4923506"/>
            <a:ext cx="7252800" cy="329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150" tIns="261150" rIns="261150" bIns="261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Lorem ipsum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dolor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sit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amet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consectetur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adipiscing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sed do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eiusmod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tempor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incididunt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labore et dolore magna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aliqua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Ut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enim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ad minim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veniam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quis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nostrud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exercitation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ullamco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laboris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nisi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aliquip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ex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commodo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consequat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Duis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aute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irure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dolor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reprehenderit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voluptate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velit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esse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cillum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dolore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fugiat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nulla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pariatur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Excepteur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sint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occaecat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cupidatat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non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proident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sunt in culpa qui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officia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deserunt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mollit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anim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id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laborum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</p:txBody>
      </p:sp>
      <p:sp>
        <p:nvSpPr>
          <p:cNvPr id="41" name="Google Shape;94;p1">
            <a:extLst>
              <a:ext uri="{FF2B5EF4-FFF2-40B4-BE49-F238E27FC236}">
                <a16:creationId xmlns:a16="http://schemas.microsoft.com/office/drawing/2014/main" id="{867CE466-3F58-8BE5-F0DF-FFBAEE057628}"/>
              </a:ext>
            </a:extLst>
          </p:cNvPr>
          <p:cNvSpPr txBox="1"/>
          <p:nvPr/>
        </p:nvSpPr>
        <p:spPr>
          <a:xfrm>
            <a:off x="24635927" y="13859356"/>
            <a:ext cx="7252800" cy="3605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150" tIns="261150" rIns="261150" bIns="261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Lorem ipsum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dolor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sit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amet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consectetur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adipiscing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sed do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eiusmod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tempor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incididunt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labore et dolore magna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aliqua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Ut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enim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ad minim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veniam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quis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nostrud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exercitation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ullamco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laboris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nisi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ut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aliquip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ex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commodo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consequat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Duis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aute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irure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dolor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reprehenderit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voluptate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velit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esse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cillum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dolore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eu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fugiat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nulla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pariatur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Excepteur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sint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occaecat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cupidatat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non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proident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, sunt in culpa qui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officia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deserunt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mollit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anim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id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est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0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laborum</a:t>
            </a:r>
            <a: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.</a:t>
            </a:r>
            <a:b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br>
              <a:rPr lang="en-AU" sz="2000" b="0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Conclusiones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basadas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su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trabajo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, no se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aceptan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conclusiones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genéricas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a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menos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que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tengan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respaldo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de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su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 </a:t>
            </a:r>
            <a:r>
              <a:rPr lang="en-AU" sz="2000" b="1" dirty="0" err="1">
                <a:solidFill>
                  <a:schemeClr val="dk1"/>
                </a:solidFill>
                <a:latin typeface="Albert Sans Medium" pitchFamily="2" charset="0"/>
              </a:rPr>
              <a:t>trabajo</a:t>
            </a:r>
            <a:r>
              <a:rPr lang="en-AU" sz="2000" b="1" dirty="0">
                <a:solidFill>
                  <a:schemeClr val="dk1"/>
                </a:solidFill>
                <a:latin typeface="Albert Sans Medium" pitchFamily="2" charset="0"/>
              </a:rPr>
              <a:t>.</a:t>
            </a:r>
            <a:endParaRPr sz="1000" b="1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</p:txBody>
      </p:sp>
      <p:sp>
        <p:nvSpPr>
          <p:cNvPr id="42" name="Google Shape;99;p1">
            <a:extLst>
              <a:ext uri="{FF2B5EF4-FFF2-40B4-BE49-F238E27FC236}">
                <a16:creationId xmlns:a16="http://schemas.microsoft.com/office/drawing/2014/main" id="{C345FBBC-0D0D-79E9-86CD-351FE927C577}"/>
              </a:ext>
            </a:extLst>
          </p:cNvPr>
          <p:cNvSpPr txBox="1"/>
          <p:nvPr/>
        </p:nvSpPr>
        <p:spPr>
          <a:xfrm>
            <a:off x="24633059" y="18849096"/>
            <a:ext cx="7252800" cy="175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150" tIns="261150" rIns="261150" bIns="261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Colocar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un enlace y Código QR del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repositorio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donde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se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encuentren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sus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proyectos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almacenados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</a:t>
            </a:r>
            <a:r>
              <a:rPr lang="en-AU" sz="2000" b="1" i="0" u="none" strike="noStrike" cap="none" dirty="0" err="1">
                <a:solidFill>
                  <a:schemeClr val="dk1"/>
                </a:solidFill>
                <a:latin typeface="Albert Sans Medium" pitchFamily="2" charset="0"/>
                <a:sym typeface="Arial"/>
              </a:rPr>
              <a:t>en</a:t>
            </a: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 GITHUB.</a:t>
            </a:r>
            <a:b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b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</a:br>
            <a:r>
              <a:rPr lang="en-AU" sz="2000" b="1" i="0" u="none" strike="noStrike" cap="none" dirty="0">
                <a:solidFill>
                  <a:schemeClr val="dk1"/>
                </a:solidFill>
                <a:latin typeface="Albert Sans Medium" pitchFamily="2" charset="0"/>
                <a:sym typeface="Arial"/>
              </a:rPr>
              <a:t>ESTO ÚLTIMO ES OBLIGATORIO.</a:t>
            </a:r>
            <a:endParaRPr sz="1000" b="1" i="0" u="none" strike="noStrike" cap="none" dirty="0">
              <a:solidFill>
                <a:srgbClr val="000000"/>
              </a:solidFill>
              <a:latin typeface="Albert Sans Medium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345442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Personaliz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05CF2"/>
      </a:accent1>
      <a:accent2>
        <a:srgbClr val="9688F2"/>
      </a:accent2>
      <a:accent3>
        <a:srgbClr val="F2F2F2"/>
      </a:accent3>
      <a:accent4>
        <a:srgbClr val="F28963"/>
      </a:accent4>
      <a:accent5>
        <a:srgbClr val="3D3D40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1043</Words>
  <Application>Microsoft Office PowerPoint</Application>
  <PresentationFormat>Personalizado</PresentationFormat>
  <Paragraphs>39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Albert Sans</vt:lpstr>
      <vt:lpstr>Albert Sans ExtraBold</vt:lpstr>
      <vt:lpstr>Albert Sans Medium</vt:lpstr>
      <vt:lpstr>Arial</vt:lpstr>
      <vt:lpstr>Times New Roman</vt:lpstr>
      <vt:lpstr>Blank Presentation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Medical Illustration Unit</dc:creator>
  <cp:lastModifiedBy>Fernando Ignacio Navarrete Urrutia (fernando.navarrete)</cp:lastModifiedBy>
  <cp:revision>14</cp:revision>
  <dcterms:created xsi:type="dcterms:W3CDTF">1997-10-24T05:44:18Z</dcterms:created>
  <dcterms:modified xsi:type="dcterms:W3CDTF">2025-11-14T15:48:03Z</dcterms:modified>
</cp:coreProperties>
</file>