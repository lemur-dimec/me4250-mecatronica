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72" r:id="rId2"/>
    <p:sldId id="276" r:id="rId3"/>
    <p:sldId id="257" r:id="rId4"/>
    <p:sldId id="277" r:id="rId5"/>
    <p:sldId id="284" r:id="rId6"/>
    <p:sldId id="292" r:id="rId7"/>
    <p:sldId id="278" r:id="rId8"/>
    <p:sldId id="281" r:id="rId9"/>
    <p:sldId id="282" r:id="rId10"/>
    <p:sldId id="286" r:id="rId11"/>
    <p:sldId id="279" r:id="rId12"/>
    <p:sldId id="287" r:id="rId13"/>
    <p:sldId id="291" r:id="rId14"/>
    <p:sldId id="289" r:id="rId15"/>
    <p:sldId id="29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BC79-C7FA-40E5-BAC9-89A9645CFF98}" type="datetimeFigureOut">
              <a:rPr lang="es-ES" smtClean="0"/>
              <a:t>05/05/2025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FA739-237D-4AA3-96DE-7810E026D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32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09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641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695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08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140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64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859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657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026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815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9421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05-05-2025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392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4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71725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Sensores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3DC4825-5F4F-D2FC-4D44-A939DB6A0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64" y="992767"/>
            <a:ext cx="4877481" cy="4877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</p:spPr>
        <p:txBody>
          <a:bodyPr wrap="square" anchor="t">
            <a:normAutofit/>
          </a:bodyPr>
          <a:lstStyle/>
          <a:p>
            <a:r>
              <a:rPr lang="es-CL"/>
              <a:t>Contenido 	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CL" dirty="0"/>
              <a:t>Introducción 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Que es un sensor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Tipos de Sensores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Sensores de distancia 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Sensores de movimiento</a:t>
            </a:r>
            <a:endParaRPr lang="es-CL"/>
          </a:p>
          <a:p>
            <a:pPr>
              <a:spcAft>
                <a:spcPts val="600"/>
              </a:spcAft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935645"/>
          </a:xfrm>
        </p:spPr>
        <p:txBody>
          <a:bodyPr>
            <a:normAutofit/>
          </a:bodyPr>
          <a:lstStyle/>
          <a:p>
            <a:r>
              <a:rPr lang="es-CL" sz="3200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265" y="1801814"/>
            <a:ext cx="4545397" cy="4638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dirty="0"/>
              <a:t>Medición de fuerza, presión, temperatura, sonido, flujo, movimiento, etc.</a:t>
            </a:r>
          </a:p>
          <a:p>
            <a:pPr marL="0" indent="0">
              <a:buNone/>
            </a:pPr>
            <a:r>
              <a:rPr lang="es-CL" sz="1800" dirty="0"/>
              <a:t>Campo de visión y alcance; Precisión; Repetibilidad; Capacidad de respuesta; consumo de energía; confiabilidad del hardware; tamaño; fiabilidad de la interpretación</a:t>
            </a:r>
          </a:p>
          <a:p>
            <a:pPr marL="0" indent="0">
              <a:buNone/>
            </a:pPr>
            <a:r>
              <a:rPr lang="es-CL" sz="1800" dirty="0"/>
              <a:t>Sensores </a:t>
            </a:r>
            <a:r>
              <a:rPr lang="es-CL" sz="1800" dirty="0">
                <a:sym typeface="Wingdings" panose="05000000000000000000" pitchFamily="2" charset="2"/>
              </a:rPr>
              <a:t> Transductores </a:t>
            </a:r>
          </a:p>
          <a:p>
            <a:pPr marL="0" indent="0">
              <a:buNone/>
            </a:pPr>
            <a:r>
              <a:rPr lang="es-CL" sz="1800" dirty="0">
                <a:sym typeface="Wingdings" panose="05000000000000000000" pitchFamily="2" charset="2"/>
              </a:rPr>
              <a:t>Convierte una cantidad física en una cantidad eléctrica.</a:t>
            </a:r>
            <a:endParaRPr lang="es-CL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97818E-21EA-1FBD-E5DB-62C20F5CB4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" t="1" r="648" b="62"/>
          <a:stretch/>
        </p:blipFill>
        <p:spPr>
          <a:xfrm>
            <a:off x="-5597" y="10"/>
            <a:ext cx="68235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CB721-2BBF-00E5-5D99-962C72BC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s-CL" sz="4000" dirty="0"/>
              <a:t>Sensores</a:t>
            </a:r>
          </a:p>
        </p:txBody>
      </p:sp>
      <p:sp>
        <p:nvSpPr>
          <p:cNvPr id="76" name="Marcador de contenido 2">
            <a:extLst>
              <a:ext uri="{FF2B5EF4-FFF2-40B4-BE49-F238E27FC236}">
                <a16:creationId xmlns:a16="http://schemas.microsoft.com/office/drawing/2014/main" id="{58D6D600-C911-E1B6-9DCE-03185B11D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s-CL" sz="1800" dirty="0"/>
              <a:t>Un sensor es un dispositivo que responde a un cambio al  fenómeno físico.</a:t>
            </a:r>
          </a:p>
          <a:p>
            <a:r>
              <a:rPr lang="es-CL" sz="1800" dirty="0"/>
              <a:t>Un transductor es un dispositivo que convierte una forma de energía en otra forma de energía.</a:t>
            </a:r>
          </a:p>
          <a:p>
            <a:pPr marL="0" indent="0">
              <a:buNone/>
            </a:pP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12429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6CBAF-6540-5516-A851-BCA00C43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s-CL" dirty="0"/>
              <a:t>Tipos de sensores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572B103-AD5F-922A-C2FA-4B731AF73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2200" dirty="0"/>
              <a:t>Lineal y rotatorio 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Distancia y de proximidad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Aceleración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Fuerza y torque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Flujo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Temperatura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Detección de luz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3BD1EBA-781C-79EF-8C48-0E2DA5B65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84" r="48194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digital de un coche&#10;&#10;Descripción generada automáticamente con confianza media">
            <a:extLst>
              <a:ext uri="{FF2B5EF4-FFF2-40B4-BE49-F238E27FC236}">
                <a16:creationId xmlns:a16="http://schemas.microsoft.com/office/drawing/2014/main" id="{4C6FA513-7543-DEE3-4021-012941139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11" y="1087487"/>
            <a:ext cx="8325378" cy="4683026"/>
          </a:xfrm>
        </p:spPr>
      </p:pic>
    </p:spTree>
    <p:extLst>
      <p:ext uri="{BB962C8B-B14F-4D97-AF65-F5344CB8AC3E}">
        <p14:creationId xmlns:p14="http://schemas.microsoft.com/office/powerpoint/2010/main" val="394313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- interruptor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Devuelve un bit de información: toca o no toca.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Utilizado comúnmente en la robótica como un interruptor de limite.</a:t>
            </a:r>
          </a:p>
        </p:txBody>
      </p:sp>
      <p:pic>
        <p:nvPicPr>
          <p:cNvPr id="12" name="Imagen 11" descr="Imagen que contiene circuito&#10;&#10;Descripción generada automáticamente">
            <a:extLst>
              <a:ext uri="{FF2B5EF4-FFF2-40B4-BE49-F238E27FC236}">
                <a16:creationId xmlns:a16="http://schemas.microsoft.com/office/drawing/2014/main" id="{1C7D879D-CAE4-A70F-3962-CF3265859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17" y="1836950"/>
            <a:ext cx="3178638" cy="31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 inductivos </a:t>
            </a:r>
            <a:r>
              <a:rPr lang="es-CL" dirty="0" err="1"/>
              <a:t>lvdt</a:t>
            </a:r>
            <a:endParaRPr lang="es-C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Sensor sin rozamiento, ya que al ser inductivo, la variación es por campo magnético.</a:t>
            </a:r>
            <a:endParaRPr lang="es-CL" dirty="0"/>
          </a:p>
          <a:p>
            <a:pPr marL="0" indent="0">
              <a:buNone/>
            </a:pPr>
            <a:r>
              <a:rPr lang="es-ES" dirty="0"/>
              <a:t>Insensibles a los cambios de temperatura y proporcionan altos rendimientos sin amplificación intermedia. </a:t>
            </a:r>
          </a:p>
          <a:p>
            <a:pPr marL="0" indent="0">
              <a:buNone/>
            </a:pPr>
            <a:r>
              <a:rPr lang="es-ES" dirty="0"/>
              <a:t>La masa apreciable del núcleo es una desventaja en el área de las mediciones dinámicas.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1DD587-6EF7-FE0C-F2E8-64C604CA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67" y="3425254"/>
            <a:ext cx="3761052" cy="2164432"/>
          </a:xfrm>
          <a:prstGeom prst="rect">
            <a:avLst/>
          </a:prstGeom>
        </p:spPr>
      </p:pic>
      <p:pic>
        <p:nvPicPr>
          <p:cNvPr id="8" name="Imagen 7" descr="Imagen que contiene interior, tabla, pequeño, vídeo&#10;&#10;Descripción generada automáticamente">
            <a:extLst>
              <a:ext uri="{FF2B5EF4-FFF2-40B4-BE49-F238E27FC236}">
                <a16:creationId xmlns:a16="http://schemas.microsoft.com/office/drawing/2014/main" id="{740F52C3-3529-AFC7-CC9F-27F777ECB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7" y="1013910"/>
            <a:ext cx="3297932" cy="220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- Codificador óptico digital</a:t>
            </a:r>
          </a:p>
        </p:txBody>
      </p:sp>
      <p:pic>
        <p:nvPicPr>
          <p:cNvPr id="7" name="Marcador de contenido 6" descr="Diagrama&#10;&#10;Descripción generada automáticamente">
            <a:extLst>
              <a:ext uri="{FF2B5EF4-FFF2-40B4-BE49-F238E27FC236}">
                <a16:creationId xmlns:a16="http://schemas.microsoft.com/office/drawing/2014/main" id="{028A1EEF-0E7B-C681-1839-1B2F97ABC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92" r="10530" b="-92"/>
          <a:stretch/>
        </p:blipFill>
        <p:spPr>
          <a:xfrm>
            <a:off x="992187" y="1136323"/>
            <a:ext cx="3466211" cy="4577862"/>
          </a:xfrm>
        </p:spPr>
      </p:pic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F42ED724-D1D2-7389-C569-BB1FB4A2C84F}"/>
              </a:ext>
            </a:extLst>
          </p:cNvPr>
          <p:cNvSpPr txBox="1">
            <a:spLocks/>
          </p:cNvSpPr>
          <p:nvPr/>
        </p:nvSpPr>
        <p:spPr>
          <a:xfrm>
            <a:off x="5128643" y="2249487"/>
            <a:ext cx="6188402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dirty="0"/>
              <a:t>Convierte el movimiento en una secuencia de pulsos digitales.</a:t>
            </a:r>
          </a:p>
        </p:txBody>
      </p:sp>
    </p:spTree>
    <p:extLst>
      <p:ext uri="{BB962C8B-B14F-4D97-AF65-F5344CB8AC3E}">
        <p14:creationId xmlns:p14="http://schemas.microsoft.com/office/powerpoint/2010/main" val="381386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distancia - </a:t>
            </a:r>
            <a:r>
              <a:rPr lang="es-CL" dirty="0" err="1"/>
              <a:t>ultrasonico</a:t>
            </a:r>
            <a:endParaRPr lang="es-C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Mide distancia mediante el uso de ondas 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Objetos transparentes pueden ser detectados</a:t>
            </a:r>
          </a:p>
          <a:p>
            <a:pPr marL="0" indent="0">
              <a:buNone/>
            </a:pPr>
            <a:r>
              <a:rPr lang="es-CL" dirty="0"/>
              <a:t>No se ven afectados por suciedad o por </a:t>
            </a:r>
            <a:r>
              <a:rPr lang="es-CL" dirty="0" err="1"/>
              <a:t>acumulacion</a:t>
            </a:r>
            <a:r>
              <a:rPr lang="es-CL" dirty="0"/>
              <a:t> de polvo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Imagen 6" descr="Dibujo de un micrófono&#10;&#10;Descripción generada automáticamente con confianza baja">
            <a:extLst>
              <a:ext uri="{FF2B5EF4-FFF2-40B4-BE49-F238E27FC236}">
                <a16:creationId xmlns:a16="http://schemas.microsoft.com/office/drawing/2014/main" id="{EC0C121A-52AF-3ACC-B9CA-C739A9C058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6" t="14391" r="7917" b="14494"/>
          <a:stretch/>
        </p:blipFill>
        <p:spPr>
          <a:xfrm>
            <a:off x="1702239" y="1260432"/>
            <a:ext cx="2025597" cy="1673311"/>
          </a:xfrm>
          <a:prstGeom prst="rect">
            <a:avLst/>
          </a:prstGeom>
        </p:spPr>
      </p:pic>
      <p:pic>
        <p:nvPicPr>
          <p:cNvPr id="9" name="Imagen 8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F07C8A4-98B7-EACB-6725-4FD169A93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16" y="3876931"/>
            <a:ext cx="3178638" cy="146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7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distancia - potenciómetro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Dispositivo de resistencia variable lineal o angular.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El cambio de resistencia se relaciona con el desplazamiento a través de su variación de voltaje.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0C5468-E663-1F97-F905-54597E7651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24" t="17996" r="15432" b="18995"/>
          <a:stretch/>
        </p:blipFill>
        <p:spPr>
          <a:xfrm>
            <a:off x="1793960" y="1368953"/>
            <a:ext cx="1862667" cy="1761067"/>
          </a:xfrm>
          <a:prstGeom prst="rect">
            <a:avLst/>
          </a:prstGeom>
        </p:spPr>
      </p:pic>
      <p:pic>
        <p:nvPicPr>
          <p:cNvPr id="6" name="Imagen 5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D7BBC1F1-0A06-AA75-D9DD-EE440ABC3F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69"/>
          <a:stretch/>
        </p:blipFill>
        <p:spPr>
          <a:xfrm>
            <a:off x="2725293" y="3425254"/>
            <a:ext cx="1520949" cy="1966772"/>
          </a:xfrm>
          <a:prstGeom prst="rect">
            <a:avLst/>
          </a:prstGeom>
        </p:spPr>
      </p:pic>
      <p:pic>
        <p:nvPicPr>
          <p:cNvPr id="12" name="Imagen 11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8D267D86-EBA4-1BEE-1BBE-72888F01C7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23"/>
          <a:stretch/>
        </p:blipFill>
        <p:spPr>
          <a:xfrm>
            <a:off x="984457" y="3425254"/>
            <a:ext cx="1807596" cy="196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6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57834-5DCE-B751-62FD-37E8577D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movimiento – efecto </a:t>
            </a:r>
            <a:r>
              <a:rPr lang="es-CL" dirty="0" err="1"/>
              <a:t>doppler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02A68-3CFC-EE4B-84E9-26D410A1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ES" dirty="0"/>
              <a:t>Si una fuente de ondas y el receptor correspondiente se mueven entre sí, la frecuencia observada por el receptor será mayor o menor que la frecuencia de la fuente real.</a:t>
            </a:r>
            <a:endParaRPr lang="es-CL" dirty="0"/>
          </a:p>
        </p:txBody>
      </p:sp>
      <p:pic>
        <p:nvPicPr>
          <p:cNvPr id="5" name="Imagen 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C31421C4-8E4D-CC36-E53D-61C46E518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74" y="834993"/>
            <a:ext cx="3178638" cy="28289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B7097A1-2DD0-ABF7-6A19-7CF9472B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68" y="3577082"/>
            <a:ext cx="25336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3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FDA65-298D-BB39-7B6A-A79B270D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de masa elástica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D1B7D-2A13-3B3D-0D0D-FB6CA7CC1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Segunda ley de newton </a:t>
            </a:r>
          </a:p>
          <a:p>
            <a:r>
              <a:rPr lang="es-ES" dirty="0"/>
              <a:t>Cuando el objeto acelera, la masa ejerce una fuerza, que el sensor traduce en una salida de voltaje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98EB26-49C6-5AAF-2C16-AC8FBC6C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17" y="2438965"/>
            <a:ext cx="3178638" cy="197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74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57834-5DCE-B751-62FD-37E8577D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- </a:t>
            </a:r>
            <a:r>
              <a:rPr lang="es-CL" dirty="0" err="1"/>
              <a:t>piezoelectrico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02A68-3CFC-EE4B-84E9-26D410A1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Utiliza el fenómeno piezoeléctrico para medir la aceleración</a:t>
            </a:r>
          </a:p>
          <a:p>
            <a:r>
              <a:rPr lang="es-ES" dirty="0"/>
              <a:t>Un elemento piezoeléctrico genera voltaje cuando es deformado.</a:t>
            </a:r>
            <a:endParaRPr lang="es-CL" dirty="0"/>
          </a:p>
        </p:txBody>
      </p:sp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86AADCE3-60AE-4C75-295D-C362ABBFC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74" y="2336679"/>
            <a:ext cx="3178638" cy="21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7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20644-B40F-6E4A-C317-EE2B956A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capacitancia 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93EA0-6924-0901-947D-779C750B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ES" dirty="0"/>
              <a:t>Par de placas paralelas cuya capacitancia varía cuando una placa se mueve hacia la otra por alguna fuerza externa.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775931-9AC2-4642-23F5-7CD51BEBC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17" y="1397878"/>
            <a:ext cx="3178638" cy="405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27885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robotica</Template>
  <TotalTime>8674</TotalTime>
  <Words>400</Words>
  <Application>Microsoft Office PowerPoint</Application>
  <PresentationFormat>Panorámica</PresentationFormat>
  <Paragraphs>56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Arial</vt:lpstr>
      <vt:lpstr>Bungee Shade</vt:lpstr>
      <vt:lpstr>Roboto Slab</vt:lpstr>
      <vt:lpstr>Wingdings</vt:lpstr>
      <vt:lpstr>robotica</vt:lpstr>
      <vt:lpstr>Mecatrónica ME-4250</vt:lpstr>
      <vt:lpstr>Contenido  </vt:lpstr>
      <vt:lpstr>Introducción</vt:lpstr>
      <vt:lpstr>Sensores</vt:lpstr>
      <vt:lpstr>Tipos de sensores </vt:lpstr>
      <vt:lpstr>Presentación de PowerPoint</vt:lpstr>
      <vt:lpstr>Sensor de desplazamiento - interruptor</vt:lpstr>
      <vt:lpstr>Sensor de desplazamiento  inductivos lvdt</vt:lpstr>
      <vt:lpstr>Sensor de desplazamiento - Codificador óptico digital</vt:lpstr>
      <vt:lpstr>Sensor de distancia - ultrasonico</vt:lpstr>
      <vt:lpstr>Sensor de distancia - potenciómetro</vt:lpstr>
      <vt:lpstr>Sensor de movimiento – efecto doppler</vt:lpstr>
      <vt:lpstr>Sensor de aceleración de masa elástica</vt:lpstr>
      <vt:lpstr>Sensor de aceleración - piezoelectrico</vt:lpstr>
      <vt:lpstr>Sensor de aceleración capacitancia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Harold Valenzuela Coloma (harold.valenzuela)</cp:lastModifiedBy>
  <cp:revision>21</cp:revision>
  <dcterms:created xsi:type="dcterms:W3CDTF">2022-08-03T00:34:22Z</dcterms:created>
  <dcterms:modified xsi:type="dcterms:W3CDTF">2025-05-05T07:12:05Z</dcterms:modified>
</cp:coreProperties>
</file>