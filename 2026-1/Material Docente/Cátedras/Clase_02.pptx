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14"/>
  </p:notesMasterIdLst>
  <p:sldIdLst>
    <p:sldId id="272" r:id="rId2"/>
    <p:sldId id="265" r:id="rId3"/>
    <p:sldId id="257" r:id="rId4"/>
    <p:sldId id="259" r:id="rId5"/>
    <p:sldId id="258" r:id="rId6"/>
    <p:sldId id="262" r:id="rId7"/>
    <p:sldId id="264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9E6F4-9D57-472C-A6F4-6E7175C85C16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03E6-3F91-4AFB-92E0-931728083B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93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5772743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solidFill>
                  <a:srgbClr val="3C09CA"/>
                </a:solidFill>
                <a:latin typeface="+mn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415601" y="3778833"/>
            <a:ext cx="5772753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5A2E431-1D76-3317-F0F3-86651EC69A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15668" y="984251"/>
            <a:ext cx="4739217" cy="3852333"/>
          </a:xfrm>
        </p:spPr>
        <p:txBody>
          <a:bodyPr/>
          <a:lstStyle>
            <a:lvl1pPr marL="152396" indent="0"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91670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 sz="1867">
                <a:latin typeface="Jura"/>
                <a:ea typeface="Jura"/>
                <a:cs typeface="Jura"/>
                <a:sym typeface="Jura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 sz="1867">
                <a:latin typeface="Jura"/>
                <a:ea typeface="Jura"/>
                <a:cs typeface="Jura"/>
                <a:sym typeface="Jura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836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772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4479673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4479672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600">
                <a:latin typeface="Jura"/>
                <a:ea typeface="Jura"/>
                <a:cs typeface="Jura"/>
                <a:sym typeface="Jura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600">
                <a:latin typeface="Jura"/>
                <a:ea typeface="Jura"/>
                <a:cs typeface="Jura"/>
                <a:sym typeface="Jura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6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581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3EB614BA-8757-A116-E970-3C9712C9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3306"/>
            <a:ext cx="2153228" cy="978740"/>
          </a:xfrm>
          <a:prstGeom prst="rect">
            <a:avLst/>
          </a:prstGeom>
        </p:spPr>
      </p:pic>
      <p:sp>
        <p:nvSpPr>
          <p:cNvPr id="51" name="Google Shape;51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DDCFC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67">
                <a:solidFill>
                  <a:srgbClr val="3C09CA"/>
                </a:solidFill>
                <a:latin typeface="+mn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800">
                <a:latin typeface="Jura"/>
                <a:ea typeface="Jura"/>
                <a:cs typeface="Jura"/>
                <a:sym typeface="Ju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Jura"/>
              <a:buChar char="●"/>
              <a:defRPr>
                <a:solidFill>
                  <a:srgbClr val="565049"/>
                </a:solidFill>
                <a:latin typeface="Jura"/>
                <a:ea typeface="Jura"/>
                <a:cs typeface="Jura"/>
                <a:sym typeface="Jura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788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415600" y="53359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ura"/>
              <a:buNone/>
              <a:defRPr>
                <a:latin typeface="Jura"/>
                <a:ea typeface="Jura"/>
                <a:cs typeface="Jura"/>
                <a:sym typeface="Jura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915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697BCA48-F9DB-3E4E-A103-CDA43228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773" y="-75670"/>
            <a:ext cx="2153228" cy="978740"/>
          </a:xfrm>
          <a:prstGeom prst="rect">
            <a:avLst/>
          </a:prstGeom>
        </p:spPr>
      </p:pic>
      <p:sp>
        <p:nvSpPr>
          <p:cNvPr id="60" name="Google Shape;60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Font typeface="Jura"/>
              <a:buChar char="●"/>
              <a:defRPr>
                <a:solidFill>
                  <a:srgbClr val="565049"/>
                </a:solidFill>
                <a:latin typeface="Jura"/>
                <a:ea typeface="Jura"/>
                <a:cs typeface="Jura"/>
                <a:sym typeface="Jura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160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Diseño personalizado 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112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0FC2D75C-D834-3204-1026-BFEFF311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773" y="-75670"/>
            <a:ext cx="2153228" cy="978740"/>
          </a:xfrm>
          <a:prstGeom prst="rect">
            <a:avLst/>
          </a:prstGeom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94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editar el estilo de subtítulo del patrón</a:t>
            </a:r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22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910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github.com/LabRobDIMEC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791C1700-F039-E3F2-E0F1-951B378EDA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38773" y="-75670"/>
            <a:ext cx="2153228" cy="978740"/>
          </a:xfrm>
          <a:prstGeom prst="rect">
            <a:avLst/>
          </a:prstGeom>
        </p:spPr>
      </p:pic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ura"/>
              <a:buChar char="●"/>
              <a:defRPr sz="1800"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●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●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endParaRPr lang="es-CL" dirty="0"/>
          </a:p>
        </p:txBody>
      </p:sp>
      <p:sp>
        <p:nvSpPr>
          <p:cNvPr id="8" name="Google Shape;8;p1"/>
          <p:cNvSpPr/>
          <p:nvPr/>
        </p:nvSpPr>
        <p:spPr>
          <a:xfrm>
            <a:off x="152667" y="-414433"/>
            <a:ext cx="523600" cy="294400"/>
          </a:xfrm>
          <a:prstGeom prst="rect">
            <a:avLst/>
          </a:prstGeom>
          <a:solidFill>
            <a:srgbClr val="EFEE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676267" y="-414433"/>
            <a:ext cx="523600" cy="294400"/>
          </a:xfrm>
          <a:prstGeom prst="rect">
            <a:avLst/>
          </a:prstGeom>
          <a:solidFill>
            <a:srgbClr val="DDCFC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1199867" y="-414433"/>
            <a:ext cx="523600" cy="294400"/>
          </a:xfrm>
          <a:prstGeom prst="rect">
            <a:avLst/>
          </a:prstGeom>
          <a:solidFill>
            <a:srgbClr val="420AD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723467" y="-414433"/>
            <a:ext cx="523600" cy="294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2247067" y="-414433"/>
            <a:ext cx="523600" cy="294400"/>
          </a:xfrm>
          <a:prstGeom prst="rect">
            <a:avLst/>
          </a:prstGeom>
          <a:solidFill>
            <a:srgbClr val="45DDE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770667" y="-414433"/>
            <a:ext cx="523600" cy="294400"/>
          </a:xfrm>
          <a:prstGeom prst="rect">
            <a:avLst/>
          </a:prstGeom>
          <a:solidFill>
            <a:srgbClr val="FF9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294267" y="-414433"/>
            <a:ext cx="523600" cy="294400"/>
          </a:xfrm>
          <a:prstGeom prst="rect">
            <a:avLst/>
          </a:prstGeom>
          <a:solidFill>
            <a:srgbClr val="9D8DF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817867" y="-414433"/>
            <a:ext cx="523600" cy="294400"/>
          </a:xfrm>
          <a:prstGeom prst="rect">
            <a:avLst/>
          </a:prstGeom>
          <a:solidFill>
            <a:srgbClr val="56504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6" name="Google Shape;16;p1" title="logo_lemur_negro.png">
            <a:hlinkClick r:id="rId15"/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2667" y="6217632"/>
            <a:ext cx="1555044" cy="52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"/>
          <p:cNvCxnSpPr/>
          <p:nvPr/>
        </p:nvCxnSpPr>
        <p:spPr>
          <a:xfrm>
            <a:off x="229000" y="6143733"/>
            <a:ext cx="11734000" cy="2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036002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3C09CA"/>
          </a:solidFill>
          <a:latin typeface="+mj-lt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5" y="992767"/>
            <a:ext cx="53556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/>
              <a:t>Mecatrónica</a:t>
            </a:r>
            <a:endParaRPr/>
          </a:p>
          <a:p>
            <a:pPr algn="l">
              <a:buSzPct val="208000"/>
            </a:pPr>
            <a:r>
              <a:rPr lang="es" sz="3333"/>
              <a:t>ME-4250</a:t>
            </a:r>
            <a:endParaRPr sz="3333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69653" y="5625101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 dirty="0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 dirty="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022" y="898336"/>
            <a:ext cx="5061325" cy="50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1C4587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PWM y sistema abierto de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23C2185-2420-AA33-E072-20DFFE48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Contenido</a:t>
            </a:r>
            <a:endParaRPr lang="es-ES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80663F2-3B4C-9E81-81EE-B7B1FA21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4401658"/>
          </a:xfrm>
        </p:spPr>
        <p:txBody>
          <a:bodyPr>
            <a:normAutofit/>
          </a:bodyPr>
          <a:lstStyle/>
          <a:p>
            <a:r>
              <a:rPr lang="es-CL" dirty="0"/>
              <a:t>PWM	</a:t>
            </a:r>
          </a:p>
          <a:p>
            <a:pPr lvl="1"/>
            <a:r>
              <a:rPr lang="es-CL" sz="1800" dirty="0"/>
              <a:t>Controles Digitales</a:t>
            </a:r>
          </a:p>
          <a:p>
            <a:pPr lvl="1"/>
            <a:r>
              <a:rPr lang="es-CL" sz="1800" dirty="0"/>
              <a:t>Ejemplos</a:t>
            </a:r>
          </a:p>
          <a:p>
            <a:pPr lvl="1"/>
            <a:r>
              <a:rPr lang="es-CL" sz="1800" dirty="0"/>
              <a:t>Comunicación y control</a:t>
            </a:r>
          </a:p>
          <a:p>
            <a:pPr lvl="1"/>
            <a:r>
              <a:rPr lang="es-CL" sz="1800" dirty="0"/>
              <a:t>Ventajas</a:t>
            </a:r>
          </a:p>
          <a:p>
            <a:r>
              <a:rPr lang="es-CL" dirty="0"/>
              <a:t>Sistemas de control Abierto</a:t>
            </a:r>
          </a:p>
          <a:p>
            <a:pPr lvl="1"/>
            <a:r>
              <a:rPr lang="es-CL" sz="1800" dirty="0"/>
              <a:t>Características de un sistema de control</a:t>
            </a:r>
          </a:p>
          <a:p>
            <a:pPr lvl="1"/>
            <a:r>
              <a:rPr lang="es-CL" sz="1800" dirty="0"/>
              <a:t>Tipos de sistemas de control</a:t>
            </a:r>
          </a:p>
          <a:p>
            <a:pPr lvl="1"/>
            <a:r>
              <a:rPr lang="es-CL" sz="1800" dirty="0"/>
              <a:t>Sistema de control de bucle abierto</a:t>
            </a:r>
          </a:p>
          <a:p>
            <a:pPr lvl="1"/>
            <a:r>
              <a:rPr lang="es-CL" sz="1800" dirty="0"/>
              <a:t>Ventajas y desventajas</a:t>
            </a:r>
          </a:p>
        </p:txBody>
      </p:sp>
    </p:spTree>
    <p:extLst>
      <p:ext uri="{BB962C8B-B14F-4D97-AF65-F5344CB8AC3E}">
        <p14:creationId xmlns:p14="http://schemas.microsoft.com/office/powerpoint/2010/main" val="398667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2700"/>
              <a:t>Modulación de ancho de pulso - PWM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L" dirty="0"/>
              <a:t>Técnica para controlar circuitos analógicos con las salidas digitales.</a:t>
            </a:r>
          </a:p>
          <a:p>
            <a:pPr marL="0" indent="0">
              <a:spcAft>
                <a:spcPts val="600"/>
              </a:spcAft>
              <a:buNone/>
            </a:pPr>
            <a:endParaRPr lang="es-CL" dirty="0"/>
          </a:p>
          <a:p>
            <a:pPr marL="0" indent="0">
              <a:spcAft>
                <a:spcPts val="600"/>
              </a:spcAft>
              <a:buNone/>
            </a:pPr>
            <a:r>
              <a:rPr lang="es-CL" b="1" dirty="0"/>
              <a:t>Que es la señal analógica 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CL" b="1" dirty="0"/>
              <a:t>Diferencias entre lo digital y lo análogo 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CL" b="1" dirty="0"/>
              <a:t>Algún dispositivo analógico ?</a:t>
            </a:r>
          </a:p>
          <a:p>
            <a:pPr marL="0" indent="0">
              <a:spcAft>
                <a:spcPts val="600"/>
              </a:spcAft>
              <a:buNone/>
            </a:pPr>
            <a:endParaRPr lang="es-CL" dirty="0"/>
          </a:p>
          <a:p>
            <a:pPr marL="0" indent="0">
              <a:spcAft>
                <a:spcPts val="600"/>
              </a:spcAft>
              <a:buNone/>
            </a:pPr>
            <a:endParaRPr lang="es-CL" dirty="0"/>
          </a:p>
        </p:txBody>
      </p:sp>
      <p:pic>
        <p:nvPicPr>
          <p:cNvPr id="5" name="Imagen 4" descr="Una mesa de madera&#10;&#10;El contenido generado por IA puede ser incorrecto.">
            <a:extLst>
              <a:ext uri="{FF2B5EF4-FFF2-40B4-BE49-F238E27FC236}">
                <a16:creationId xmlns:a16="http://schemas.microsoft.com/office/drawing/2014/main" id="{8928CEB9-F8EA-0284-29B5-6D379C2A0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80" y="1748400"/>
            <a:ext cx="481584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1A202-9C1C-FDA8-1366-0DEB6B66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s-CL" dirty="0"/>
              <a:t>Controles Digitales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0C163-102D-63A0-A4F4-23A4D2927C1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L" dirty="0"/>
              <a:t>PWM es una forma de codificar digitalmente niveles de señales analógicas.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CL" dirty="0"/>
              <a:t>PWM sigue siendo digital, debido a que el suministro de CC está completamente encendido o apagado.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CL" dirty="0"/>
              <a:t>Cualquier valor analógico puede ser codificado en PWM.</a:t>
            </a:r>
          </a:p>
        </p:txBody>
      </p:sp>
    </p:spTree>
    <p:extLst>
      <p:ext uri="{BB962C8B-B14F-4D97-AF65-F5344CB8AC3E}">
        <p14:creationId xmlns:p14="http://schemas.microsoft.com/office/powerpoint/2010/main" val="304458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D944A-3D83-0B9A-0226-EB84308B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s-CL" sz="2400" dirty="0"/>
              <a:t>Señales PWM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71C2A19-0D90-A163-53A5-245EF5368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r>
              <a:rPr lang="es-CL" sz="1800" dirty="0"/>
              <a:t>Ciclo de trabajo del 10%</a:t>
            </a:r>
          </a:p>
          <a:p>
            <a:r>
              <a:rPr lang="es-CL" sz="1800" dirty="0"/>
              <a:t>Ciclo de trabajo de 50%</a:t>
            </a:r>
          </a:p>
          <a:p>
            <a:r>
              <a:rPr lang="es-CL" sz="1800" dirty="0"/>
              <a:t>Ciclo de trabajo de 90%</a:t>
            </a:r>
          </a:p>
          <a:p>
            <a:endParaRPr lang="es-CL" sz="1800" dirty="0"/>
          </a:p>
          <a:p>
            <a:pPr marL="0" indent="0">
              <a:buNone/>
            </a:pPr>
            <a:r>
              <a:rPr lang="es-CL" sz="1800" dirty="0"/>
              <a:t>Si el suministro es de 9V Cuales serian sus señales analógicas ?</a:t>
            </a:r>
          </a:p>
        </p:txBody>
      </p:sp>
      <p:pic>
        <p:nvPicPr>
          <p:cNvPr id="3" name="Imagen 2" descr="PWM Signals">
            <a:extLst>
              <a:ext uri="{FF2B5EF4-FFF2-40B4-BE49-F238E27FC236}">
                <a16:creationId xmlns:a16="http://schemas.microsoft.com/office/drawing/2014/main" id="{7F993801-06F7-F682-EF61-AC90B9D85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403790"/>
            <a:ext cx="6112382" cy="40449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367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Marcador de contenido 4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199A9D5E-74D1-0DB7-4AE8-0C73DD422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550" y="643467"/>
            <a:ext cx="709689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8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DFDDCFF1-2531-6CD8-3F21-9BE2334A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642666"/>
            <a:ext cx="11360800" cy="763600"/>
          </a:xfrm>
        </p:spPr>
        <p:txBody>
          <a:bodyPr/>
          <a:lstStyle/>
          <a:p>
            <a:r>
              <a:rPr lang="es-CL" sz="3200" dirty="0"/>
              <a:t>Ventajas</a:t>
            </a:r>
            <a:r>
              <a:rPr lang="es-CL" dirty="0"/>
              <a:t> de PWM	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75AA035A-4538-D1E9-EB07-82725131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Minimización del efecto de ruido.</a:t>
            </a:r>
          </a:p>
          <a:p>
            <a:r>
              <a:rPr lang="es-CL" dirty="0"/>
              <a:t>Es económico </a:t>
            </a:r>
          </a:p>
          <a:p>
            <a:r>
              <a:rPr lang="es-CL" dirty="0"/>
              <a:t>Ahorra espacio</a:t>
            </a: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964D66AC-4E68-9835-690F-34F46AAA6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940" y="2255520"/>
            <a:ext cx="6519460" cy="4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8151E-A030-F022-AC61-FF025336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40" y="965433"/>
            <a:ext cx="5393600" cy="1976400"/>
          </a:xfrm>
        </p:spPr>
        <p:txBody>
          <a:bodyPr wrap="square" anchor="b">
            <a:normAutofit/>
          </a:bodyPr>
          <a:lstStyle/>
          <a:p>
            <a:r>
              <a:rPr lang="es-CL" dirty="0"/>
              <a:t>Sistema de control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A446AB-35EC-73AF-BAD1-510B38DE4C1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 wrap="square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L" b="1" dirty="0"/>
              <a:t>Que es un sistema de control ?</a:t>
            </a:r>
            <a:endParaRPr lang="es-CL" b="1"/>
          </a:p>
          <a:p>
            <a:pPr marL="0" indent="0">
              <a:spcAft>
                <a:spcPts val="600"/>
              </a:spcAft>
              <a:buNone/>
            </a:pPr>
            <a:r>
              <a:rPr lang="es-CL" dirty="0"/>
              <a:t>Un sistema que controla y vigila otros sistemas</a:t>
            </a:r>
            <a:endParaRPr lang="es-CL"/>
          </a:p>
          <a:p>
            <a:pPr marL="0" indent="0">
              <a:spcAft>
                <a:spcPts val="600"/>
              </a:spcAft>
              <a:buNone/>
            </a:pPr>
            <a:r>
              <a:rPr lang="es-CL" b="1" dirty="0"/>
              <a:t>Como lo logra ?</a:t>
            </a:r>
            <a:endParaRPr lang="es-CL" b="1"/>
          </a:p>
          <a:p>
            <a:pPr marL="0" indent="0">
              <a:spcAft>
                <a:spcPts val="600"/>
              </a:spcAft>
              <a:buNone/>
            </a:pPr>
            <a:r>
              <a:rPr lang="es-CL" dirty="0"/>
              <a:t>Mediante lazos de control 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70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EB1B0-3B04-FB46-93A4-D14BA7BE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Sistema de control Lineal y no lineal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06D5D-A474-70FE-BCD5-40941C825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Para que sea un sistema de control lineal se debe cumplir, superposición y homogeneidad.</a:t>
            </a:r>
          </a:p>
          <a:p>
            <a:endParaRPr lang="es-CL" dirty="0"/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33B7CA-81E6-458F-D7F3-A88D43BD26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7" b="1222"/>
          <a:stretch/>
        </p:blipFill>
        <p:spPr>
          <a:xfrm>
            <a:off x="1538998" y="2488080"/>
            <a:ext cx="3286125" cy="10161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7ED0ED-7C38-62E8-FBFE-FC6EC0C9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998" y="3656607"/>
            <a:ext cx="3286125" cy="21050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92E2390-5613-CF4D-FD0E-67C051DE9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037" y="2497605"/>
            <a:ext cx="3209925" cy="10191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F4E4BC4-05AD-081C-1C6B-A878874C6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924" y="4198199"/>
            <a:ext cx="34861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9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EF8BD-339C-3BBE-36E9-C96A2318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Características para un buen control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11CC55-EF9A-27F3-6D18-13E888311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2171131" cy="1908446"/>
          </a:xfrm>
        </p:spPr>
        <p:txBody>
          <a:bodyPr>
            <a:noAutofit/>
          </a:bodyPr>
          <a:lstStyle/>
          <a:p>
            <a:r>
              <a:rPr lang="es-CL" dirty="0"/>
              <a:t>Precisión</a:t>
            </a:r>
          </a:p>
          <a:p>
            <a:r>
              <a:rPr lang="es-CL" dirty="0"/>
              <a:t>Sensibilidad</a:t>
            </a:r>
          </a:p>
          <a:p>
            <a:r>
              <a:rPr lang="es-CL" dirty="0"/>
              <a:t>Ruido</a:t>
            </a:r>
          </a:p>
          <a:p>
            <a:r>
              <a:rPr lang="es-CL" dirty="0"/>
              <a:t>Estabilidad</a:t>
            </a:r>
          </a:p>
          <a:p>
            <a:r>
              <a:rPr lang="es-CL" dirty="0"/>
              <a:t>Velocidad </a:t>
            </a:r>
          </a:p>
        </p:txBody>
      </p:sp>
    </p:spTree>
    <p:extLst>
      <p:ext uri="{BB962C8B-B14F-4D97-AF65-F5344CB8AC3E}">
        <p14:creationId xmlns:p14="http://schemas.microsoft.com/office/powerpoint/2010/main" val="280898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59036-CAAA-7C35-7A6A-A94F930D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Sistema de control de lazo abierto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C1391F-62C0-2B77-9899-446F2E33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sistema de control en el que la acción de control es totalmente independiente de la salida del sistema se denomina sistema de control de bucle abierto</a:t>
            </a:r>
          </a:p>
          <a:p>
            <a:endParaRPr lang="es-CL" dirty="0"/>
          </a:p>
        </p:txBody>
      </p:sp>
      <p:pic>
        <p:nvPicPr>
          <p:cNvPr id="4" name="Imagen 3" descr="Diagrama, Texto&#10;&#10;Descripción generada automáticamente">
            <a:extLst>
              <a:ext uri="{FF2B5EF4-FFF2-40B4-BE49-F238E27FC236}">
                <a16:creationId xmlns:a16="http://schemas.microsoft.com/office/drawing/2014/main" id="{3D37BE76-1096-A643-0A63-5A34F7016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525" y="4020344"/>
            <a:ext cx="8277895" cy="143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8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6F974-3026-C23D-D66F-3311CCA5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Ventajas y desventajas	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E309397-88EE-C3F0-2789-F2D1EF6E3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853506"/>
              </p:ext>
            </p:extLst>
          </p:nvPr>
        </p:nvGraphicFramePr>
        <p:xfrm>
          <a:off x="415925" y="1536700"/>
          <a:ext cx="11360150" cy="216446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80075">
                  <a:extLst>
                    <a:ext uri="{9D8B030D-6E8A-4147-A177-3AD203B41FA5}">
                      <a16:colId xmlns:a16="http://schemas.microsoft.com/office/drawing/2014/main" val="1526021351"/>
                    </a:ext>
                  </a:extLst>
                </a:gridCol>
                <a:gridCol w="5680075">
                  <a:extLst>
                    <a:ext uri="{9D8B030D-6E8A-4147-A177-3AD203B41FA5}">
                      <a16:colId xmlns:a16="http://schemas.microsoft.com/office/drawing/2014/main" val="2785802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L" dirty="0"/>
                        <a:t>Ventajas</a:t>
                      </a:r>
                    </a:p>
                  </a:txBody>
                  <a:tcPr marL="104863" marR="10486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/>
                        <a:t>Desventajas</a:t>
                      </a:r>
                    </a:p>
                  </a:txBody>
                  <a:tcPr marL="104863" marR="104863"/>
                </a:tc>
                <a:extLst>
                  <a:ext uri="{0D108BD9-81ED-4DB2-BD59-A6C34878D82A}">
                    <a16:rowId xmlns:a16="http://schemas.microsoft.com/office/drawing/2014/main" val="312477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just"/>
                      <a:r>
                        <a:rPr lang="es-CL" sz="1800" kern="1200" dirty="0">
                          <a:solidFill>
                            <a:schemeClr val="tx1"/>
                          </a:solidFill>
                          <a:effectLst/>
                        </a:rPr>
                        <a:t>Simple en construcción y diseño</a:t>
                      </a:r>
                      <a:endParaRPr lang="es-CL" dirty="0">
                        <a:solidFill>
                          <a:schemeClr val="tx1"/>
                        </a:solidFill>
                      </a:endParaRPr>
                    </a:p>
                  </a:txBody>
                  <a:tcPr marL="104863" marR="10486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Son inexactos</a:t>
                      </a:r>
                    </a:p>
                  </a:txBody>
                  <a:tcPr marL="104863" marR="104863"/>
                </a:tc>
                <a:extLst>
                  <a:ext uri="{0D108BD9-81ED-4DB2-BD59-A6C34878D82A}">
                    <a16:rowId xmlns:a16="http://schemas.microsoft.com/office/drawing/2014/main" val="125635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kern="1200" dirty="0">
                          <a:solidFill>
                            <a:schemeClr val="tx1"/>
                          </a:solidFill>
                          <a:effectLst/>
                        </a:rPr>
                        <a:t>Económico</a:t>
                      </a:r>
                      <a:endParaRPr lang="es-CL" dirty="0">
                        <a:solidFill>
                          <a:schemeClr val="tx1"/>
                        </a:solidFill>
                      </a:endParaRPr>
                    </a:p>
                  </a:txBody>
                  <a:tcPr marL="104863" marR="10486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No son confiables</a:t>
                      </a:r>
                    </a:p>
                  </a:txBody>
                  <a:tcPr marL="104863" marR="104863"/>
                </a:tc>
                <a:extLst>
                  <a:ext uri="{0D108BD9-81ED-4DB2-BD59-A6C34878D82A}">
                    <a16:rowId xmlns:a16="http://schemas.microsoft.com/office/drawing/2014/main" val="392271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kern="1200" dirty="0">
                          <a:solidFill>
                            <a:schemeClr val="tx1"/>
                          </a:solidFill>
                          <a:effectLst/>
                        </a:rPr>
                        <a:t>Fácil de mantener</a:t>
                      </a:r>
                      <a:endParaRPr lang="es-CL" dirty="0">
                        <a:solidFill>
                          <a:schemeClr val="tx1"/>
                        </a:solidFill>
                      </a:endParaRPr>
                    </a:p>
                  </a:txBody>
                  <a:tcPr marL="104863" marR="104863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L" dirty="0">
                          <a:solidFill>
                            <a:schemeClr val="tx1"/>
                          </a:solidFill>
                        </a:rPr>
                        <a:t>Cualquier cambio de salida no se puede corregir automáticamente.</a:t>
                      </a:r>
                    </a:p>
                  </a:txBody>
                  <a:tcPr marL="104863" marR="104863"/>
                </a:tc>
                <a:extLst>
                  <a:ext uri="{0D108BD9-81ED-4DB2-BD59-A6C34878D82A}">
                    <a16:rowId xmlns:a16="http://schemas.microsoft.com/office/drawing/2014/main" val="414931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kern="1200" dirty="0">
                          <a:solidFill>
                            <a:schemeClr val="tx1"/>
                          </a:solidFill>
                          <a:effectLst/>
                        </a:rPr>
                        <a:t>Generalmente estable</a:t>
                      </a:r>
                      <a:endParaRPr lang="es-CL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4863" marR="104863"/>
                </a:tc>
                <a:tc>
                  <a:txBody>
                    <a:bodyPr/>
                    <a:lstStyle/>
                    <a:p>
                      <a:pPr algn="just"/>
                      <a:endParaRPr lang="es-CL" dirty="0">
                        <a:solidFill>
                          <a:schemeClr val="tx1"/>
                        </a:solidFill>
                      </a:endParaRPr>
                    </a:p>
                  </a:txBody>
                  <a:tcPr marL="104863" marR="104863"/>
                </a:tc>
                <a:extLst>
                  <a:ext uri="{0D108BD9-81ED-4DB2-BD59-A6C34878D82A}">
                    <a16:rowId xmlns:a16="http://schemas.microsoft.com/office/drawing/2014/main" val="1485117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751776"/>
      </p:ext>
    </p:extLst>
  </p:cSld>
  <p:clrMapOvr>
    <a:masterClrMapping/>
  </p:clrMapOvr>
</p:sld>
</file>

<file path=ppt/theme/theme1.xml><?xml version="1.0" encoding="utf-8"?>
<a:theme xmlns:a="http://schemas.openxmlformats.org/drawingml/2006/main" name="Lemur_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Roboto">
      <a:majorFont>
        <a:latin typeface="Aptos Display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mur_v1" id="{BFE67A01-46B2-482E-925A-B8D5256721A7}" vid="{678E0A26-4488-4391-95BB-C54821BC4A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Lemur_v1</Template>
  <TotalTime>7791</TotalTime>
  <Words>293</Words>
  <Application>Microsoft Office PowerPoint</Application>
  <PresentationFormat>Panorámica</PresentationFormat>
  <Paragraphs>61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Albert Sans</vt:lpstr>
      <vt:lpstr>Aptos</vt:lpstr>
      <vt:lpstr>Arial</vt:lpstr>
      <vt:lpstr>Bungee Shade</vt:lpstr>
      <vt:lpstr>Jura</vt:lpstr>
      <vt:lpstr>Roboto Slab</vt:lpstr>
      <vt:lpstr>Lemur_v1</vt:lpstr>
      <vt:lpstr>Mecatrónica ME-4250</vt:lpstr>
      <vt:lpstr>Contenido</vt:lpstr>
      <vt:lpstr>Modulación de ancho de pulso - PWM</vt:lpstr>
      <vt:lpstr>Controles Digitales</vt:lpstr>
      <vt:lpstr>Señales PWM </vt:lpstr>
      <vt:lpstr>Presentación de PowerPoint</vt:lpstr>
      <vt:lpstr>Ventajas de PWM </vt:lpstr>
      <vt:lpstr>Sistema de control </vt:lpstr>
      <vt:lpstr>Sistema de control Lineal y no lineal </vt:lpstr>
      <vt:lpstr>Características para un buen control</vt:lpstr>
      <vt:lpstr>Sistema de control de lazo abierto </vt:lpstr>
      <vt:lpstr>Ventajas y desventajas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11</cp:revision>
  <dcterms:created xsi:type="dcterms:W3CDTF">2022-08-03T00:34:22Z</dcterms:created>
  <dcterms:modified xsi:type="dcterms:W3CDTF">2026-03-24T02:47:29Z</dcterms:modified>
</cp:coreProperties>
</file>